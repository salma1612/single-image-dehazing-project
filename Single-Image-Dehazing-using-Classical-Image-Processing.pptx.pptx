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0.xml"/>
  <Override ContentType="application/vnd.openxmlformats-officedocument.presentationml.notesSlide+xml" PartName="/ppt/notesSlides/notesSlide1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17"/>
  </p:notesMasterIdLst>
  <p:sldIdLst>
    <p:sldId id="256" r:id="rId6"/>
    <p:sldId id="257" r:id="rId7"/>
    <p:sldId id="258" r:id="rId8"/>
    <p:sldId id="259" r:id="rId9"/>
    <p:sldId id="260" r:id="rId10"/>
    <p:sldId id="261" r:id="rId11"/>
    <p:sldId id="262" r:id="rId12"/>
    <p:sldId id="263" r:id="rId13"/>
    <p:sldId id="264" r:id="rId14"/>
    <p:sldId id="265" r:id="rId15"/>
    <p:sldId id="266" r:id="rId16"/>
  </p:sldIdLst>
  <p:sldSz cx="18288000" cy="10287000"/>
  <p:notesSz cx="6858000" cy="9144000"/>
  <p:embeddedFontLst>
    <p:embeddedFont>
      <p:font typeface="Prompt Medium" charset="1" panose="00000600000000000000"/>
      <p:regular r:id="rId20"/>
    </p:embeddedFont>
    <p:embeddedFont>
      <p:font typeface="Mukta Bold" charset="1" panose="020B0000000000000000"/>
      <p:regular r:id="rId21"/>
    </p:embeddedFont>
    <p:embeddedFont>
      <p:font typeface="Mukta Light" charset="1" panose="020B0000000000000000"/>
      <p:regular r:id="rId22"/>
    </p:embeddedFont>
    <p:embeddedFont>
      <p:font typeface="Arimo" charset="1" panose="020B0604020202020204"/>
      <p:regular r:id="rId2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notesMasters/notesMaster1.xml" Type="http://schemas.openxmlformats.org/officeDocument/2006/relationships/notesMaster"/><Relationship Id="rId18" Target="theme/theme2.xml" Type="http://schemas.openxmlformats.org/officeDocument/2006/relationships/theme"/><Relationship Id="rId19" Target="notesSlides/notesSlide1.xml" Type="http://schemas.openxmlformats.org/officeDocument/2006/relationships/notesSlide"/><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22" Target="fonts/font22.fntdata" Type="http://schemas.openxmlformats.org/officeDocument/2006/relationships/font"/><Relationship Id="rId23" Target="notesSlides/notesSlide2.xml" Type="http://schemas.openxmlformats.org/officeDocument/2006/relationships/notesSlide"/><Relationship Id="rId24" Target="notesSlides/notesSlide3.xml" Type="http://schemas.openxmlformats.org/officeDocument/2006/relationships/notesSlide"/><Relationship Id="rId25" Target="notesSlides/notesSlide4.xml" Type="http://schemas.openxmlformats.org/officeDocument/2006/relationships/notesSlide"/><Relationship Id="rId26" Target="notesSlides/notesSlide5.xml" Type="http://schemas.openxmlformats.org/officeDocument/2006/relationships/notesSlide"/><Relationship Id="rId27" Target="notesSlides/notesSlide6.xml" Type="http://schemas.openxmlformats.org/officeDocument/2006/relationships/notesSlide"/><Relationship Id="rId28" Target="notesSlides/notesSlide7.xml" Type="http://schemas.openxmlformats.org/officeDocument/2006/relationships/notesSlide"/><Relationship Id="rId29" Target="fonts/font29.fntdata" Type="http://schemas.openxmlformats.org/officeDocument/2006/relationships/font"/><Relationship Id="rId3" Target="viewProps.xml" Type="http://schemas.openxmlformats.org/officeDocument/2006/relationships/viewProps"/><Relationship Id="rId30" Target="notesSlides/notesSlide8.xml" Type="http://schemas.openxmlformats.org/officeDocument/2006/relationships/notesSlide"/><Relationship Id="rId31" Target="notesSlides/notesSlide9.xml" Type="http://schemas.openxmlformats.org/officeDocument/2006/relationships/notesSlide"/><Relationship Id="rId32" Target="notesSlides/notesSlide10.xml" Type="http://schemas.openxmlformats.org/officeDocument/2006/relationships/notesSlide"/><Relationship Id="rId33" Target="notesSlides/notesSlide11.xml" Type="http://schemas.openxmlformats.org/officeDocument/2006/relationships/notesSlide"/><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_rels/notesSlide1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_rels/notesSlide1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1.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2</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3</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4</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5</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6</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7</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8</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9</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10</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11</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xml" Type="http://schemas.openxmlformats.org/officeDocument/2006/relationships/notesSlide"/><Relationship Id="rId3" Target="../media/image1.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xml" Type="http://schemas.openxmlformats.org/officeDocument/2006/relationships/notesSlide"/><Relationship Id="rId3" Target="../media/image1.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8.png" Type="http://schemas.openxmlformats.org/officeDocument/2006/relationships/image"/><Relationship Id="rId11" Target="../media/image9.svg" Type="http://schemas.openxmlformats.org/officeDocument/2006/relationships/image"/><Relationship Id="rId2" Target="../notesSlides/notesSlide3.xml" Type="http://schemas.openxmlformats.org/officeDocument/2006/relationships/notesSlide"/><Relationship Id="rId3" Target="../media/image1.png" Type="http://schemas.openxmlformats.org/officeDocument/2006/relationships/image"/><Relationship Id="rId4" Target="../media/image2.png" Type="http://schemas.openxmlformats.org/officeDocument/2006/relationships/image"/><Relationship Id="rId5" Target="../media/image3.svg" Type="http://schemas.openxmlformats.org/officeDocument/2006/relationships/image"/><Relationship Id="rId6" Target="../media/image4.png" Type="http://schemas.openxmlformats.org/officeDocument/2006/relationships/image"/><Relationship Id="rId7" Target="../media/image5.svg" Type="http://schemas.openxmlformats.org/officeDocument/2006/relationships/image"/><Relationship Id="rId8" Target="../media/image6.png" Type="http://schemas.openxmlformats.org/officeDocument/2006/relationships/image"/><Relationship Id="rId9" Target="../media/image7.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6.svg" Type="http://schemas.openxmlformats.org/officeDocument/2006/relationships/image"/><Relationship Id="rId11" Target="../media/image17.png" Type="http://schemas.openxmlformats.org/officeDocument/2006/relationships/image"/><Relationship Id="rId12" Target="../media/image18.svg" Type="http://schemas.openxmlformats.org/officeDocument/2006/relationships/image"/><Relationship Id="rId13" Target="../media/image19.png" Type="http://schemas.openxmlformats.org/officeDocument/2006/relationships/image"/><Relationship Id="rId14" Target="../media/image20.svg" Type="http://schemas.openxmlformats.org/officeDocument/2006/relationships/image"/><Relationship Id="rId2" Target="../notesSlides/notesSlide4.xml" Type="http://schemas.openxmlformats.org/officeDocument/2006/relationships/notesSlide"/><Relationship Id="rId3" Target="../media/image1.png" Type="http://schemas.openxmlformats.org/officeDocument/2006/relationships/image"/><Relationship Id="rId4" Target="../media/image10.png" Type="http://schemas.openxmlformats.org/officeDocument/2006/relationships/image"/><Relationship Id="rId5" Target="../media/image11.png" Type="http://schemas.openxmlformats.org/officeDocument/2006/relationships/image"/><Relationship Id="rId6" Target="../media/image12.svg" Type="http://schemas.openxmlformats.org/officeDocument/2006/relationships/image"/><Relationship Id="rId7" Target="../media/image13.png" Type="http://schemas.openxmlformats.org/officeDocument/2006/relationships/image"/><Relationship Id="rId8" Target="../media/image14.svg" Type="http://schemas.openxmlformats.org/officeDocument/2006/relationships/image"/><Relationship Id="rId9" Target="../media/image15.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5.xml" Type="http://schemas.openxmlformats.org/officeDocument/2006/relationships/notesSlide"/><Relationship Id="rId3" Target="../media/image1.png" Type="http://schemas.openxmlformats.org/officeDocument/2006/relationships/image"/><Relationship Id="rId4" Target="../media/image21.png" Type="http://schemas.openxmlformats.org/officeDocument/2006/relationships/image"/><Relationship Id="rId5" Target="../media/image22.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6.xml" Type="http://schemas.openxmlformats.org/officeDocument/2006/relationships/notesSlide"/><Relationship Id="rId3" Target="../media/image23.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7.xml" Type="http://schemas.openxmlformats.org/officeDocument/2006/relationships/notesSlide"/><Relationship Id="rId3" Target="../media/image1.png" Type="http://schemas.openxmlformats.org/officeDocument/2006/relationships/image"/><Relationship Id="rId4" Target="../media/image24.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8.xml" Type="http://schemas.openxmlformats.org/officeDocument/2006/relationships/notesSlide"/><Relationship Id="rId3" Target="../media/image1.png" Type="http://schemas.openxmlformats.org/officeDocument/2006/relationships/image"/><Relationship Id="rId4" Target="../media/image25.png" Type="http://schemas.openxmlformats.org/officeDocument/2006/relationships/image"/><Relationship Id="rId5" Target="../media/image26.png" Type="http://schemas.openxmlformats.org/officeDocument/2006/relationships/image"/><Relationship Id="rId6" Target="../media/image27.png" Type="http://schemas.openxmlformats.org/officeDocument/2006/relationships/image"/><Relationship Id="rId7" Target="../media/image28.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9.xml" Type="http://schemas.openxmlformats.org/officeDocument/2006/relationships/notesSlide"/><Relationship Id="rId3" Target="../media/image1.png" Type="http://schemas.openxmlformats.org/officeDocument/2006/relationships/image"/><Relationship Id="rId4" Target="../media/image29.png" Type="http://schemas.openxmlformats.org/officeDocument/2006/relationships/image"/><Relationship Id="rId5" Target="../media/image30.png" Type="http://schemas.openxmlformats.org/officeDocument/2006/relationships/image"/><Relationship Id="rId6" Target="../media/image31.png" Type="http://schemas.openxmlformats.org/officeDocument/2006/relationships/image"/><Relationship Id="rId7" Target="../media/image32.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9.png" Type="http://schemas.openxmlformats.org/officeDocument/2006/relationships/image"/><Relationship Id="rId11" Target="../media/image40.svg" Type="http://schemas.openxmlformats.org/officeDocument/2006/relationships/image"/><Relationship Id="rId12" Target="../media/image41.png" Type="http://schemas.openxmlformats.org/officeDocument/2006/relationships/image"/><Relationship Id="rId13" Target="../media/image42.svg" Type="http://schemas.openxmlformats.org/officeDocument/2006/relationships/image"/><Relationship Id="rId2" Target="../notesSlides/notesSlide10.xml" Type="http://schemas.openxmlformats.org/officeDocument/2006/relationships/notesSlide"/><Relationship Id="rId3" Target="../media/image1.png" Type="http://schemas.openxmlformats.org/officeDocument/2006/relationships/image"/><Relationship Id="rId4" Target="../media/image33.png" Type="http://schemas.openxmlformats.org/officeDocument/2006/relationships/image"/><Relationship Id="rId5" Target="../media/image34.svg" Type="http://schemas.openxmlformats.org/officeDocument/2006/relationships/image"/><Relationship Id="rId6" Target="../media/image35.png" Type="http://schemas.openxmlformats.org/officeDocument/2006/relationships/image"/><Relationship Id="rId7" Target="../media/image36.svg" Type="http://schemas.openxmlformats.org/officeDocument/2006/relationships/image"/><Relationship Id="rId8" Target="../media/image37.png" Type="http://schemas.openxmlformats.org/officeDocument/2006/relationships/image"/><Relationship Id="rId9" Target="../media/image38.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1.xml" Type="http://schemas.openxmlformats.org/officeDocument/2006/relationships/notesSlide"/><Relationship Id="rId3" Target="../media/image1.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preencoded.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85725" y="654844"/>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0B0C23">
                <a:alpha val="90196"/>
              </a:srgbClr>
            </a:solidFill>
          </p:spPr>
        </p:sp>
      </p:grpSp>
      <p:grpSp>
        <p:nvGrpSpPr>
          <p:cNvPr name="Group 6" id="6"/>
          <p:cNvGrpSpPr/>
          <p:nvPr/>
        </p:nvGrpSpPr>
        <p:grpSpPr>
          <a:xfrm rot="0">
            <a:off x="0" y="0"/>
            <a:ext cx="6858000" cy="10287000"/>
            <a:chOff x="0" y="0"/>
            <a:chExt cx="9144000" cy="13716000"/>
          </a:xfrm>
        </p:grpSpPr>
        <p:sp>
          <p:nvSpPr>
            <p:cNvPr name="Freeform 7" id="7"/>
            <p:cNvSpPr/>
            <p:nvPr/>
          </p:nvSpPr>
          <p:spPr>
            <a:xfrm flipH="false" flipV="false" rot="0">
              <a:off x="0" y="0"/>
              <a:ext cx="9144000" cy="13716000"/>
            </a:xfrm>
            <a:custGeom>
              <a:avLst/>
              <a:gdLst/>
              <a:ahLst/>
              <a:cxnLst/>
              <a:rect r="r" b="b" t="t" l="l"/>
              <a:pathLst>
                <a:path h="13716000" w="9144000">
                  <a:moveTo>
                    <a:pt x="0" y="0"/>
                  </a:moveTo>
                  <a:lnTo>
                    <a:pt x="9144000" y="0"/>
                  </a:lnTo>
                  <a:lnTo>
                    <a:pt x="9144000" y="13716000"/>
                  </a:lnTo>
                  <a:lnTo>
                    <a:pt x="0" y="13716000"/>
                  </a:lnTo>
                  <a:close/>
                </a:path>
              </a:pathLst>
            </a:custGeom>
            <a:solidFill>
              <a:srgbClr val="542C49"/>
            </a:solidFill>
          </p:spPr>
        </p:sp>
      </p:grpSp>
      <p:sp>
        <p:nvSpPr>
          <p:cNvPr name="TextBox 8" id="8"/>
          <p:cNvSpPr txBox="true"/>
          <p:nvPr/>
        </p:nvSpPr>
        <p:spPr>
          <a:xfrm rot="0">
            <a:off x="7938049" y="3075702"/>
            <a:ext cx="9269911" cy="2600325"/>
          </a:xfrm>
          <a:prstGeom prst="rect">
            <a:avLst/>
          </a:prstGeom>
        </p:spPr>
        <p:txBody>
          <a:bodyPr anchor="t" rtlCol="false" tIns="0" lIns="0" bIns="0" rIns="0">
            <a:spAutoFit/>
          </a:bodyPr>
          <a:lstStyle/>
          <a:p>
            <a:pPr algn="l">
              <a:lnSpc>
                <a:spcPts val="6749"/>
              </a:lnSpc>
            </a:pPr>
            <a:r>
              <a:rPr lang="en-US" sz="5374" b="true">
                <a:solidFill>
                  <a:srgbClr val="C6BFEE"/>
                </a:solidFill>
                <a:latin typeface="Prompt Medium"/>
                <a:ea typeface="Prompt Medium"/>
                <a:cs typeface="Prompt Medium"/>
                <a:sym typeface="Prompt Medium"/>
              </a:rPr>
              <a:t>Single Image Dehazing using Classical Image Processing</a:t>
            </a:r>
          </a:p>
        </p:txBody>
      </p:sp>
      <p:sp>
        <p:nvSpPr>
          <p:cNvPr name="TextBox 9" id="9"/>
          <p:cNvSpPr txBox="true"/>
          <p:nvPr/>
        </p:nvSpPr>
        <p:spPr>
          <a:xfrm rot="0">
            <a:off x="7938049" y="6037977"/>
            <a:ext cx="8781654" cy="409575"/>
          </a:xfrm>
          <a:prstGeom prst="rect">
            <a:avLst/>
          </a:prstGeom>
        </p:spPr>
        <p:txBody>
          <a:bodyPr anchor="t" rtlCol="false" tIns="0" lIns="0" bIns="0" rIns="0">
            <a:spAutoFit/>
          </a:bodyPr>
          <a:lstStyle/>
          <a:p>
            <a:pPr algn="l">
              <a:lnSpc>
                <a:spcPts val="3374"/>
              </a:lnSpc>
            </a:pPr>
            <a:r>
              <a:rPr lang="en-US" sz="2687" b="true">
                <a:solidFill>
                  <a:srgbClr val="C6BFEE"/>
                </a:solidFill>
                <a:latin typeface="Prompt Medium"/>
                <a:ea typeface="Prompt Medium"/>
                <a:cs typeface="Prompt Medium"/>
                <a:sym typeface="Prompt Medium"/>
              </a:rPr>
              <a:t>Baseline Paper Reproduction and Improved Method</a:t>
            </a:r>
          </a:p>
        </p:txBody>
      </p:sp>
      <p:sp>
        <p:nvSpPr>
          <p:cNvPr name="TextBox 10" id="10"/>
          <p:cNvSpPr txBox="true"/>
          <p:nvPr/>
        </p:nvSpPr>
        <p:spPr>
          <a:xfrm rot="0">
            <a:off x="339044" y="2369937"/>
            <a:ext cx="11960560" cy="5683544"/>
          </a:xfrm>
          <a:prstGeom prst="rect">
            <a:avLst/>
          </a:prstGeom>
        </p:spPr>
        <p:txBody>
          <a:bodyPr anchor="t" rtlCol="false" tIns="0" lIns="0" bIns="0" rIns="0">
            <a:spAutoFit/>
          </a:bodyPr>
          <a:lstStyle/>
          <a:p>
            <a:pPr algn="l">
              <a:lnSpc>
                <a:spcPts val="5665"/>
              </a:lnSpc>
            </a:pPr>
            <a:r>
              <a:rPr lang="en-US" sz="3473" b="true">
                <a:solidFill>
                  <a:srgbClr val="DAD8E9"/>
                </a:solidFill>
                <a:latin typeface="Mukta Bold"/>
                <a:ea typeface="Mukta Bold"/>
                <a:cs typeface="Mukta Bold"/>
                <a:sym typeface="Mukta Bold"/>
              </a:rPr>
              <a:t>Guided By:</a:t>
            </a:r>
          </a:p>
          <a:p>
            <a:pPr algn="l">
              <a:lnSpc>
                <a:spcPts val="5665"/>
              </a:lnSpc>
            </a:pPr>
            <a:r>
              <a:rPr lang="en-US" sz="3473" b="true">
                <a:solidFill>
                  <a:srgbClr val="DAD8E9"/>
                </a:solidFill>
                <a:latin typeface="Mukta Bold"/>
                <a:ea typeface="Mukta Bold"/>
                <a:cs typeface="Mukta Bold"/>
                <a:sym typeface="Mukta Bold"/>
              </a:rPr>
              <a:t>Dr. Kankanala Srinivas</a:t>
            </a:r>
          </a:p>
          <a:p>
            <a:pPr algn="l">
              <a:lnSpc>
                <a:spcPts val="5665"/>
              </a:lnSpc>
            </a:pPr>
            <a:r>
              <a:rPr lang="en-US" sz="3473" b="true">
                <a:solidFill>
                  <a:srgbClr val="DAD8E9"/>
                </a:solidFill>
                <a:latin typeface="Mukta Bold"/>
                <a:ea typeface="Mukta Bold"/>
                <a:cs typeface="Mukta Bold"/>
                <a:sym typeface="Mukta Bold"/>
              </a:rPr>
              <a:t>Assistant Professor,</a:t>
            </a:r>
          </a:p>
          <a:p>
            <a:pPr algn="l">
              <a:lnSpc>
                <a:spcPts val="5665"/>
              </a:lnSpc>
            </a:pPr>
            <a:r>
              <a:rPr lang="en-US" sz="3473" b="true">
                <a:solidFill>
                  <a:srgbClr val="DAD8E9"/>
                </a:solidFill>
                <a:latin typeface="Mukta Bold"/>
                <a:ea typeface="Mukta Bold"/>
                <a:cs typeface="Mukta Bold"/>
                <a:sym typeface="Mukta Bold"/>
              </a:rPr>
              <a:t>School of Electronics Engineering</a:t>
            </a:r>
          </a:p>
          <a:p>
            <a:pPr algn="l">
              <a:lnSpc>
                <a:spcPts val="5665"/>
              </a:lnSpc>
            </a:pPr>
          </a:p>
          <a:p>
            <a:pPr algn="l">
              <a:lnSpc>
                <a:spcPts val="4914"/>
              </a:lnSpc>
            </a:pPr>
          </a:p>
          <a:p>
            <a:pPr algn="l">
              <a:lnSpc>
                <a:spcPts val="4914"/>
              </a:lnSpc>
            </a:pPr>
          </a:p>
          <a:p>
            <a:pPr algn="l">
              <a:lnSpc>
                <a:spcPts val="3569"/>
              </a:lnSpc>
            </a:pPr>
          </a:p>
          <a:p>
            <a:pPr algn="l">
              <a:lnSpc>
                <a:spcPts val="3570"/>
              </a:lnSpc>
            </a:pPr>
            <a:r>
              <a:rPr lang="en-US" sz="2188">
                <a:solidFill>
                  <a:srgbClr val="DAD8E9"/>
                </a:solidFill>
                <a:latin typeface="Mukta Light"/>
                <a:ea typeface="Mukta Light"/>
                <a:cs typeface="Mukta Light"/>
                <a:sym typeface="Mukta Light"/>
              </a:rPr>
              <a:t>  </a:t>
            </a:r>
          </a:p>
        </p:txBody>
      </p:sp>
      <p:sp>
        <p:nvSpPr>
          <p:cNvPr name="TextBox 11" id="11"/>
          <p:cNvSpPr txBox="true"/>
          <p:nvPr/>
        </p:nvSpPr>
        <p:spPr>
          <a:xfrm rot="0">
            <a:off x="415522" y="6705788"/>
            <a:ext cx="11884081" cy="2552512"/>
          </a:xfrm>
          <a:prstGeom prst="rect">
            <a:avLst/>
          </a:prstGeom>
        </p:spPr>
        <p:txBody>
          <a:bodyPr anchor="t" rtlCol="false" tIns="0" lIns="0" bIns="0" rIns="0">
            <a:spAutoFit/>
          </a:bodyPr>
          <a:lstStyle/>
          <a:p>
            <a:pPr algn="l">
              <a:lnSpc>
                <a:spcPts val="5629"/>
              </a:lnSpc>
            </a:pPr>
            <a:r>
              <a:rPr lang="en-US" sz="3451" b="true">
                <a:solidFill>
                  <a:srgbClr val="DAD8E9"/>
                </a:solidFill>
                <a:latin typeface="Mukta Bold"/>
                <a:ea typeface="Mukta Bold"/>
                <a:cs typeface="Mukta Bold"/>
                <a:sym typeface="Mukta Bold"/>
              </a:rPr>
              <a:t>Submitted By:</a:t>
            </a:r>
          </a:p>
          <a:p>
            <a:pPr algn="l">
              <a:lnSpc>
                <a:spcPts val="5629"/>
              </a:lnSpc>
            </a:pPr>
            <a:r>
              <a:rPr lang="en-US" sz="3451" b="true">
                <a:solidFill>
                  <a:srgbClr val="DAD8E9"/>
                </a:solidFill>
                <a:latin typeface="Mukta Bold"/>
                <a:ea typeface="Mukta Bold"/>
                <a:cs typeface="Mukta Bold"/>
                <a:sym typeface="Mukta Bold"/>
              </a:rPr>
              <a:t>Salma SK -23BCE20344</a:t>
            </a:r>
          </a:p>
          <a:p>
            <a:pPr algn="l">
              <a:lnSpc>
                <a:spcPts val="5629"/>
              </a:lnSpc>
            </a:pPr>
            <a:r>
              <a:rPr lang="en-US" sz="3451" b="true">
                <a:solidFill>
                  <a:srgbClr val="DAD8E9"/>
                </a:solidFill>
                <a:latin typeface="Mukta Bold"/>
                <a:ea typeface="Mukta Bold"/>
                <a:cs typeface="Mukta Bold"/>
                <a:sym typeface="Mukta Bold"/>
              </a:rPr>
              <a:t>B.Tech</a:t>
            </a:r>
            <a:r>
              <a:rPr lang="en-US" sz="3451" b="true">
                <a:solidFill>
                  <a:srgbClr val="DAD8E9"/>
                </a:solidFill>
                <a:latin typeface="Mukta Bold"/>
                <a:ea typeface="Mukta Bold"/>
                <a:cs typeface="Mukta Bold"/>
                <a:sym typeface="Mukta Bold"/>
              </a:rPr>
              <a:t> CSE (AI &amp; ML)</a:t>
            </a:r>
          </a:p>
          <a:p>
            <a:pPr algn="l">
              <a:lnSpc>
                <a:spcPts val="3547"/>
              </a:lnSpc>
            </a:pP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preencoded.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0B0C23">
                <a:alpha val="90196"/>
              </a:srgbClr>
            </a:solidFill>
          </p:spPr>
        </p:sp>
      </p:grpSp>
      <p:sp>
        <p:nvSpPr>
          <p:cNvPr name="TextBox 6" id="6"/>
          <p:cNvSpPr txBox="true"/>
          <p:nvPr/>
        </p:nvSpPr>
        <p:spPr>
          <a:xfrm rot="0">
            <a:off x="1028700" y="1687652"/>
            <a:ext cx="6910487" cy="902040"/>
          </a:xfrm>
          <a:prstGeom prst="rect">
            <a:avLst/>
          </a:prstGeom>
        </p:spPr>
        <p:txBody>
          <a:bodyPr anchor="t" rtlCol="false" tIns="0" lIns="0" bIns="0" rIns="0">
            <a:spAutoFit/>
          </a:bodyPr>
          <a:lstStyle/>
          <a:p>
            <a:pPr algn="l">
              <a:lnSpc>
                <a:spcPts val="7252"/>
              </a:lnSpc>
            </a:pPr>
            <a:r>
              <a:rPr lang="en-US" sz="5774" b="true">
                <a:solidFill>
                  <a:srgbClr val="C6BFEE"/>
                </a:solidFill>
                <a:latin typeface="Prompt Medium"/>
                <a:ea typeface="Prompt Medium"/>
                <a:cs typeface="Prompt Medium"/>
                <a:sym typeface="Prompt Medium"/>
              </a:rPr>
              <a:t>Problem Statement</a:t>
            </a:r>
          </a:p>
        </p:txBody>
      </p:sp>
      <p:sp>
        <p:nvSpPr>
          <p:cNvPr name="TextBox 7" id="7"/>
          <p:cNvSpPr txBox="true"/>
          <p:nvPr/>
        </p:nvSpPr>
        <p:spPr>
          <a:xfrm rot="0">
            <a:off x="1080049" y="3189487"/>
            <a:ext cx="15919667" cy="3669901"/>
          </a:xfrm>
          <a:prstGeom prst="rect">
            <a:avLst/>
          </a:prstGeom>
        </p:spPr>
        <p:txBody>
          <a:bodyPr anchor="t" rtlCol="false" tIns="0" lIns="0" bIns="0" rIns="0">
            <a:spAutoFit/>
          </a:bodyPr>
          <a:lstStyle/>
          <a:p>
            <a:pPr algn="l">
              <a:lnSpc>
                <a:spcPts val="5966"/>
              </a:lnSpc>
            </a:pPr>
            <a:r>
              <a:rPr lang="en-US" sz="2854">
                <a:solidFill>
                  <a:srgbClr val="DAD8E9"/>
                </a:solidFill>
                <a:latin typeface="Mukta Light"/>
                <a:ea typeface="Mukta Light"/>
                <a:cs typeface="Mukta Light"/>
                <a:sym typeface="Mukta Light"/>
              </a:rPr>
              <a:t>Haze significantly degrades image quality, leading to reduced visibility, diminished contrast, and altered color perception. This atmospheric interference poses substantial challenges for various applications, including autonomous driving, surveillance systems, and remote sensing, where clear visual data is crucial for precise analysis and informed decision-making. Developing effective dehazing techniques is therefore essential to mitigate these limitations and enhance visual clarity.</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preencoded.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0B0C23">
                <a:alpha val="90196"/>
              </a:srgbClr>
            </a:solidFill>
          </p:spPr>
        </p:sp>
      </p:grpSp>
      <p:sp>
        <p:nvSpPr>
          <p:cNvPr name="TextBox 6" id="6"/>
          <p:cNvSpPr txBox="true"/>
          <p:nvPr/>
        </p:nvSpPr>
        <p:spPr>
          <a:xfrm rot="0">
            <a:off x="978846" y="999534"/>
            <a:ext cx="6215062" cy="795928"/>
          </a:xfrm>
          <a:prstGeom prst="rect">
            <a:avLst/>
          </a:prstGeom>
        </p:spPr>
        <p:txBody>
          <a:bodyPr anchor="t" rtlCol="false" tIns="0" lIns="0" bIns="0" rIns="0">
            <a:spAutoFit/>
          </a:bodyPr>
          <a:lstStyle/>
          <a:p>
            <a:pPr algn="l">
              <a:lnSpc>
                <a:spcPts val="6062"/>
              </a:lnSpc>
            </a:pPr>
            <a:r>
              <a:rPr lang="en-US" sz="4875" b="true">
                <a:solidFill>
                  <a:srgbClr val="C6BFEE"/>
                </a:solidFill>
                <a:latin typeface="Prompt Medium"/>
                <a:ea typeface="Prompt Medium"/>
                <a:cs typeface="Prompt Medium"/>
                <a:sym typeface="Prompt Medium"/>
              </a:rPr>
              <a:t>Problem Statement</a:t>
            </a:r>
          </a:p>
        </p:txBody>
      </p:sp>
      <p:sp>
        <p:nvSpPr>
          <p:cNvPr name="TextBox 7" id="7"/>
          <p:cNvSpPr txBox="true"/>
          <p:nvPr/>
        </p:nvSpPr>
        <p:spPr>
          <a:xfrm rot="0">
            <a:off x="978846" y="2099367"/>
            <a:ext cx="16330317" cy="928983"/>
          </a:xfrm>
          <a:prstGeom prst="rect">
            <a:avLst/>
          </a:prstGeom>
        </p:spPr>
        <p:txBody>
          <a:bodyPr anchor="t" rtlCol="false" tIns="0" lIns="0" bIns="0" rIns="0">
            <a:spAutoFit/>
          </a:bodyPr>
          <a:lstStyle/>
          <a:p>
            <a:pPr algn="l">
              <a:lnSpc>
                <a:spcPts val="3312"/>
              </a:lnSpc>
            </a:pPr>
            <a:r>
              <a:rPr lang="en-US" sz="2187">
                <a:solidFill>
                  <a:srgbClr val="DAD8E9"/>
                </a:solidFill>
                <a:latin typeface="Mukta Light"/>
                <a:ea typeface="Mukta Light"/>
                <a:cs typeface="Mukta Light"/>
                <a:sym typeface="Mukta Light"/>
              </a:rPr>
              <a:t>Hazy and foggy images degrade visual information, posing challenges for both human perception and machine vision systems. The goal is to </a:t>
            </a:r>
            <a:r>
              <a:rPr lang="en-US" sz="2187" b="true">
                <a:solidFill>
                  <a:srgbClr val="DAD8E9"/>
                </a:solidFill>
                <a:latin typeface="Mukta Bold"/>
                <a:ea typeface="Mukta Bold"/>
                <a:cs typeface="Mukta Bold"/>
                <a:sym typeface="Mukta Bold"/>
              </a:rPr>
              <a:t>recover a clear image from a single hazy input</a:t>
            </a:r>
            <a:r>
              <a:rPr lang="en-US" sz="2187">
                <a:solidFill>
                  <a:srgbClr val="DAD8E9"/>
                </a:solidFill>
                <a:latin typeface="Mukta Light"/>
                <a:ea typeface="Mukta Light"/>
                <a:cs typeface="Mukta Light"/>
                <a:sym typeface="Mukta Light"/>
              </a:rPr>
              <a:t> using classical image processing techniques — without deep learning.</a:t>
            </a:r>
          </a:p>
        </p:txBody>
      </p:sp>
      <p:grpSp>
        <p:nvGrpSpPr>
          <p:cNvPr name="Group 8" id="8"/>
          <p:cNvGrpSpPr/>
          <p:nvPr/>
        </p:nvGrpSpPr>
        <p:grpSpPr>
          <a:xfrm rot="0">
            <a:off x="974084" y="3308594"/>
            <a:ext cx="8047882" cy="2647055"/>
            <a:chOff x="0" y="0"/>
            <a:chExt cx="10730509" cy="3529406"/>
          </a:xfrm>
        </p:grpSpPr>
        <p:sp>
          <p:nvSpPr>
            <p:cNvPr name="Freeform 9" id="9"/>
            <p:cNvSpPr/>
            <p:nvPr/>
          </p:nvSpPr>
          <p:spPr>
            <a:xfrm flipH="false" flipV="false" rot="0">
              <a:off x="6350" y="6350"/>
              <a:ext cx="10717784" cy="3516630"/>
            </a:xfrm>
            <a:custGeom>
              <a:avLst/>
              <a:gdLst/>
              <a:ahLst/>
              <a:cxnLst/>
              <a:rect r="r" b="b" t="t" l="l"/>
              <a:pathLst>
                <a:path h="3516630" w="10717784">
                  <a:moveTo>
                    <a:pt x="0" y="156591"/>
                  </a:moveTo>
                  <a:cubicBezTo>
                    <a:pt x="0" y="70104"/>
                    <a:pt x="70358" y="0"/>
                    <a:pt x="156972" y="0"/>
                  </a:cubicBezTo>
                  <a:lnTo>
                    <a:pt x="10560812" y="0"/>
                  </a:lnTo>
                  <a:cubicBezTo>
                    <a:pt x="10647553" y="0"/>
                    <a:pt x="10717784" y="70104"/>
                    <a:pt x="10717784" y="156591"/>
                  </a:cubicBezTo>
                  <a:lnTo>
                    <a:pt x="10717784" y="3360039"/>
                  </a:lnTo>
                  <a:cubicBezTo>
                    <a:pt x="10717784" y="3446526"/>
                    <a:pt x="10647426" y="3516630"/>
                    <a:pt x="10560812" y="3516630"/>
                  </a:cubicBezTo>
                  <a:lnTo>
                    <a:pt x="156972" y="3516630"/>
                  </a:lnTo>
                  <a:cubicBezTo>
                    <a:pt x="70358" y="3516757"/>
                    <a:pt x="0" y="3446526"/>
                    <a:pt x="0" y="3360039"/>
                  </a:cubicBezTo>
                  <a:close/>
                </a:path>
              </a:pathLst>
            </a:custGeom>
            <a:solidFill>
              <a:srgbClr val="542C49"/>
            </a:solidFill>
          </p:spPr>
        </p:sp>
        <p:sp>
          <p:nvSpPr>
            <p:cNvPr name="Freeform 10" id="10"/>
            <p:cNvSpPr/>
            <p:nvPr/>
          </p:nvSpPr>
          <p:spPr>
            <a:xfrm flipH="false" flipV="false" rot="0">
              <a:off x="0" y="0"/>
              <a:ext cx="10730484" cy="3529330"/>
            </a:xfrm>
            <a:custGeom>
              <a:avLst/>
              <a:gdLst/>
              <a:ahLst/>
              <a:cxnLst/>
              <a:rect r="r" b="b" t="t" l="l"/>
              <a:pathLst>
                <a:path h="3529330" w="10730484">
                  <a:moveTo>
                    <a:pt x="0" y="162941"/>
                  </a:moveTo>
                  <a:cubicBezTo>
                    <a:pt x="0" y="72898"/>
                    <a:pt x="73152" y="0"/>
                    <a:pt x="163322" y="0"/>
                  </a:cubicBezTo>
                  <a:lnTo>
                    <a:pt x="10567162" y="0"/>
                  </a:lnTo>
                  <a:lnTo>
                    <a:pt x="10567162" y="6350"/>
                  </a:lnTo>
                  <a:lnTo>
                    <a:pt x="10567162" y="0"/>
                  </a:lnTo>
                  <a:cubicBezTo>
                    <a:pt x="10657332" y="0"/>
                    <a:pt x="10730484" y="72898"/>
                    <a:pt x="10730484" y="162941"/>
                  </a:cubicBezTo>
                  <a:lnTo>
                    <a:pt x="10724134" y="162941"/>
                  </a:lnTo>
                  <a:lnTo>
                    <a:pt x="10730484" y="162941"/>
                  </a:lnTo>
                  <a:lnTo>
                    <a:pt x="10730484" y="3366389"/>
                  </a:lnTo>
                  <a:lnTo>
                    <a:pt x="10724134" y="3366389"/>
                  </a:lnTo>
                  <a:lnTo>
                    <a:pt x="10730484" y="3366389"/>
                  </a:lnTo>
                  <a:cubicBezTo>
                    <a:pt x="10730484" y="3456432"/>
                    <a:pt x="10657332" y="3529330"/>
                    <a:pt x="10567162" y="3529330"/>
                  </a:cubicBezTo>
                  <a:lnTo>
                    <a:pt x="10567162" y="3522980"/>
                  </a:lnTo>
                  <a:lnTo>
                    <a:pt x="10567162" y="3529330"/>
                  </a:lnTo>
                  <a:lnTo>
                    <a:pt x="163322" y="3529330"/>
                  </a:lnTo>
                  <a:lnTo>
                    <a:pt x="163322" y="3522980"/>
                  </a:lnTo>
                  <a:lnTo>
                    <a:pt x="163322" y="3529330"/>
                  </a:lnTo>
                  <a:cubicBezTo>
                    <a:pt x="73152" y="3529457"/>
                    <a:pt x="0" y="3456432"/>
                    <a:pt x="0" y="3366389"/>
                  </a:cubicBezTo>
                  <a:lnTo>
                    <a:pt x="0" y="162941"/>
                  </a:lnTo>
                  <a:lnTo>
                    <a:pt x="6350" y="162941"/>
                  </a:lnTo>
                  <a:lnTo>
                    <a:pt x="0" y="162941"/>
                  </a:lnTo>
                  <a:moveTo>
                    <a:pt x="12700" y="162941"/>
                  </a:moveTo>
                  <a:lnTo>
                    <a:pt x="12700" y="3366389"/>
                  </a:lnTo>
                  <a:lnTo>
                    <a:pt x="6350" y="3366389"/>
                  </a:lnTo>
                  <a:lnTo>
                    <a:pt x="12700" y="3366389"/>
                  </a:lnTo>
                  <a:cubicBezTo>
                    <a:pt x="12700" y="3449320"/>
                    <a:pt x="80137" y="3516630"/>
                    <a:pt x="163322" y="3516630"/>
                  </a:cubicBezTo>
                  <a:lnTo>
                    <a:pt x="10567162" y="3516630"/>
                  </a:lnTo>
                  <a:cubicBezTo>
                    <a:pt x="10650347" y="3516630"/>
                    <a:pt x="10717784" y="3449320"/>
                    <a:pt x="10717784" y="3366389"/>
                  </a:cubicBezTo>
                  <a:lnTo>
                    <a:pt x="10717784" y="162941"/>
                  </a:lnTo>
                  <a:cubicBezTo>
                    <a:pt x="10717784" y="80010"/>
                    <a:pt x="10650347" y="12700"/>
                    <a:pt x="10567162" y="12700"/>
                  </a:cubicBezTo>
                  <a:lnTo>
                    <a:pt x="163322" y="12700"/>
                  </a:lnTo>
                  <a:lnTo>
                    <a:pt x="163322" y="6350"/>
                  </a:lnTo>
                  <a:lnTo>
                    <a:pt x="163322" y="12700"/>
                  </a:lnTo>
                  <a:cubicBezTo>
                    <a:pt x="80137" y="12700"/>
                    <a:pt x="12700" y="80010"/>
                    <a:pt x="12700" y="162941"/>
                  </a:cubicBezTo>
                  <a:close/>
                </a:path>
              </a:pathLst>
            </a:custGeom>
            <a:solidFill>
              <a:srgbClr val="6D4562"/>
            </a:solidFill>
          </p:spPr>
        </p:sp>
      </p:grpSp>
      <p:grpSp>
        <p:nvGrpSpPr>
          <p:cNvPr name="Group 11" id="11"/>
          <p:cNvGrpSpPr/>
          <p:nvPr/>
        </p:nvGrpSpPr>
        <p:grpSpPr>
          <a:xfrm rot="0">
            <a:off x="1268016" y="3602536"/>
            <a:ext cx="838943" cy="838943"/>
            <a:chOff x="0" y="0"/>
            <a:chExt cx="1118591" cy="1118591"/>
          </a:xfrm>
        </p:grpSpPr>
        <p:sp>
          <p:nvSpPr>
            <p:cNvPr name="Freeform 12" id="12"/>
            <p:cNvSpPr/>
            <p:nvPr/>
          </p:nvSpPr>
          <p:spPr>
            <a:xfrm flipH="false" flipV="false" rot="0">
              <a:off x="0" y="0"/>
              <a:ext cx="1118616" cy="1118616"/>
            </a:xfrm>
            <a:custGeom>
              <a:avLst/>
              <a:gdLst/>
              <a:ahLst/>
              <a:cxnLst/>
              <a:rect r="r" b="b" t="t" l="l"/>
              <a:pathLst>
                <a:path h="1118616" w="1118616">
                  <a:moveTo>
                    <a:pt x="0" y="559308"/>
                  </a:moveTo>
                  <a:cubicBezTo>
                    <a:pt x="0" y="250444"/>
                    <a:pt x="250444" y="0"/>
                    <a:pt x="559308" y="0"/>
                  </a:cubicBezTo>
                  <a:cubicBezTo>
                    <a:pt x="868172" y="0"/>
                    <a:pt x="1118616" y="250444"/>
                    <a:pt x="1118616" y="559308"/>
                  </a:cubicBezTo>
                  <a:cubicBezTo>
                    <a:pt x="1118616" y="868172"/>
                    <a:pt x="868172" y="1118616"/>
                    <a:pt x="559308" y="1118616"/>
                  </a:cubicBezTo>
                  <a:cubicBezTo>
                    <a:pt x="250444" y="1118616"/>
                    <a:pt x="0" y="868172"/>
                    <a:pt x="0" y="559308"/>
                  </a:cubicBezTo>
                  <a:close/>
                </a:path>
              </a:pathLst>
            </a:custGeom>
            <a:solidFill>
              <a:srgbClr val="A95B95"/>
            </a:solidFill>
          </p:spPr>
        </p:sp>
      </p:grpSp>
      <p:sp>
        <p:nvSpPr>
          <p:cNvPr name="Freeform 13" id="13" descr="preencoded.png"/>
          <p:cNvSpPr/>
          <p:nvPr/>
        </p:nvSpPr>
        <p:spPr>
          <a:xfrm flipH="false" flipV="false" rot="0">
            <a:off x="1498702" y="3833222"/>
            <a:ext cx="377428" cy="377428"/>
          </a:xfrm>
          <a:custGeom>
            <a:avLst/>
            <a:gdLst/>
            <a:ahLst/>
            <a:cxnLst/>
            <a:rect r="r" b="b" t="t" l="l"/>
            <a:pathLst>
              <a:path h="377428" w="377428">
                <a:moveTo>
                  <a:pt x="0" y="0"/>
                </a:moveTo>
                <a:lnTo>
                  <a:pt x="377428" y="0"/>
                </a:lnTo>
                <a:lnTo>
                  <a:pt x="377428" y="377428"/>
                </a:lnTo>
                <a:lnTo>
                  <a:pt x="0" y="37742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4" id="14"/>
          <p:cNvSpPr txBox="true"/>
          <p:nvPr/>
        </p:nvSpPr>
        <p:spPr>
          <a:xfrm rot="0">
            <a:off x="1268016" y="4694930"/>
            <a:ext cx="3107531" cy="388439"/>
          </a:xfrm>
          <a:prstGeom prst="rect">
            <a:avLst/>
          </a:prstGeom>
        </p:spPr>
        <p:txBody>
          <a:bodyPr anchor="t" rtlCol="false" tIns="0" lIns="0" bIns="0" rIns="0">
            <a:spAutoFit/>
          </a:bodyPr>
          <a:lstStyle/>
          <a:p>
            <a:pPr algn="l">
              <a:lnSpc>
                <a:spcPts val="2999"/>
              </a:lnSpc>
            </a:pPr>
            <a:r>
              <a:rPr lang="en-US" sz="2437" b="true">
                <a:solidFill>
                  <a:srgbClr val="DAD8E9"/>
                </a:solidFill>
                <a:latin typeface="Prompt Medium"/>
                <a:ea typeface="Prompt Medium"/>
                <a:cs typeface="Prompt Medium"/>
                <a:sym typeface="Prompt Medium"/>
              </a:rPr>
              <a:t>Low Contrast</a:t>
            </a:r>
          </a:p>
        </p:txBody>
      </p:sp>
      <p:sp>
        <p:nvSpPr>
          <p:cNvPr name="TextBox 15" id="15"/>
          <p:cNvSpPr txBox="true"/>
          <p:nvPr/>
        </p:nvSpPr>
        <p:spPr>
          <a:xfrm rot="0">
            <a:off x="1268016" y="5159131"/>
            <a:ext cx="7460009" cy="502596"/>
          </a:xfrm>
          <a:prstGeom prst="rect">
            <a:avLst/>
          </a:prstGeom>
        </p:spPr>
        <p:txBody>
          <a:bodyPr anchor="t" rtlCol="false" tIns="0" lIns="0" bIns="0" rIns="0">
            <a:spAutoFit/>
          </a:bodyPr>
          <a:lstStyle/>
          <a:p>
            <a:pPr algn="l">
              <a:lnSpc>
                <a:spcPts val="3312"/>
              </a:lnSpc>
            </a:pPr>
            <a:r>
              <a:rPr lang="en-US" sz="2187">
                <a:solidFill>
                  <a:srgbClr val="DAD8E9"/>
                </a:solidFill>
                <a:latin typeface="Mukta Light"/>
                <a:ea typeface="Mukta Light"/>
                <a:cs typeface="Mukta Light"/>
                <a:sym typeface="Mukta Light"/>
              </a:rPr>
              <a:t>Haze scatters light, flattening the tonal range across the scene.</a:t>
            </a:r>
          </a:p>
        </p:txBody>
      </p:sp>
      <p:grpSp>
        <p:nvGrpSpPr>
          <p:cNvPr name="Group 16" id="16"/>
          <p:cNvGrpSpPr/>
          <p:nvPr/>
        </p:nvGrpSpPr>
        <p:grpSpPr>
          <a:xfrm rot="0">
            <a:off x="9265891" y="3308594"/>
            <a:ext cx="8048034" cy="2647055"/>
            <a:chOff x="0" y="0"/>
            <a:chExt cx="10730713" cy="3529406"/>
          </a:xfrm>
        </p:grpSpPr>
        <p:sp>
          <p:nvSpPr>
            <p:cNvPr name="Freeform 17" id="17"/>
            <p:cNvSpPr/>
            <p:nvPr/>
          </p:nvSpPr>
          <p:spPr>
            <a:xfrm flipH="false" flipV="false" rot="0">
              <a:off x="6350" y="6350"/>
              <a:ext cx="10717911" cy="3516630"/>
            </a:xfrm>
            <a:custGeom>
              <a:avLst/>
              <a:gdLst/>
              <a:ahLst/>
              <a:cxnLst/>
              <a:rect r="r" b="b" t="t" l="l"/>
              <a:pathLst>
                <a:path h="3516630" w="10717911">
                  <a:moveTo>
                    <a:pt x="0" y="156591"/>
                  </a:moveTo>
                  <a:cubicBezTo>
                    <a:pt x="0" y="70104"/>
                    <a:pt x="70358" y="0"/>
                    <a:pt x="156972" y="0"/>
                  </a:cubicBezTo>
                  <a:lnTo>
                    <a:pt x="10560939" y="0"/>
                  </a:lnTo>
                  <a:cubicBezTo>
                    <a:pt x="10647680" y="0"/>
                    <a:pt x="10717911" y="70104"/>
                    <a:pt x="10717911" y="156591"/>
                  </a:cubicBezTo>
                  <a:lnTo>
                    <a:pt x="10717911" y="3360039"/>
                  </a:lnTo>
                  <a:cubicBezTo>
                    <a:pt x="10717911" y="3446526"/>
                    <a:pt x="10647553" y="3516630"/>
                    <a:pt x="10560939" y="3516630"/>
                  </a:cubicBezTo>
                  <a:lnTo>
                    <a:pt x="156972" y="3516630"/>
                  </a:lnTo>
                  <a:cubicBezTo>
                    <a:pt x="70358" y="3516757"/>
                    <a:pt x="0" y="3446526"/>
                    <a:pt x="0" y="3360039"/>
                  </a:cubicBezTo>
                  <a:close/>
                </a:path>
              </a:pathLst>
            </a:custGeom>
            <a:solidFill>
              <a:srgbClr val="542C49"/>
            </a:solidFill>
          </p:spPr>
        </p:sp>
        <p:sp>
          <p:nvSpPr>
            <p:cNvPr name="Freeform 18" id="18"/>
            <p:cNvSpPr/>
            <p:nvPr/>
          </p:nvSpPr>
          <p:spPr>
            <a:xfrm flipH="false" flipV="false" rot="0">
              <a:off x="0" y="0"/>
              <a:ext cx="10730611" cy="3529330"/>
            </a:xfrm>
            <a:custGeom>
              <a:avLst/>
              <a:gdLst/>
              <a:ahLst/>
              <a:cxnLst/>
              <a:rect r="r" b="b" t="t" l="l"/>
              <a:pathLst>
                <a:path h="3529330" w="10730611">
                  <a:moveTo>
                    <a:pt x="0" y="162941"/>
                  </a:moveTo>
                  <a:cubicBezTo>
                    <a:pt x="0" y="72898"/>
                    <a:pt x="73152" y="0"/>
                    <a:pt x="163322" y="0"/>
                  </a:cubicBezTo>
                  <a:lnTo>
                    <a:pt x="10567289" y="0"/>
                  </a:lnTo>
                  <a:lnTo>
                    <a:pt x="10567289" y="6350"/>
                  </a:lnTo>
                  <a:lnTo>
                    <a:pt x="10567289" y="0"/>
                  </a:lnTo>
                  <a:cubicBezTo>
                    <a:pt x="10657459" y="0"/>
                    <a:pt x="10730611" y="72898"/>
                    <a:pt x="10730611" y="162941"/>
                  </a:cubicBezTo>
                  <a:lnTo>
                    <a:pt x="10724261" y="162941"/>
                  </a:lnTo>
                  <a:lnTo>
                    <a:pt x="10730611" y="162941"/>
                  </a:lnTo>
                  <a:lnTo>
                    <a:pt x="10730611" y="3366389"/>
                  </a:lnTo>
                  <a:lnTo>
                    <a:pt x="10724261" y="3366389"/>
                  </a:lnTo>
                  <a:lnTo>
                    <a:pt x="10730611" y="3366389"/>
                  </a:lnTo>
                  <a:cubicBezTo>
                    <a:pt x="10730611" y="3456432"/>
                    <a:pt x="10657459" y="3529330"/>
                    <a:pt x="10567289" y="3529330"/>
                  </a:cubicBezTo>
                  <a:lnTo>
                    <a:pt x="10567289" y="3522980"/>
                  </a:lnTo>
                  <a:lnTo>
                    <a:pt x="10567289" y="3529330"/>
                  </a:lnTo>
                  <a:lnTo>
                    <a:pt x="163322" y="3529330"/>
                  </a:lnTo>
                  <a:lnTo>
                    <a:pt x="163322" y="3522980"/>
                  </a:lnTo>
                  <a:lnTo>
                    <a:pt x="163322" y="3529330"/>
                  </a:lnTo>
                  <a:cubicBezTo>
                    <a:pt x="73152" y="3529457"/>
                    <a:pt x="0" y="3456432"/>
                    <a:pt x="0" y="3366389"/>
                  </a:cubicBezTo>
                  <a:lnTo>
                    <a:pt x="0" y="162941"/>
                  </a:lnTo>
                  <a:lnTo>
                    <a:pt x="6350" y="162941"/>
                  </a:lnTo>
                  <a:lnTo>
                    <a:pt x="0" y="162941"/>
                  </a:lnTo>
                  <a:moveTo>
                    <a:pt x="12700" y="162941"/>
                  </a:moveTo>
                  <a:lnTo>
                    <a:pt x="12700" y="3366389"/>
                  </a:lnTo>
                  <a:lnTo>
                    <a:pt x="6350" y="3366389"/>
                  </a:lnTo>
                  <a:lnTo>
                    <a:pt x="12700" y="3366389"/>
                  </a:lnTo>
                  <a:cubicBezTo>
                    <a:pt x="12700" y="3449320"/>
                    <a:pt x="80137" y="3516630"/>
                    <a:pt x="163322" y="3516630"/>
                  </a:cubicBezTo>
                  <a:lnTo>
                    <a:pt x="10567289" y="3516630"/>
                  </a:lnTo>
                  <a:cubicBezTo>
                    <a:pt x="10650474" y="3516630"/>
                    <a:pt x="10717911" y="3449320"/>
                    <a:pt x="10717911" y="3366389"/>
                  </a:cubicBezTo>
                  <a:lnTo>
                    <a:pt x="10717911" y="162941"/>
                  </a:lnTo>
                  <a:cubicBezTo>
                    <a:pt x="10718038" y="80010"/>
                    <a:pt x="10650601" y="12700"/>
                    <a:pt x="10567289" y="12700"/>
                  </a:cubicBezTo>
                  <a:lnTo>
                    <a:pt x="163322" y="12700"/>
                  </a:lnTo>
                  <a:lnTo>
                    <a:pt x="163322" y="6350"/>
                  </a:lnTo>
                  <a:lnTo>
                    <a:pt x="163322" y="12700"/>
                  </a:lnTo>
                  <a:cubicBezTo>
                    <a:pt x="80137" y="12700"/>
                    <a:pt x="12700" y="80010"/>
                    <a:pt x="12700" y="162941"/>
                  </a:cubicBezTo>
                  <a:close/>
                </a:path>
              </a:pathLst>
            </a:custGeom>
            <a:solidFill>
              <a:srgbClr val="6D4562"/>
            </a:solidFill>
          </p:spPr>
        </p:sp>
      </p:grpSp>
      <p:grpSp>
        <p:nvGrpSpPr>
          <p:cNvPr name="Group 19" id="19"/>
          <p:cNvGrpSpPr/>
          <p:nvPr/>
        </p:nvGrpSpPr>
        <p:grpSpPr>
          <a:xfrm rot="0">
            <a:off x="9559823" y="3602536"/>
            <a:ext cx="838943" cy="838943"/>
            <a:chOff x="0" y="0"/>
            <a:chExt cx="1118591" cy="1118591"/>
          </a:xfrm>
        </p:grpSpPr>
        <p:sp>
          <p:nvSpPr>
            <p:cNvPr name="Freeform 20" id="20"/>
            <p:cNvSpPr/>
            <p:nvPr/>
          </p:nvSpPr>
          <p:spPr>
            <a:xfrm flipH="false" flipV="false" rot="0">
              <a:off x="0" y="0"/>
              <a:ext cx="1118616" cy="1118616"/>
            </a:xfrm>
            <a:custGeom>
              <a:avLst/>
              <a:gdLst/>
              <a:ahLst/>
              <a:cxnLst/>
              <a:rect r="r" b="b" t="t" l="l"/>
              <a:pathLst>
                <a:path h="1118616" w="1118616">
                  <a:moveTo>
                    <a:pt x="0" y="559308"/>
                  </a:moveTo>
                  <a:cubicBezTo>
                    <a:pt x="0" y="250444"/>
                    <a:pt x="250444" y="0"/>
                    <a:pt x="559308" y="0"/>
                  </a:cubicBezTo>
                  <a:cubicBezTo>
                    <a:pt x="868172" y="0"/>
                    <a:pt x="1118616" y="250444"/>
                    <a:pt x="1118616" y="559308"/>
                  </a:cubicBezTo>
                  <a:cubicBezTo>
                    <a:pt x="1118616" y="868172"/>
                    <a:pt x="868172" y="1118616"/>
                    <a:pt x="559308" y="1118616"/>
                  </a:cubicBezTo>
                  <a:cubicBezTo>
                    <a:pt x="250444" y="1118616"/>
                    <a:pt x="0" y="868172"/>
                    <a:pt x="0" y="559308"/>
                  </a:cubicBezTo>
                  <a:close/>
                </a:path>
              </a:pathLst>
            </a:custGeom>
            <a:solidFill>
              <a:srgbClr val="A95B95"/>
            </a:solidFill>
          </p:spPr>
        </p:sp>
      </p:grpSp>
      <p:sp>
        <p:nvSpPr>
          <p:cNvPr name="Freeform 21" id="21" descr="preencoded.png"/>
          <p:cNvSpPr/>
          <p:nvPr/>
        </p:nvSpPr>
        <p:spPr>
          <a:xfrm flipH="false" flipV="false" rot="0">
            <a:off x="9790509" y="3833222"/>
            <a:ext cx="377428" cy="377428"/>
          </a:xfrm>
          <a:custGeom>
            <a:avLst/>
            <a:gdLst/>
            <a:ahLst/>
            <a:cxnLst/>
            <a:rect r="r" b="b" t="t" l="l"/>
            <a:pathLst>
              <a:path h="377428" w="377428">
                <a:moveTo>
                  <a:pt x="0" y="0"/>
                </a:moveTo>
                <a:lnTo>
                  <a:pt x="377429" y="0"/>
                </a:lnTo>
                <a:lnTo>
                  <a:pt x="377429" y="377428"/>
                </a:lnTo>
                <a:lnTo>
                  <a:pt x="0" y="377428"/>
                </a:lnTo>
                <a:lnTo>
                  <a:pt x="0" y="0"/>
                </a:lnTo>
                <a:close/>
              </a:path>
            </a:pathLst>
          </a:custGeom>
          <a:blipFill>
            <a:blip r:embed="rId6">
              <a:extLst>
                <a:ext uri="{96DAC541-7B7A-43D3-8B79-37D633B846F1}">
                  <asvg:svgBlip xmlns:asvg="http://schemas.microsoft.com/office/drawing/2016/SVG/main" r:embed="rId7"/>
                </a:ext>
              </a:extLst>
            </a:blip>
            <a:stretch>
              <a:fillRect l="-23750" t="0" r="-23750" b="0"/>
            </a:stretch>
          </a:blipFill>
        </p:spPr>
      </p:sp>
      <p:sp>
        <p:nvSpPr>
          <p:cNvPr name="TextBox 22" id="22"/>
          <p:cNvSpPr txBox="true"/>
          <p:nvPr/>
        </p:nvSpPr>
        <p:spPr>
          <a:xfrm rot="0">
            <a:off x="9559823" y="4694930"/>
            <a:ext cx="3107531" cy="388439"/>
          </a:xfrm>
          <a:prstGeom prst="rect">
            <a:avLst/>
          </a:prstGeom>
        </p:spPr>
        <p:txBody>
          <a:bodyPr anchor="t" rtlCol="false" tIns="0" lIns="0" bIns="0" rIns="0">
            <a:spAutoFit/>
          </a:bodyPr>
          <a:lstStyle/>
          <a:p>
            <a:pPr algn="l">
              <a:lnSpc>
                <a:spcPts val="2999"/>
              </a:lnSpc>
            </a:pPr>
            <a:r>
              <a:rPr lang="en-US" sz="2437" b="true">
                <a:solidFill>
                  <a:srgbClr val="DAD8E9"/>
                </a:solidFill>
                <a:latin typeface="Prompt Medium"/>
                <a:ea typeface="Prompt Medium"/>
                <a:cs typeface="Prompt Medium"/>
                <a:sym typeface="Prompt Medium"/>
              </a:rPr>
              <a:t>Poor Visibility</a:t>
            </a:r>
          </a:p>
        </p:txBody>
      </p:sp>
      <p:sp>
        <p:nvSpPr>
          <p:cNvPr name="TextBox 23" id="23"/>
          <p:cNvSpPr txBox="true"/>
          <p:nvPr/>
        </p:nvSpPr>
        <p:spPr>
          <a:xfrm rot="0">
            <a:off x="9559823" y="5159131"/>
            <a:ext cx="7460161" cy="502596"/>
          </a:xfrm>
          <a:prstGeom prst="rect">
            <a:avLst/>
          </a:prstGeom>
        </p:spPr>
        <p:txBody>
          <a:bodyPr anchor="t" rtlCol="false" tIns="0" lIns="0" bIns="0" rIns="0">
            <a:spAutoFit/>
          </a:bodyPr>
          <a:lstStyle/>
          <a:p>
            <a:pPr algn="l">
              <a:lnSpc>
                <a:spcPts val="3312"/>
              </a:lnSpc>
            </a:pPr>
            <a:r>
              <a:rPr lang="en-US" sz="2187">
                <a:solidFill>
                  <a:srgbClr val="DAD8E9"/>
                </a:solidFill>
                <a:latin typeface="Mukta Light"/>
                <a:ea typeface="Mukta Light"/>
                <a:cs typeface="Mukta Light"/>
                <a:sym typeface="Mukta Light"/>
              </a:rPr>
              <a:t>Distant objects become indistinguishable, reducing scene depth.</a:t>
            </a:r>
          </a:p>
        </p:txBody>
      </p:sp>
      <p:grpSp>
        <p:nvGrpSpPr>
          <p:cNvPr name="Group 24" id="24"/>
          <p:cNvGrpSpPr/>
          <p:nvPr/>
        </p:nvGrpSpPr>
        <p:grpSpPr>
          <a:xfrm rot="0">
            <a:off x="974084" y="6199584"/>
            <a:ext cx="8047882" cy="3073451"/>
            <a:chOff x="0" y="0"/>
            <a:chExt cx="10730509" cy="4097934"/>
          </a:xfrm>
        </p:grpSpPr>
        <p:sp>
          <p:nvSpPr>
            <p:cNvPr name="Freeform 25" id="25"/>
            <p:cNvSpPr/>
            <p:nvPr/>
          </p:nvSpPr>
          <p:spPr>
            <a:xfrm flipH="false" flipV="false" rot="0">
              <a:off x="6350" y="6350"/>
              <a:ext cx="10717911" cy="4085209"/>
            </a:xfrm>
            <a:custGeom>
              <a:avLst/>
              <a:gdLst/>
              <a:ahLst/>
              <a:cxnLst/>
              <a:rect r="r" b="b" t="t" l="l"/>
              <a:pathLst>
                <a:path h="4085209" w="10717911">
                  <a:moveTo>
                    <a:pt x="0" y="156591"/>
                  </a:moveTo>
                  <a:cubicBezTo>
                    <a:pt x="0" y="70104"/>
                    <a:pt x="70231" y="0"/>
                    <a:pt x="156972" y="0"/>
                  </a:cubicBezTo>
                  <a:lnTo>
                    <a:pt x="10560939" y="0"/>
                  </a:lnTo>
                  <a:cubicBezTo>
                    <a:pt x="10647553" y="0"/>
                    <a:pt x="10717911" y="70104"/>
                    <a:pt x="10717911" y="156591"/>
                  </a:cubicBezTo>
                  <a:lnTo>
                    <a:pt x="10717911" y="3928618"/>
                  </a:lnTo>
                  <a:cubicBezTo>
                    <a:pt x="10717911" y="4015105"/>
                    <a:pt x="10647680" y="4085209"/>
                    <a:pt x="10560939" y="4085209"/>
                  </a:cubicBezTo>
                  <a:lnTo>
                    <a:pt x="156972" y="4085209"/>
                  </a:lnTo>
                  <a:cubicBezTo>
                    <a:pt x="70231" y="4085209"/>
                    <a:pt x="0" y="4015105"/>
                    <a:pt x="0" y="3928618"/>
                  </a:cubicBezTo>
                  <a:close/>
                </a:path>
              </a:pathLst>
            </a:custGeom>
            <a:solidFill>
              <a:srgbClr val="542C49"/>
            </a:solidFill>
          </p:spPr>
        </p:sp>
        <p:sp>
          <p:nvSpPr>
            <p:cNvPr name="Freeform 26" id="26"/>
            <p:cNvSpPr/>
            <p:nvPr/>
          </p:nvSpPr>
          <p:spPr>
            <a:xfrm flipH="false" flipV="false" rot="0">
              <a:off x="0" y="0"/>
              <a:ext cx="10730611" cy="4097909"/>
            </a:xfrm>
            <a:custGeom>
              <a:avLst/>
              <a:gdLst/>
              <a:ahLst/>
              <a:cxnLst/>
              <a:rect r="r" b="b" t="t" l="l"/>
              <a:pathLst>
                <a:path h="4097909" w="10730611">
                  <a:moveTo>
                    <a:pt x="0" y="162941"/>
                  </a:moveTo>
                  <a:cubicBezTo>
                    <a:pt x="0" y="72898"/>
                    <a:pt x="73152" y="0"/>
                    <a:pt x="163322" y="0"/>
                  </a:cubicBezTo>
                  <a:lnTo>
                    <a:pt x="10567289" y="0"/>
                  </a:lnTo>
                  <a:lnTo>
                    <a:pt x="10567289" y="6350"/>
                  </a:lnTo>
                  <a:lnTo>
                    <a:pt x="10567289" y="0"/>
                  </a:lnTo>
                  <a:cubicBezTo>
                    <a:pt x="10657459" y="0"/>
                    <a:pt x="10730611" y="72898"/>
                    <a:pt x="10730611" y="162941"/>
                  </a:cubicBezTo>
                  <a:lnTo>
                    <a:pt x="10724261" y="162941"/>
                  </a:lnTo>
                  <a:lnTo>
                    <a:pt x="10730611" y="162941"/>
                  </a:lnTo>
                  <a:lnTo>
                    <a:pt x="10730611" y="3934968"/>
                  </a:lnTo>
                  <a:lnTo>
                    <a:pt x="10724261" y="3934968"/>
                  </a:lnTo>
                  <a:lnTo>
                    <a:pt x="10730611" y="3934968"/>
                  </a:lnTo>
                  <a:cubicBezTo>
                    <a:pt x="10730611" y="4025011"/>
                    <a:pt x="10657459" y="4097909"/>
                    <a:pt x="10567289" y="4097909"/>
                  </a:cubicBezTo>
                  <a:lnTo>
                    <a:pt x="10567289" y="4091559"/>
                  </a:lnTo>
                  <a:lnTo>
                    <a:pt x="10567289" y="4097909"/>
                  </a:lnTo>
                  <a:lnTo>
                    <a:pt x="163322" y="4097909"/>
                  </a:lnTo>
                  <a:lnTo>
                    <a:pt x="163322" y="4091559"/>
                  </a:lnTo>
                  <a:lnTo>
                    <a:pt x="163322" y="4097909"/>
                  </a:lnTo>
                  <a:cubicBezTo>
                    <a:pt x="73152" y="4097909"/>
                    <a:pt x="0" y="4025011"/>
                    <a:pt x="0" y="3934968"/>
                  </a:cubicBezTo>
                  <a:lnTo>
                    <a:pt x="0" y="162941"/>
                  </a:lnTo>
                  <a:lnTo>
                    <a:pt x="6350" y="162941"/>
                  </a:lnTo>
                  <a:lnTo>
                    <a:pt x="0" y="162941"/>
                  </a:lnTo>
                  <a:moveTo>
                    <a:pt x="12700" y="162941"/>
                  </a:moveTo>
                  <a:lnTo>
                    <a:pt x="12700" y="3934968"/>
                  </a:lnTo>
                  <a:lnTo>
                    <a:pt x="6350" y="3934968"/>
                  </a:lnTo>
                  <a:lnTo>
                    <a:pt x="12700" y="3934968"/>
                  </a:lnTo>
                  <a:cubicBezTo>
                    <a:pt x="12700" y="4017899"/>
                    <a:pt x="80137" y="4085209"/>
                    <a:pt x="163322" y="4085209"/>
                  </a:cubicBezTo>
                  <a:lnTo>
                    <a:pt x="10567289" y="4085209"/>
                  </a:lnTo>
                  <a:cubicBezTo>
                    <a:pt x="10650474" y="4085209"/>
                    <a:pt x="10717911" y="4017899"/>
                    <a:pt x="10717911" y="3934968"/>
                  </a:cubicBezTo>
                  <a:lnTo>
                    <a:pt x="10717911" y="162941"/>
                  </a:lnTo>
                  <a:cubicBezTo>
                    <a:pt x="10717784" y="80010"/>
                    <a:pt x="10650347" y="12700"/>
                    <a:pt x="10567289" y="12700"/>
                  </a:cubicBezTo>
                  <a:lnTo>
                    <a:pt x="163322" y="12700"/>
                  </a:lnTo>
                  <a:lnTo>
                    <a:pt x="163322" y="6350"/>
                  </a:lnTo>
                  <a:lnTo>
                    <a:pt x="163322" y="12700"/>
                  </a:lnTo>
                  <a:cubicBezTo>
                    <a:pt x="80137" y="12700"/>
                    <a:pt x="12700" y="80010"/>
                    <a:pt x="12700" y="162941"/>
                  </a:cubicBezTo>
                  <a:close/>
                </a:path>
              </a:pathLst>
            </a:custGeom>
            <a:solidFill>
              <a:srgbClr val="6D4562"/>
            </a:solidFill>
          </p:spPr>
        </p:sp>
      </p:grpSp>
      <p:grpSp>
        <p:nvGrpSpPr>
          <p:cNvPr name="Group 27" id="27"/>
          <p:cNvGrpSpPr/>
          <p:nvPr/>
        </p:nvGrpSpPr>
        <p:grpSpPr>
          <a:xfrm rot="0">
            <a:off x="1268016" y="6493516"/>
            <a:ext cx="838943" cy="838943"/>
            <a:chOff x="0" y="0"/>
            <a:chExt cx="1118591" cy="1118591"/>
          </a:xfrm>
        </p:grpSpPr>
        <p:sp>
          <p:nvSpPr>
            <p:cNvPr name="Freeform 28" id="28"/>
            <p:cNvSpPr/>
            <p:nvPr/>
          </p:nvSpPr>
          <p:spPr>
            <a:xfrm flipH="false" flipV="false" rot="0">
              <a:off x="0" y="0"/>
              <a:ext cx="1118616" cy="1118616"/>
            </a:xfrm>
            <a:custGeom>
              <a:avLst/>
              <a:gdLst/>
              <a:ahLst/>
              <a:cxnLst/>
              <a:rect r="r" b="b" t="t" l="l"/>
              <a:pathLst>
                <a:path h="1118616" w="1118616">
                  <a:moveTo>
                    <a:pt x="0" y="559308"/>
                  </a:moveTo>
                  <a:cubicBezTo>
                    <a:pt x="0" y="250444"/>
                    <a:pt x="250444" y="0"/>
                    <a:pt x="559308" y="0"/>
                  </a:cubicBezTo>
                  <a:cubicBezTo>
                    <a:pt x="868172" y="0"/>
                    <a:pt x="1118616" y="250444"/>
                    <a:pt x="1118616" y="559308"/>
                  </a:cubicBezTo>
                  <a:cubicBezTo>
                    <a:pt x="1118616" y="868172"/>
                    <a:pt x="868172" y="1118616"/>
                    <a:pt x="559308" y="1118616"/>
                  </a:cubicBezTo>
                  <a:cubicBezTo>
                    <a:pt x="250444" y="1118616"/>
                    <a:pt x="0" y="868172"/>
                    <a:pt x="0" y="559308"/>
                  </a:cubicBezTo>
                  <a:close/>
                </a:path>
              </a:pathLst>
            </a:custGeom>
            <a:solidFill>
              <a:srgbClr val="A95B95"/>
            </a:solidFill>
          </p:spPr>
        </p:sp>
      </p:grpSp>
      <p:sp>
        <p:nvSpPr>
          <p:cNvPr name="Freeform 29" id="29" descr="preencoded.png"/>
          <p:cNvSpPr/>
          <p:nvPr/>
        </p:nvSpPr>
        <p:spPr>
          <a:xfrm flipH="false" flipV="false" rot="0">
            <a:off x="1498702" y="6724202"/>
            <a:ext cx="377428" cy="377428"/>
          </a:xfrm>
          <a:custGeom>
            <a:avLst/>
            <a:gdLst/>
            <a:ahLst/>
            <a:cxnLst/>
            <a:rect r="r" b="b" t="t" l="l"/>
            <a:pathLst>
              <a:path h="377428" w="377428">
                <a:moveTo>
                  <a:pt x="0" y="0"/>
                </a:moveTo>
                <a:lnTo>
                  <a:pt x="377428" y="0"/>
                </a:lnTo>
                <a:lnTo>
                  <a:pt x="377428" y="377428"/>
                </a:lnTo>
                <a:lnTo>
                  <a:pt x="0" y="377428"/>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30" id="30"/>
          <p:cNvSpPr txBox="true"/>
          <p:nvPr/>
        </p:nvSpPr>
        <p:spPr>
          <a:xfrm rot="0">
            <a:off x="1268016" y="7585920"/>
            <a:ext cx="3107531" cy="388439"/>
          </a:xfrm>
          <a:prstGeom prst="rect">
            <a:avLst/>
          </a:prstGeom>
        </p:spPr>
        <p:txBody>
          <a:bodyPr anchor="t" rtlCol="false" tIns="0" lIns="0" bIns="0" rIns="0">
            <a:spAutoFit/>
          </a:bodyPr>
          <a:lstStyle/>
          <a:p>
            <a:pPr algn="l">
              <a:lnSpc>
                <a:spcPts val="2999"/>
              </a:lnSpc>
            </a:pPr>
            <a:r>
              <a:rPr lang="en-US" sz="2437" b="true">
                <a:solidFill>
                  <a:srgbClr val="DAD8E9"/>
                </a:solidFill>
                <a:latin typeface="Prompt Medium"/>
                <a:ea typeface="Prompt Medium"/>
                <a:cs typeface="Prompt Medium"/>
                <a:sym typeface="Prompt Medium"/>
              </a:rPr>
              <a:t>Colour Fading</a:t>
            </a:r>
          </a:p>
        </p:txBody>
      </p:sp>
      <p:sp>
        <p:nvSpPr>
          <p:cNvPr name="TextBox 31" id="31"/>
          <p:cNvSpPr txBox="true"/>
          <p:nvPr/>
        </p:nvSpPr>
        <p:spPr>
          <a:xfrm rot="0">
            <a:off x="1268016" y="8050111"/>
            <a:ext cx="7460009" cy="502596"/>
          </a:xfrm>
          <a:prstGeom prst="rect">
            <a:avLst/>
          </a:prstGeom>
        </p:spPr>
        <p:txBody>
          <a:bodyPr anchor="t" rtlCol="false" tIns="0" lIns="0" bIns="0" rIns="0">
            <a:spAutoFit/>
          </a:bodyPr>
          <a:lstStyle/>
          <a:p>
            <a:pPr algn="l">
              <a:lnSpc>
                <a:spcPts val="3312"/>
              </a:lnSpc>
            </a:pPr>
            <a:r>
              <a:rPr lang="en-US" sz="2187">
                <a:solidFill>
                  <a:srgbClr val="DAD8E9"/>
                </a:solidFill>
                <a:latin typeface="Mukta Light"/>
                <a:ea typeface="Mukta Light"/>
                <a:cs typeface="Mukta Light"/>
                <a:sym typeface="Mukta Light"/>
              </a:rPr>
              <a:t>Atmospheric scattering washes out saturation and hue fidelity.</a:t>
            </a:r>
          </a:p>
        </p:txBody>
      </p:sp>
      <p:grpSp>
        <p:nvGrpSpPr>
          <p:cNvPr name="Group 32" id="32"/>
          <p:cNvGrpSpPr/>
          <p:nvPr/>
        </p:nvGrpSpPr>
        <p:grpSpPr>
          <a:xfrm rot="0">
            <a:off x="9265891" y="6199584"/>
            <a:ext cx="8048034" cy="3073451"/>
            <a:chOff x="0" y="0"/>
            <a:chExt cx="10730713" cy="4097934"/>
          </a:xfrm>
        </p:grpSpPr>
        <p:sp>
          <p:nvSpPr>
            <p:cNvPr name="Freeform 33" id="33"/>
            <p:cNvSpPr/>
            <p:nvPr/>
          </p:nvSpPr>
          <p:spPr>
            <a:xfrm flipH="false" flipV="false" rot="0">
              <a:off x="6350" y="6350"/>
              <a:ext cx="10718038" cy="4085209"/>
            </a:xfrm>
            <a:custGeom>
              <a:avLst/>
              <a:gdLst/>
              <a:ahLst/>
              <a:cxnLst/>
              <a:rect r="r" b="b" t="t" l="l"/>
              <a:pathLst>
                <a:path h="4085209" w="10718038">
                  <a:moveTo>
                    <a:pt x="0" y="156591"/>
                  </a:moveTo>
                  <a:cubicBezTo>
                    <a:pt x="0" y="70104"/>
                    <a:pt x="70231" y="0"/>
                    <a:pt x="156972" y="0"/>
                  </a:cubicBezTo>
                  <a:lnTo>
                    <a:pt x="10561066" y="0"/>
                  </a:lnTo>
                  <a:cubicBezTo>
                    <a:pt x="10647680" y="0"/>
                    <a:pt x="10718038" y="70104"/>
                    <a:pt x="10718038" y="156591"/>
                  </a:cubicBezTo>
                  <a:lnTo>
                    <a:pt x="10718038" y="3928618"/>
                  </a:lnTo>
                  <a:cubicBezTo>
                    <a:pt x="10718038" y="4015105"/>
                    <a:pt x="10647807" y="4085209"/>
                    <a:pt x="10561066" y="4085209"/>
                  </a:cubicBezTo>
                  <a:lnTo>
                    <a:pt x="156972" y="4085209"/>
                  </a:lnTo>
                  <a:cubicBezTo>
                    <a:pt x="70231" y="4085209"/>
                    <a:pt x="0" y="4015105"/>
                    <a:pt x="0" y="3928618"/>
                  </a:cubicBezTo>
                  <a:close/>
                </a:path>
              </a:pathLst>
            </a:custGeom>
            <a:solidFill>
              <a:srgbClr val="542C49"/>
            </a:solidFill>
          </p:spPr>
        </p:sp>
        <p:sp>
          <p:nvSpPr>
            <p:cNvPr name="Freeform 34" id="34"/>
            <p:cNvSpPr/>
            <p:nvPr/>
          </p:nvSpPr>
          <p:spPr>
            <a:xfrm flipH="false" flipV="false" rot="0">
              <a:off x="0" y="0"/>
              <a:ext cx="10730738" cy="4097909"/>
            </a:xfrm>
            <a:custGeom>
              <a:avLst/>
              <a:gdLst/>
              <a:ahLst/>
              <a:cxnLst/>
              <a:rect r="r" b="b" t="t" l="l"/>
              <a:pathLst>
                <a:path h="4097909" w="10730738">
                  <a:moveTo>
                    <a:pt x="0" y="162941"/>
                  </a:moveTo>
                  <a:cubicBezTo>
                    <a:pt x="0" y="72898"/>
                    <a:pt x="73152" y="0"/>
                    <a:pt x="163322" y="0"/>
                  </a:cubicBezTo>
                  <a:lnTo>
                    <a:pt x="10567416" y="0"/>
                  </a:lnTo>
                  <a:lnTo>
                    <a:pt x="10567416" y="6350"/>
                  </a:lnTo>
                  <a:lnTo>
                    <a:pt x="10567416" y="0"/>
                  </a:lnTo>
                  <a:cubicBezTo>
                    <a:pt x="10657586" y="0"/>
                    <a:pt x="10730738" y="72898"/>
                    <a:pt x="10730738" y="162941"/>
                  </a:cubicBezTo>
                  <a:lnTo>
                    <a:pt x="10724388" y="162941"/>
                  </a:lnTo>
                  <a:lnTo>
                    <a:pt x="10730738" y="162941"/>
                  </a:lnTo>
                  <a:lnTo>
                    <a:pt x="10730738" y="3934968"/>
                  </a:lnTo>
                  <a:lnTo>
                    <a:pt x="10724388" y="3934968"/>
                  </a:lnTo>
                  <a:lnTo>
                    <a:pt x="10730738" y="3934968"/>
                  </a:lnTo>
                  <a:cubicBezTo>
                    <a:pt x="10730738" y="4025011"/>
                    <a:pt x="10657586" y="4097909"/>
                    <a:pt x="10567416" y="4097909"/>
                  </a:cubicBezTo>
                  <a:lnTo>
                    <a:pt x="10567416" y="4091559"/>
                  </a:lnTo>
                  <a:lnTo>
                    <a:pt x="10567416" y="4097909"/>
                  </a:lnTo>
                  <a:lnTo>
                    <a:pt x="163322" y="4097909"/>
                  </a:lnTo>
                  <a:lnTo>
                    <a:pt x="163322" y="4091559"/>
                  </a:lnTo>
                  <a:lnTo>
                    <a:pt x="163322" y="4097909"/>
                  </a:lnTo>
                  <a:cubicBezTo>
                    <a:pt x="73152" y="4097909"/>
                    <a:pt x="0" y="4025011"/>
                    <a:pt x="0" y="3934968"/>
                  </a:cubicBezTo>
                  <a:lnTo>
                    <a:pt x="0" y="162941"/>
                  </a:lnTo>
                  <a:lnTo>
                    <a:pt x="6350" y="162941"/>
                  </a:lnTo>
                  <a:lnTo>
                    <a:pt x="0" y="162941"/>
                  </a:lnTo>
                  <a:moveTo>
                    <a:pt x="12700" y="162941"/>
                  </a:moveTo>
                  <a:lnTo>
                    <a:pt x="12700" y="3934968"/>
                  </a:lnTo>
                  <a:lnTo>
                    <a:pt x="6350" y="3934968"/>
                  </a:lnTo>
                  <a:lnTo>
                    <a:pt x="12700" y="3934968"/>
                  </a:lnTo>
                  <a:cubicBezTo>
                    <a:pt x="12700" y="4017899"/>
                    <a:pt x="80137" y="4085209"/>
                    <a:pt x="163322" y="4085209"/>
                  </a:cubicBezTo>
                  <a:lnTo>
                    <a:pt x="10567416" y="4085209"/>
                  </a:lnTo>
                  <a:cubicBezTo>
                    <a:pt x="10650601" y="4085209"/>
                    <a:pt x="10718038" y="4017899"/>
                    <a:pt x="10718038" y="3934968"/>
                  </a:cubicBezTo>
                  <a:lnTo>
                    <a:pt x="10718038" y="162941"/>
                  </a:lnTo>
                  <a:cubicBezTo>
                    <a:pt x="10718038" y="80010"/>
                    <a:pt x="10650601" y="12700"/>
                    <a:pt x="10567416" y="12700"/>
                  </a:cubicBezTo>
                  <a:lnTo>
                    <a:pt x="163322" y="12700"/>
                  </a:lnTo>
                  <a:lnTo>
                    <a:pt x="163322" y="6350"/>
                  </a:lnTo>
                  <a:lnTo>
                    <a:pt x="163322" y="12700"/>
                  </a:lnTo>
                  <a:cubicBezTo>
                    <a:pt x="80137" y="12700"/>
                    <a:pt x="12700" y="80010"/>
                    <a:pt x="12700" y="162941"/>
                  </a:cubicBezTo>
                  <a:close/>
                </a:path>
              </a:pathLst>
            </a:custGeom>
            <a:solidFill>
              <a:srgbClr val="6D4562"/>
            </a:solidFill>
          </p:spPr>
        </p:sp>
      </p:grpSp>
      <p:grpSp>
        <p:nvGrpSpPr>
          <p:cNvPr name="Group 35" id="35"/>
          <p:cNvGrpSpPr/>
          <p:nvPr/>
        </p:nvGrpSpPr>
        <p:grpSpPr>
          <a:xfrm rot="0">
            <a:off x="9559823" y="6493516"/>
            <a:ext cx="838943" cy="838943"/>
            <a:chOff x="0" y="0"/>
            <a:chExt cx="1118591" cy="1118591"/>
          </a:xfrm>
        </p:grpSpPr>
        <p:sp>
          <p:nvSpPr>
            <p:cNvPr name="Freeform 36" id="36"/>
            <p:cNvSpPr/>
            <p:nvPr/>
          </p:nvSpPr>
          <p:spPr>
            <a:xfrm flipH="false" flipV="false" rot="0">
              <a:off x="0" y="0"/>
              <a:ext cx="1118616" cy="1118616"/>
            </a:xfrm>
            <a:custGeom>
              <a:avLst/>
              <a:gdLst/>
              <a:ahLst/>
              <a:cxnLst/>
              <a:rect r="r" b="b" t="t" l="l"/>
              <a:pathLst>
                <a:path h="1118616" w="1118616">
                  <a:moveTo>
                    <a:pt x="0" y="559308"/>
                  </a:moveTo>
                  <a:cubicBezTo>
                    <a:pt x="0" y="250444"/>
                    <a:pt x="250444" y="0"/>
                    <a:pt x="559308" y="0"/>
                  </a:cubicBezTo>
                  <a:cubicBezTo>
                    <a:pt x="868172" y="0"/>
                    <a:pt x="1118616" y="250444"/>
                    <a:pt x="1118616" y="559308"/>
                  </a:cubicBezTo>
                  <a:cubicBezTo>
                    <a:pt x="1118616" y="868172"/>
                    <a:pt x="868172" y="1118616"/>
                    <a:pt x="559308" y="1118616"/>
                  </a:cubicBezTo>
                  <a:cubicBezTo>
                    <a:pt x="250444" y="1118616"/>
                    <a:pt x="0" y="868172"/>
                    <a:pt x="0" y="559308"/>
                  </a:cubicBezTo>
                  <a:close/>
                </a:path>
              </a:pathLst>
            </a:custGeom>
            <a:solidFill>
              <a:srgbClr val="A95B95"/>
            </a:solidFill>
          </p:spPr>
        </p:sp>
      </p:grpSp>
      <p:sp>
        <p:nvSpPr>
          <p:cNvPr name="Freeform 37" id="37" descr="preencoded.png"/>
          <p:cNvSpPr/>
          <p:nvPr/>
        </p:nvSpPr>
        <p:spPr>
          <a:xfrm flipH="false" flipV="false" rot="0">
            <a:off x="9790509" y="6724202"/>
            <a:ext cx="377428" cy="377428"/>
          </a:xfrm>
          <a:custGeom>
            <a:avLst/>
            <a:gdLst/>
            <a:ahLst/>
            <a:cxnLst/>
            <a:rect r="r" b="b" t="t" l="l"/>
            <a:pathLst>
              <a:path h="377428" w="377428">
                <a:moveTo>
                  <a:pt x="0" y="0"/>
                </a:moveTo>
                <a:lnTo>
                  <a:pt x="377429" y="0"/>
                </a:lnTo>
                <a:lnTo>
                  <a:pt x="377429" y="377428"/>
                </a:lnTo>
                <a:lnTo>
                  <a:pt x="0" y="377428"/>
                </a:lnTo>
                <a:lnTo>
                  <a:pt x="0" y="0"/>
                </a:lnTo>
                <a:close/>
              </a:path>
            </a:pathLst>
          </a:custGeom>
          <a:blipFill>
            <a:blip r:embed="rId10">
              <a:extLst>
                <a:ext uri="{96DAC541-7B7A-43D3-8B79-37D633B846F1}">
                  <asvg:svgBlip xmlns:asvg="http://schemas.microsoft.com/office/drawing/2016/SVG/main" r:embed="rId11"/>
                </a:ext>
              </a:extLst>
            </a:blip>
            <a:stretch>
              <a:fillRect l="-11250" t="0" r="-11250" b="0"/>
            </a:stretch>
          </a:blipFill>
        </p:spPr>
      </p:sp>
      <p:sp>
        <p:nvSpPr>
          <p:cNvPr name="TextBox 38" id="38"/>
          <p:cNvSpPr txBox="true"/>
          <p:nvPr/>
        </p:nvSpPr>
        <p:spPr>
          <a:xfrm rot="0">
            <a:off x="9559823" y="7585920"/>
            <a:ext cx="3107531" cy="388439"/>
          </a:xfrm>
          <a:prstGeom prst="rect">
            <a:avLst/>
          </a:prstGeom>
        </p:spPr>
        <p:txBody>
          <a:bodyPr anchor="t" rtlCol="false" tIns="0" lIns="0" bIns="0" rIns="0">
            <a:spAutoFit/>
          </a:bodyPr>
          <a:lstStyle/>
          <a:p>
            <a:pPr algn="l">
              <a:lnSpc>
                <a:spcPts val="2999"/>
              </a:lnSpc>
            </a:pPr>
            <a:r>
              <a:rPr lang="en-US" sz="2437" b="true">
                <a:solidFill>
                  <a:srgbClr val="DAD8E9"/>
                </a:solidFill>
                <a:latin typeface="Prompt Medium"/>
                <a:ea typeface="Prompt Medium"/>
                <a:cs typeface="Prompt Medium"/>
                <a:sym typeface="Prompt Medium"/>
              </a:rPr>
              <a:t>Loss of Detail</a:t>
            </a:r>
          </a:p>
        </p:txBody>
      </p:sp>
      <p:sp>
        <p:nvSpPr>
          <p:cNvPr name="TextBox 39" id="39"/>
          <p:cNvSpPr txBox="true"/>
          <p:nvPr/>
        </p:nvSpPr>
        <p:spPr>
          <a:xfrm rot="0">
            <a:off x="9559823" y="8050111"/>
            <a:ext cx="7460161" cy="928983"/>
          </a:xfrm>
          <a:prstGeom prst="rect">
            <a:avLst/>
          </a:prstGeom>
        </p:spPr>
        <p:txBody>
          <a:bodyPr anchor="t" rtlCol="false" tIns="0" lIns="0" bIns="0" rIns="0">
            <a:spAutoFit/>
          </a:bodyPr>
          <a:lstStyle/>
          <a:p>
            <a:pPr algn="l">
              <a:lnSpc>
                <a:spcPts val="3312"/>
              </a:lnSpc>
            </a:pPr>
            <a:r>
              <a:rPr lang="en-US" sz="2187">
                <a:solidFill>
                  <a:srgbClr val="DAD8E9"/>
                </a:solidFill>
                <a:latin typeface="Mukta Light"/>
                <a:ea typeface="Mukta Light"/>
                <a:cs typeface="Mukta Light"/>
                <a:sym typeface="Mukta Light"/>
              </a:rPr>
              <a:t>Fine structures and edges are obscured, hampering object recognition.</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preencoded.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0B0C23">
                <a:alpha val="90196"/>
              </a:srgbClr>
            </a:solidFill>
          </p:spPr>
        </p:sp>
      </p:grpSp>
      <p:sp>
        <p:nvSpPr>
          <p:cNvPr name="TextBox 6" id="6"/>
          <p:cNvSpPr txBox="true"/>
          <p:nvPr/>
        </p:nvSpPr>
        <p:spPr>
          <a:xfrm rot="0">
            <a:off x="1306563" y="725691"/>
            <a:ext cx="11020720" cy="728958"/>
          </a:xfrm>
          <a:prstGeom prst="rect">
            <a:avLst/>
          </a:prstGeom>
        </p:spPr>
        <p:txBody>
          <a:bodyPr anchor="t" rtlCol="false" tIns="0" lIns="0" bIns="0" rIns="0">
            <a:spAutoFit/>
          </a:bodyPr>
          <a:lstStyle/>
          <a:p>
            <a:pPr algn="l">
              <a:lnSpc>
                <a:spcPts val="5562"/>
              </a:lnSpc>
            </a:pPr>
            <a:r>
              <a:rPr lang="en-US" sz="4437" b="true">
                <a:solidFill>
                  <a:srgbClr val="C6BFEE"/>
                </a:solidFill>
                <a:latin typeface="Prompt Medium"/>
                <a:ea typeface="Prompt Medium"/>
                <a:cs typeface="Prompt Medium"/>
                <a:sym typeface="Prompt Medium"/>
              </a:rPr>
              <a:t>Base Paper Method: Dark Channel Prior</a:t>
            </a:r>
          </a:p>
        </p:txBody>
      </p:sp>
      <p:sp>
        <p:nvSpPr>
          <p:cNvPr name="TextBox 7" id="7"/>
          <p:cNvSpPr txBox="true"/>
          <p:nvPr/>
        </p:nvSpPr>
        <p:spPr>
          <a:xfrm rot="0">
            <a:off x="1306563" y="1820761"/>
            <a:ext cx="15674731" cy="804567"/>
          </a:xfrm>
          <a:prstGeom prst="rect">
            <a:avLst/>
          </a:prstGeom>
        </p:spPr>
        <p:txBody>
          <a:bodyPr anchor="t" rtlCol="false" tIns="0" lIns="0" bIns="0" rIns="0">
            <a:spAutoFit/>
          </a:bodyPr>
          <a:lstStyle/>
          <a:p>
            <a:pPr algn="l">
              <a:lnSpc>
                <a:spcPts val="2937"/>
              </a:lnSpc>
            </a:pPr>
            <a:r>
              <a:rPr lang="en-US" sz="2000">
                <a:solidFill>
                  <a:srgbClr val="DAD8E9"/>
                </a:solidFill>
                <a:latin typeface="Mukta Light"/>
                <a:ea typeface="Mukta Light"/>
                <a:cs typeface="Mukta Light"/>
                <a:sym typeface="Mukta Light"/>
              </a:rPr>
              <a:t>The baseline dehazing pipeline is grounded in He et al.'s </a:t>
            </a:r>
            <a:r>
              <a:rPr lang="en-US" sz="2000" b="true">
                <a:solidFill>
                  <a:srgbClr val="DAD8E9"/>
                </a:solidFill>
                <a:latin typeface="Mukta Bold"/>
                <a:ea typeface="Mukta Bold"/>
                <a:cs typeface="Mukta Bold"/>
                <a:sym typeface="Mukta Bold"/>
              </a:rPr>
              <a:t>Dark Channel Prior (DCP)</a:t>
            </a:r>
            <a:r>
              <a:rPr lang="en-US" sz="2000">
                <a:solidFill>
                  <a:srgbClr val="DAD8E9"/>
                </a:solidFill>
                <a:latin typeface="Mukta Light"/>
                <a:ea typeface="Mukta Light"/>
                <a:cs typeface="Mukta Light"/>
                <a:sym typeface="Mukta Light"/>
              </a:rPr>
              <a:t>, which exploits the statistical observation that most local patches in haze-free images contain pixels with very low intensity in at least one colour channel.</a:t>
            </a:r>
          </a:p>
        </p:txBody>
      </p:sp>
      <p:grpSp>
        <p:nvGrpSpPr>
          <p:cNvPr name="Group 8" id="8"/>
          <p:cNvGrpSpPr/>
          <p:nvPr/>
        </p:nvGrpSpPr>
        <p:grpSpPr>
          <a:xfrm rot="0">
            <a:off x="1557633" y="2863301"/>
            <a:ext cx="15172582" cy="5693416"/>
            <a:chOff x="0" y="0"/>
            <a:chExt cx="20230109" cy="7591222"/>
          </a:xfrm>
        </p:grpSpPr>
        <p:sp>
          <p:nvSpPr>
            <p:cNvPr name="Freeform 9" id="9" descr="preencoded.png"/>
            <p:cNvSpPr/>
            <p:nvPr/>
          </p:nvSpPr>
          <p:spPr>
            <a:xfrm flipH="false" flipV="false" rot="0">
              <a:off x="0" y="0"/>
              <a:ext cx="20230085" cy="7591171"/>
            </a:xfrm>
            <a:custGeom>
              <a:avLst/>
              <a:gdLst/>
              <a:ahLst/>
              <a:cxnLst/>
              <a:rect r="r" b="b" t="t" l="l"/>
              <a:pathLst>
                <a:path h="7591171" w="20230085">
                  <a:moveTo>
                    <a:pt x="0" y="0"/>
                  </a:moveTo>
                  <a:lnTo>
                    <a:pt x="20230085" y="0"/>
                  </a:lnTo>
                  <a:lnTo>
                    <a:pt x="20230085" y="7591171"/>
                  </a:lnTo>
                  <a:lnTo>
                    <a:pt x="0" y="7591171"/>
                  </a:lnTo>
                  <a:lnTo>
                    <a:pt x="0" y="0"/>
                  </a:lnTo>
                  <a:close/>
                </a:path>
              </a:pathLst>
            </a:custGeom>
            <a:blipFill>
              <a:blip r:embed="rId4"/>
              <a:stretch>
                <a:fillRect l="0" t="-19" r="0" b="-20"/>
              </a:stretch>
            </a:blipFill>
          </p:spPr>
        </p:sp>
      </p:grpSp>
      <p:sp>
        <p:nvSpPr>
          <p:cNvPr name="Freeform 10" id="10" descr="preencoded.png"/>
          <p:cNvSpPr/>
          <p:nvPr/>
        </p:nvSpPr>
        <p:spPr>
          <a:xfrm flipH="false" flipV="false" rot="0">
            <a:off x="14515157" y="4313520"/>
            <a:ext cx="783727" cy="783717"/>
          </a:xfrm>
          <a:custGeom>
            <a:avLst/>
            <a:gdLst/>
            <a:ahLst/>
            <a:cxnLst/>
            <a:rect r="r" b="b" t="t" l="l"/>
            <a:pathLst>
              <a:path h="783717" w="783727">
                <a:moveTo>
                  <a:pt x="0" y="0"/>
                </a:moveTo>
                <a:lnTo>
                  <a:pt x="783727" y="0"/>
                </a:lnTo>
                <a:lnTo>
                  <a:pt x="783727" y="783717"/>
                </a:lnTo>
                <a:lnTo>
                  <a:pt x="0" y="783717"/>
                </a:lnTo>
                <a:lnTo>
                  <a:pt x="0" y="0"/>
                </a:lnTo>
                <a:close/>
              </a:path>
            </a:pathLst>
          </a:custGeom>
          <a:blipFill>
            <a:blip r:embed="rId5">
              <a:extLst>
                <a:ext uri="{96DAC541-7B7A-43D3-8B79-37D633B846F1}">
                  <asvg:svgBlip xmlns:asvg="http://schemas.microsoft.com/office/drawing/2016/SVG/main" r:embed="rId6"/>
                </a:ext>
              </a:extLst>
            </a:blip>
            <a:stretch>
              <a:fillRect l="-23493" t="0" r="-23492" b="0"/>
            </a:stretch>
          </a:blipFill>
        </p:spPr>
      </p:sp>
      <p:sp>
        <p:nvSpPr>
          <p:cNvPr name="TextBox 11" id="11"/>
          <p:cNvSpPr txBox="true"/>
          <p:nvPr/>
        </p:nvSpPr>
        <p:spPr>
          <a:xfrm rot="0">
            <a:off x="13816908" y="7189556"/>
            <a:ext cx="2288467" cy="401383"/>
          </a:xfrm>
          <a:prstGeom prst="rect">
            <a:avLst/>
          </a:prstGeom>
        </p:spPr>
        <p:txBody>
          <a:bodyPr anchor="t" rtlCol="false" tIns="0" lIns="0" bIns="0" rIns="0">
            <a:spAutoFit/>
          </a:bodyPr>
          <a:lstStyle/>
          <a:p>
            <a:pPr algn="ctr">
              <a:lnSpc>
                <a:spcPts val="3062"/>
              </a:lnSpc>
            </a:pPr>
            <a:r>
              <a:rPr lang="en-US" sz="2437" b="true">
                <a:solidFill>
                  <a:srgbClr val="DAD8E9"/>
                </a:solidFill>
                <a:latin typeface="Prompt Medium"/>
                <a:ea typeface="Prompt Medium"/>
                <a:cs typeface="Prompt Medium"/>
                <a:sym typeface="Prompt Medium"/>
              </a:rPr>
              <a:t>Radiance</a:t>
            </a:r>
          </a:p>
        </p:txBody>
      </p:sp>
      <p:sp>
        <p:nvSpPr>
          <p:cNvPr name="Freeform 12" id="12" descr="preencoded.png"/>
          <p:cNvSpPr/>
          <p:nvPr/>
        </p:nvSpPr>
        <p:spPr>
          <a:xfrm flipH="false" flipV="false" rot="0">
            <a:off x="11646008" y="4314987"/>
            <a:ext cx="783717" cy="783717"/>
          </a:xfrm>
          <a:custGeom>
            <a:avLst/>
            <a:gdLst/>
            <a:ahLst/>
            <a:cxnLst/>
            <a:rect r="r" b="b" t="t" l="l"/>
            <a:pathLst>
              <a:path h="783717" w="783717">
                <a:moveTo>
                  <a:pt x="0" y="0"/>
                </a:moveTo>
                <a:lnTo>
                  <a:pt x="783717" y="0"/>
                </a:lnTo>
                <a:lnTo>
                  <a:pt x="783717" y="783717"/>
                </a:lnTo>
                <a:lnTo>
                  <a:pt x="0" y="783717"/>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13" id="13"/>
          <p:cNvSpPr txBox="true"/>
          <p:nvPr/>
        </p:nvSpPr>
        <p:spPr>
          <a:xfrm rot="0">
            <a:off x="10932814" y="6993626"/>
            <a:ext cx="2288467" cy="793242"/>
          </a:xfrm>
          <a:prstGeom prst="rect">
            <a:avLst/>
          </a:prstGeom>
        </p:spPr>
        <p:txBody>
          <a:bodyPr anchor="t" rtlCol="false" tIns="0" lIns="0" bIns="0" rIns="0">
            <a:spAutoFit/>
          </a:bodyPr>
          <a:lstStyle/>
          <a:p>
            <a:pPr algn="ctr">
              <a:lnSpc>
                <a:spcPts val="3062"/>
              </a:lnSpc>
            </a:pPr>
            <a:r>
              <a:rPr lang="en-US" sz="2437" b="true">
                <a:solidFill>
                  <a:srgbClr val="DAD8E9"/>
                </a:solidFill>
                <a:latin typeface="Prompt Medium"/>
                <a:ea typeface="Prompt Medium"/>
                <a:cs typeface="Prompt Medium"/>
                <a:sym typeface="Prompt Medium"/>
              </a:rPr>
              <a:t>Transmission Map</a:t>
            </a:r>
          </a:p>
        </p:txBody>
      </p:sp>
      <p:sp>
        <p:nvSpPr>
          <p:cNvPr name="Freeform 14" id="14" descr="preencoded.png"/>
          <p:cNvSpPr/>
          <p:nvPr/>
        </p:nvSpPr>
        <p:spPr>
          <a:xfrm flipH="false" flipV="false" rot="0">
            <a:off x="8777583" y="4314987"/>
            <a:ext cx="783717" cy="783717"/>
          </a:xfrm>
          <a:custGeom>
            <a:avLst/>
            <a:gdLst/>
            <a:ahLst/>
            <a:cxnLst/>
            <a:rect r="r" b="b" t="t" l="l"/>
            <a:pathLst>
              <a:path h="783717" w="783717">
                <a:moveTo>
                  <a:pt x="0" y="0"/>
                </a:moveTo>
                <a:lnTo>
                  <a:pt x="783717" y="0"/>
                </a:lnTo>
                <a:lnTo>
                  <a:pt x="783717" y="783717"/>
                </a:lnTo>
                <a:lnTo>
                  <a:pt x="0" y="783717"/>
                </a:lnTo>
                <a:lnTo>
                  <a:pt x="0" y="0"/>
                </a:lnTo>
                <a:close/>
              </a:path>
            </a:pathLst>
          </a:custGeom>
          <a:blipFill>
            <a:blip r:embed="rId9">
              <a:extLst>
                <a:ext uri="{96DAC541-7B7A-43D3-8B79-37D633B846F1}">
                  <asvg:svgBlip xmlns:asvg="http://schemas.microsoft.com/office/drawing/2016/SVG/main" r:embed="rId10"/>
                </a:ext>
              </a:extLst>
            </a:blip>
            <a:stretch>
              <a:fillRect l="0" t="-602" r="0" b="-602"/>
            </a:stretch>
          </a:blipFill>
        </p:spPr>
      </p:sp>
      <p:sp>
        <p:nvSpPr>
          <p:cNvPr name="TextBox 15" id="15"/>
          <p:cNvSpPr txBox="true"/>
          <p:nvPr/>
        </p:nvSpPr>
        <p:spPr>
          <a:xfrm rot="0">
            <a:off x="8064398" y="6993626"/>
            <a:ext cx="2288467" cy="793242"/>
          </a:xfrm>
          <a:prstGeom prst="rect">
            <a:avLst/>
          </a:prstGeom>
        </p:spPr>
        <p:txBody>
          <a:bodyPr anchor="t" rtlCol="false" tIns="0" lIns="0" bIns="0" rIns="0">
            <a:spAutoFit/>
          </a:bodyPr>
          <a:lstStyle/>
          <a:p>
            <a:pPr algn="ctr">
              <a:lnSpc>
                <a:spcPts val="3062"/>
              </a:lnSpc>
            </a:pPr>
            <a:r>
              <a:rPr lang="en-US" sz="2437" b="true">
                <a:solidFill>
                  <a:srgbClr val="DAD8E9"/>
                </a:solidFill>
                <a:latin typeface="Prompt Medium"/>
                <a:ea typeface="Prompt Medium"/>
                <a:cs typeface="Prompt Medium"/>
                <a:sym typeface="Prompt Medium"/>
              </a:rPr>
              <a:t>Atmospheric Light</a:t>
            </a:r>
          </a:p>
        </p:txBody>
      </p:sp>
      <p:sp>
        <p:nvSpPr>
          <p:cNvPr name="Freeform 16" id="16" descr="preencoded.png"/>
          <p:cNvSpPr/>
          <p:nvPr/>
        </p:nvSpPr>
        <p:spPr>
          <a:xfrm flipH="false" flipV="false" rot="0">
            <a:off x="5909167" y="4314987"/>
            <a:ext cx="783717" cy="783717"/>
          </a:xfrm>
          <a:custGeom>
            <a:avLst/>
            <a:gdLst/>
            <a:ahLst/>
            <a:cxnLst/>
            <a:rect r="r" b="b" t="t" l="l"/>
            <a:pathLst>
              <a:path h="783717" w="783717">
                <a:moveTo>
                  <a:pt x="0" y="0"/>
                </a:moveTo>
                <a:lnTo>
                  <a:pt x="783717" y="0"/>
                </a:lnTo>
                <a:lnTo>
                  <a:pt x="783717" y="783717"/>
                </a:lnTo>
                <a:lnTo>
                  <a:pt x="0" y="783717"/>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TextBox 17" id="17"/>
          <p:cNvSpPr txBox="true"/>
          <p:nvPr/>
        </p:nvSpPr>
        <p:spPr>
          <a:xfrm rot="0">
            <a:off x="5195973" y="7189556"/>
            <a:ext cx="2288467" cy="401383"/>
          </a:xfrm>
          <a:prstGeom prst="rect">
            <a:avLst/>
          </a:prstGeom>
        </p:spPr>
        <p:txBody>
          <a:bodyPr anchor="t" rtlCol="false" tIns="0" lIns="0" bIns="0" rIns="0">
            <a:spAutoFit/>
          </a:bodyPr>
          <a:lstStyle/>
          <a:p>
            <a:pPr algn="ctr">
              <a:lnSpc>
                <a:spcPts val="3062"/>
              </a:lnSpc>
            </a:pPr>
            <a:r>
              <a:rPr lang="en-US" sz="2437" b="true">
                <a:solidFill>
                  <a:srgbClr val="DAD8E9"/>
                </a:solidFill>
                <a:latin typeface="Prompt Medium"/>
                <a:ea typeface="Prompt Medium"/>
                <a:cs typeface="Prompt Medium"/>
                <a:sym typeface="Prompt Medium"/>
              </a:rPr>
              <a:t>Dark Channel</a:t>
            </a:r>
          </a:p>
        </p:txBody>
      </p:sp>
      <p:sp>
        <p:nvSpPr>
          <p:cNvPr name="Freeform 18" id="18" descr="preencoded.png"/>
          <p:cNvSpPr/>
          <p:nvPr/>
        </p:nvSpPr>
        <p:spPr>
          <a:xfrm flipH="false" flipV="false" rot="0">
            <a:off x="3025064" y="4314987"/>
            <a:ext cx="783717" cy="783717"/>
          </a:xfrm>
          <a:custGeom>
            <a:avLst/>
            <a:gdLst/>
            <a:ahLst/>
            <a:cxnLst/>
            <a:rect r="r" b="b" t="t" l="l"/>
            <a:pathLst>
              <a:path h="783717" w="783717">
                <a:moveTo>
                  <a:pt x="0" y="0"/>
                </a:moveTo>
                <a:lnTo>
                  <a:pt x="783717" y="0"/>
                </a:lnTo>
                <a:lnTo>
                  <a:pt x="783717" y="783717"/>
                </a:lnTo>
                <a:lnTo>
                  <a:pt x="0" y="783717"/>
                </a:lnTo>
                <a:lnTo>
                  <a:pt x="0" y="0"/>
                </a:lnTo>
                <a:close/>
              </a:path>
            </a:pathLst>
          </a:custGeom>
          <a:blipFill>
            <a:blip r:embed="rId13">
              <a:extLst>
                <a:ext uri="{96DAC541-7B7A-43D3-8B79-37D633B846F1}">
                  <asvg:svgBlip xmlns:asvg="http://schemas.microsoft.com/office/drawing/2016/SVG/main" r:embed="rId14"/>
                </a:ext>
              </a:extLst>
            </a:blip>
            <a:stretch>
              <a:fillRect l="-1204" t="0" r="-1205" b="0"/>
            </a:stretch>
          </a:blipFill>
        </p:spPr>
      </p:sp>
      <p:sp>
        <p:nvSpPr>
          <p:cNvPr name="TextBox 19" id="19"/>
          <p:cNvSpPr txBox="true"/>
          <p:nvPr/>
        </p:nvSpPr>
        <p:spPr>
          <a:xfrm rot="0">
            <a:off x="2264854" y="7189556"/>
            <a:ext cx="2288467" cy="401383"/>
          </a:xfrm>
          <a:prstGeom prst="rect">
            <a:avLst/>
          </a:prstGeom>
        </p:spPr>
        <p:txBody>
          <a:bodyPr anchor="t" rtlCol="false" tIns="0" lIns="0" bIns="0" rIns="0">
            <a:spAutoFit/>
          </a:bodyPr>
          <a:lstStyle/>
          <a:p>
            <a:pPr algn="ctr">
              <a:lnSpc>
                <a:spcPts val="3062"/>
              </a:lnSpc>
            </a:pPr>
            <a:r>
              <a:rPr lang="en-US" sz="2437" b="true">
                <a:solidFill>
                  <a:srgbClr val="DAD8E9"/>
                </a:solidFill>
                <a:latin typeface="Prompt Medium"/>
                <a:ea typeface="Prompt Medium"/>
                <a:cs typeface="Prompt Medium"/>
                <a:sym typeface="Prompt Medium"/>
              </a:rPr>
              <a:t>Input</a:t>
            </a:r>
          </a:p>
        </p:txBody>
      </p:sp>
      <p:sp>
        <p:nvSpPr>
          <p:cNvPr name="TextBox 20" id="20"/>
          <p:cNvSpPr txBox="true"/>
          <p:nvPr/>
        </p:nvSpPr>
        <p:spPr>
          <a:xfrm rot="0">
            <a:off x="1306563" y="8737549"/>
            <a:ext cx="15674731" cy="804567"/>
          </a:xfrm>
          <a:prstGeom prst="rect">
            <a:avLst/>
          </a:prstGeom>
        </p:spPr>
        <p:txBody>
          <a:bodyPr anchor="t" rtlCol="false" tIns="0" lIns="0" bIns="0" rIns="0">
            <a:spAutoFit/>
          </a:bodyPr>
          <a:lstStyle/>
          <a:p>
            <a:pPr algn="l">
              <a:lnSpc>
                <a:spcPts val="2937"/>
              </a:lnSpc>
            </a:pPr>
            <a:r>
              <a:rPr lang="en-US" sz="2000">
                <a:solidFill>
                  <a:srgbClr val="DAD8E9"/>
                </a:solidFill>
                <a:latin typeface="Mukta Light"/>
                <a:ea typeface="Mukta Light"/>
                <a:cs typeface="Mukta Light"/>
                <a:sym typeface="Mukta Light"/>
              </a:rPr>
              <a:t>Each stage is implemented in Python using OpenCV and NumPy, faithfully reproducing the original algorithm before introducing targeted improvements.</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preencoded.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0B0C23">
                <a:alpha val="90196"/>
              </a:srgbClr>
            </a:solidFill>
          </p:spPr>
        </p:sp>
      </p:grpSp>
      <p:sp>
        <p:nvSpPr>
          <p:cNvPr name="TextBox 6" id="6"/>
          <p:cNvSpPr txBox="true"/>
          <p:nvPr/>
        </p:nvSpPr>
        <p:spPr>
          <a:xfrm rot="0">
            <a:off x="995658" y="787898"/>
            <a:ext cx="7568508" cy="818855"/>
          </a:xfrm>
          <a:prstGeom prst="rect">
            <a:avLst/>
          </a:prstGeom>
        </p:spPr>
        <p:txBody>
          <a:bodyPr anchor="t" rtlCol="false" tIns="0" lIns="0" bIns="0" rIns="0">
            <a:spAutoFit/>
          </a:bodyPr>
          <a:lstStyle/>
          <a:p>
            <a:pPr algn="l">
              <a:lnSpc>
                <a:spcPts val="6187"/>
              </a:lnSpc>
            </a:pPr>
            <a:r>
              <a:rPr lang="en-US" sz="4937" b="true">
                <a:solidFill>
                  <a:srgbClr val="C6BFEE"/>
                </a:solidFill>
                <a:latin typeface="Prompt Medium"/>
                <a:ea typeface="Prompt Medium"/>
                <a:cs typeface="Prompt Medium"/>
                <a:sym typeface="Prompt Medium"/>
              </a:rPr>
              <a:t>Baseline Implementation</a:t>
            </a:r>
          </a:p>
        </p:txBody>
      </p:sp>
      <p:sp>
        <p:nvSpPr>
          <p:cNvPr name="TextBox 7" id="7"/>
          <p:cNvSpPr txBox="true"/>
          <p:nvPr/>
        </p:nvSpPr>
        <p:spPr>
          <a:xfrm rot="0">
            <a:off x="995658" y="1702003"/>
            <a:ext cx="3161109" cy="404660"/>
          </a:xfrm>
          <a:prstGeom prst="rect">
            <a:avLst/>
          </a:prstGeom>
        </p:spPr>
        <p:txBody>
          <a:bodyPr anchor="t" rtlCol="false" tIns="0" lIns="0" bIns="0" rIns="0">
            <a:spAutoFit/>
          </a:bodyPr>
          <a:lstStyle/>
          <a:p>
            <a:pPr algn="l">
              <a:lnSpc>
                <a:spcPts val="3062"/>
              </a:lnSpc>
            </a:pPr>
            <a:r>
              <a:rPr lang="en-US" sz="2437" b="true">
                <a:solidFill>
                  <a:srgbClr val="C6BFEE"/>
                </a:solidFill>
                <a:latin typeface="Prompt Medium"/>
                <a:ea typeface="Prompt Medium"/>
                <a:cs typeface="Prompt Medium"/>
                <a:sym typeface="Prompt Medium"/>
              </a:rPr>
              <a:t>Core Techniques</a:t>
            </a:r>
          </a:p>
        </p:txBody>
      </p:sp>
      <p:sp>
        <p:nvSpPr>
          <p:cNvPr name="Freeform 8" id="8" descr="preencoded.png"/>
          <p:cNvSpPr/>
          <p:nvPr/>
        </p:nvSpPr>
        <p:spPr>
          <a:xfrm flipH="false" flipV="false" rot="0">
            <a:off x="1102366" y="2508723"/>
            <a:ext cx="426691" cy="426691"/>
          </a:xfrm>
          <a:custGeom>
            <a:avLst/>
            <a:gdLst/>
            <a:ahLst/>
            <a:cxnLst/>
            <a:rect r="r" b="b" t="t" l="l"/>
            <a:pathLst>
              <a:path h="426691" w="426691">
                <a:moveTo>
                  <a:pt x="0" y="0"/>
                </a:moveTo>
                <a:lnTo>
                  <a:pt x="426692" y="0"/>
                </a:lnTo>
                <a:lnTo>
                  <a:pt x="426692" y="426691"/>
                </a:lnTo>
                <a:lnTo>
                  <a:pt x="0" y="426691"/>
                </a:lnTo>
                <a:lnTo>
                  <a:pt x="0" y="0"/>
                </a:lnTo>
                <a:close/>
              </a:path>
            </a:pathLst>
          </a:custGeom>
          <a:blipFill>
            <a:blip r:embed="rId4">
              <a:extLst>
                <a:ext uri="{96DAC541-7B7A-43D3-8B79-37D633B846F1}">
                  <asvg:svgBlip xmlns:asvg="http://schemas.microsoft.com/office/drawing/2016/SVG/main" r:embed="rId5"/>
                </a:ext>
              </a:extLst>
            </a:blip>
            <a:stretch>
              <a:fillRect l="-8888" t="0" r="-8888" b="0"/>
            </a:stretch>
          </a:blipFill>
        </p:spPr>
      </p:sp>
      <p:sp>
        <p:nvSpPr>
          <p:cNvPr name="TextBox 9" id="9"/>
          <p:cNvSpPr txBox="true"/>
          <p:nvPr/>
        </p:nvSpPr>
        <p:spPr>
          <a:xfrm rot="0">
            <a:off x="1920183" y="2490492"/>
            <a:ext cx="3161109" cy="404660"/>
          </a:xfrm>
          <a:prstGeom prst="rect">
            <a:avLst/>
          </a:prstGeom>
        </p:spPr>
        <p:txBody>
          <a:bodyPr anchor="t" rtlCol="false" tIns="0" lIns="0" bIns="0" rIns="0">
            <a:spAutoFit/>
          </a:bodyPr>
          <a:lstStyle/>
          <a:p>
            <a:pPr algn="l">
              <a:lnSpc>
                <a:spcPts val="3062"/>
              </a:lnSpc>
            </a:pPr>
            <a:r>
              <a:rPr lang="en-US" sz="2437" b="true">
                <a:solidFill>
                  <a:srgbClr val="DAD8E9"/>
                </a:solidFill>
                <a:latin typeface="Prompt Medium"/>
                <a:ea typeface="Prompt Medium"/>
                <a:cs typeface="Prompt Medium"/>
                <a:sym typeface="Prompt Medium"/>
              </a:rPr>
              <a:t>Dark Channel Prior</a:t>
            </a:r>
          </a:p>
        </p:txBody>
      </p:sp>
      <p:sp>
        <p:nvSpPr>
          <p:cNvPr name="TextBox 10" id="10"/>
          <p:cNvSpPr txBox="true"/>
          <p:nvPr/>
        </p:nvSpPr>
        <p:spPr>
          <a:xfrm rot="0">
            <a:off x="1920183" y="2966742"/>
            <a:ext cx="7059959" cy="960539"/>
          </a:xfrm>
          <a:prstGeom prst="rect">
            <a:avLst/>
          </a:prstGeom>
        </p:spPr>
        <p:txBody>
          <a:bodyPr anchor="t" rtlCol="false" tIns="0" lIns="0" bIns="0" rIns="0">
            <a:spAutoFit/>
          </a:bodyPr>
          <a:lstStyle/>
          <a:p>
            <a:pPr algn="l">
              <a:lnSpc>
                <a:spcPts val="3437"/>
              </a:lnSpc>
            </a:pPr>
            <a:r>
              <a:rPr lang="en-US" sz="2187">
                <a:solidFill>
                  <a:srgbClr val="DAD8E9"/>
                </a:solidFill>
                <a:latin typeface="Mukta Light"/>
                <a:ea typeface="Mukta Light"/>
                <a:cs typeface="Mukta Light"/>
                <a:sym typeface="Mukta Light"/>
              </a:rPr>
              <a:t>Estimates haze density via minimum-channel filtering over local patches.</a:t>
            </a:r>
          </a:p>
        </p:txBody>
      </p:sp>
      <p:sp>
        <p:nvSpPr>
          <p:cNvPr name="Freeform 11" id="11" descr="preencoded.png"/>
          <p:cNvSpPr/>
          <p:nvPr/>
        </p:nvSpPr>
        <p:spPr>
          <a:xfrm flipH="false" flipV="false" rot="0">
            <a:off x="9414567" y="2508723"/>
            <a:ext cx="426691" cy="426691"/>
          </a:xfrm>
          <a:custGeom>
            <a:avLst/>
            <a:gdLst/>
            <a:ahLst/>
            <a:cxnLst/>
            <a:rect r="r" b="b" t="t" l="l"/>
            <a:pathLst>
              <a:path h="426691" w="426691">
                <a:moveTo>
                  <a:pt x="0" y="0"/>
                </a:moveTo>
                <a:lnTo>
                  <a:pt x="426692" y="0"/>
                </a:lnTo>
                <a:lnTo>
                  <a:pt x="426692" y="426691"/>
                </a:lnTo>
                <a:lnTo>
                  <a:pt x="0" y="426691"/>
                </a:lnTo>
                <a:lnTo>
                  <a:pt x="0" y="0"/>
                </a:lnTo>
                <a:close/>
              </a:path>
            </a:pathLst>
          </a:custGeom>
          <a:blipFill>
            <a:blip r:embed="rId4">
              <a:extLst>
                <a:ext uri="{96DAC541-7B7A-43D3-8B79-37D633B846F1}">
                  <asvg:svgBlip xmlns:asvg="http://schemas.microsoft.com/office/drawing/2016/SVG/main" r:embed="rId5"/>
                </a:ext>
              </a:extLst>
            </a:blip>
            <a:stretch>
              <a:fillRect l="-8888" t="0" r="-8888" b="0"/>
            </a:stretch>
          </a:blipFill>
        </p:spPr>
      </p:sp>
      <p:sp>
        <p:nvSpPr>
          <p:cNvPr name="TextBox 12" id="12"/>
          <p:cNvSpPr txBox="true"/>
          <p:nvPr/>
        </p:nvSpPr>
        <p:spPr>
          <a:xfrm rot="0">
            <a:off x="10232384" y="2490492"/>
            <a:ext cx="4532262" cy="404660"/>
          </a:xfrm>
          <a:prstGeom prst="rect">
            <a:avLst/>
          </a:prstGeom>
        </p:spPr>
        <p:txBody>
          <a:bodyPr anchor="t" rtlCol="false" tIns="0" lIns="0" bIns="0" rIns="0">
            <a:spAutoFit/>
          </a:bodyPr>
          <a:lstStyle/>
          <a:p>
            <a:pPr algn="l">
              <a:lnSpc>
                <a:spcPts val="3062"/>
              </a:lnSpc>
            </a:pPr>
            <a:r>
              <a:rPr lang="en-US" sz="2437" b="true">
                <a:solidFill>
                  <a:srgbClr val="DAD8E9"/>
                </a:solidFill>
                <a:latin typeface="Prompt Medium"/>
                <a:ea typeface="Prompt Medium"/>
                <a:cs typeface="Prompt Medium"/>
                <a:sym typeface="Prompt Medium"/>
              </a:rPr>
              <a:t>Atmospheric Light Estimation</a:t>
            </a:r>
          </a:p>
        </p:txBody>
      </p:sp>
      <p:sp>
        <p:nvSpPr>
          <p:cNvPr name="TextBox 13" id="13"/>
          <p:cNvSpPr txBox="true"/>
          <p:nvPr/>
        </p:nvSpPr>
        <p:spPr>
          <a:xfrm rot="0">
            <a:off x="10232384" y="2966742"/>
            <a:ext cx="7059959" cy="960539"/>
          </a:xfrm>
          <a:prstGeom prst="rect">
            <a:avLst/>
          </a:prstGeom>
        </p:spPr>
        <p:txBody>
          <a:bodyPr anchor="t" rtlCol="false" tIns="0" lIns="0" bIns="0" rIns="0">
            <a:spAutoFit/>
          </a:bodyPr>
          <a:lstStyle/>
          <a:p>
            <a:pPr algn="l">
              <a:lnSpc>
                <a:spcPts val="3437"/>
              </a:lnSpc>
            </a:pPr>
            <a:r>
              <a:rPr lang="en-US" sz="2187">
                <a:solidFill>
                  <a:srgbClr val="DAD8E9"/>
                </a:solidFill>
                <a:latin typeface="Mukta Light"/>
                <a:ea typeface="Mukta Light"/>
                <a:cs typeface="Mukta Light"/>
                <a:sym typeface="Mukta Light"/>
              </a:rPr>
              <a:t>Top 0.1% brightest pixels in the dark channel used as airlight proxy.</a:t>
            </a:r>
          </a:p>
        </p:txBody>
      </p:sp>
      <p:sp>
        <p:nvSpPr>
          <p:cNvPr name="Freeform 14" id="14" descr="preencoded.png"/>
          <p:cNvSpPr/>
          <p:nvPr/>
        </p:nvSpPr>
        <p:spPr>
          <a:xfrm flipH="false" flipV="false" rot="0">
            <a:off x="1102366" y="4460453"/>
            <a:ext cx="426691" cy="426691"/>
          </a:xfrm>
          <a:custGeom>
            <a:avLst/>
            <a:gdLst/>
            <a:ahLst/>
            <a:cxnLst/>
            <a:rect r="r" b="b" t="t" l="l"/>
            <a:pathLst>
              <a:path h="426691" w="426691">
                <a:moveTo>
                  <a:pt x="0" y="0"/>
                </a:moveTo>
                <a:lnTo>
                  <a:pt x="426692" y="0"/>
                </a:lnTo>
                <a:lnTo>
                  <a:pt x="426692" y="426691"/>
                </a:lnTo>
                <a:lnTo>
                  <a:pt x="0" y="426691"/>
                </a:lnTo>
                <a:lnTo>
                  <a:pt x="0" y="0"/>
                </a:lnTo>
                <a:close/>
              </a:path>
            </a:pathLst>
          </a:custGeom>
          <a:blipFill>
            <a:blip r:embed="rId4">
              <a:extLst>
                <a:ext uri="{96DAC541-7B7A-43D3-8B79-37D633B846F1}">
                  <asvg:svgBlip xmlns:asvg="http://schemas.microsoft.com/office/drawing/2016/SVG/main" r:embed="rId5"/>
                </a:ext>
              </a:extLst>
            </a:blip>
            <a:stretch>
              <a:fillRect l="-8888" t="0" r="-8888" b="0"/>
            </a:stretch>
          </a:blipFill>
        </p:spPr>
      </p:sp>
      <p:sp>
        <p:nvSpPr>
          <p:cNvPr name="TextBox 15" id="15"/>
          <p:cNvSpPr txBox="true"/>
          <p:nvPr/>
        </p:nvSpPr>
        <p:spPr>
          <a:xfrm rot="0">
            <a:off x="1920183" y="4442222"/>
            <a:ext cx="3479749" cy="404660"/>
          </a:xfrm>
          <a:prstGeom prst="rect">
            <a:avLst/>
          </a:prstGeom>
        </p:spPr>
        <p:txBody>
          <a:bodyPr anchor="t" rtlCol="false" tIns="0" lIns="0" bIns="0" rIns="0">
            <a:spAutoFit/>
          </a:bodyPr>
          <a:lstStyle/>
          <a:p>
            <a:pPr algn="l">
              <a:lnSpc>
                <a:spcPts val="3062"/>
              </a:lnSpc>
            </a:pPr>
            <a:r>
              <a:rPr lang="en-US" sz="2437" b="true">
                <a:solidFill>
                  <a:srgbClr val="DAD8E9"/>
                </a:solidFill>
                <a:latin typeface="Prompt Medium"/>
                <a:ea typeface="Prompt Medium"/>
                <a:cs typeface="Prompt Medium"/>
                <a:sym typeface="Prompt Medium"/>
              </a:rPr>
              <a:t>Transmission Recovery</a:t>
            </a:r>
          </a:p>
        </p:txBody>
      </p:sp>
      <p:sp>
        <p:nvSpPr>
          <p:cNvPr name="TextBox 16" id="16"/>
          <p:cNvSpPr txBox="true"/>
          <p:nvPr/>
        </p:nvSpPr>
        <p:spPr>
          <a:xfrm rot="0">
            <a:off x="1920183" y="4918472"/>
            <a:ext cx="7059959" cy="960539"/>
          </a:xfrm>
          <a:prstGeom prst="rect">
            <a:avLst/>
          </a:prstGeom>
        </p:spPr>
        <p:txBody>
          <a:bodyPr anchor="t" rtlCol="false" tIns="0" lIns="0" bIns="0" rIns="0">
            <a:spAutoFit/>
          </a:bodyPr>
          <a:lstStyle/>
          <a:p>
            <a:pPr algn="l">
              <a:lnSpc>
                <a:spcPts val="3437"/>
              </a:lnSpc>
            </a:pPr>
            <a:r>
              <a:rPr lang="en-US" sz="2187">
                <a:solidFill>
                  <a:srgbClr val="DAD8E9"/>
                </a:solidFill>
                <a:latin typeface="Mukta Light"/>
                <a:ea typeface="Mukta Light"/>
                <a:cs typeface="Mukta Light"/>
                <a:sym typeface="Mukta Light"/>
              </a:rPr>
              <a:t>Transmission map refined via soft matting to preserve scene depth.</a:t>
            </a:r>
          </a:p>
        </p:txBody>
      </p:sp>
      <p:sp>
        <p:nvSpPr>
          <p:cNvPr name="Freeform 17" id="17" descr="preencoded.png"/>
          <p:cNvSpPr/>
          <p:nvPr/>
        </p:nvSpPr>
        <p:spPr>
          <a:xfrm flipH="false" flipV="false" rot="0">
            <a:off x="9414567" y="4460453"/>
            <a:ext cx="426691" cy="426691"/>
          </a:xfrm>
          <a:custGeom>
            <a:avLst/>
            <a:gdLst/>
            <a:ahLst/>
            <a:cxnLst/>
            <a:rect r="r" b="b" t="t" l="l"/>
            <a:pathLst>
              <a:path h="426691" w="426691">
                <a:moveTo>
                  <a:pt x="0" y="0"/>
                </a:moveTo>
                <a:lnTo>
                  <a:pt x="426692" y="0"/>
                </a:lnTo>
                <a:lnTo>
                  <a:pt x="426692" y="426691"/>
                </a:lnTo>
                <a:lnTo>
                  <a:pt x="0" y="426691"/>
                </a:lnTo>
                <a:lnTo>
                  <a:pt x="0" y="0"/>
                </a:lnTo>
                <a:close/>
              </a:path>
            </a:pathLst>
          </a:custGeom>
          <a:blipFill>
            <a:blip r:embed="rId4">
              <a:extLst>
                <a:ext uri="{96DAC541-7B7A-43D3-8B79-37D633B846F1}">
                  <asvg:svgBlip xmlns:asvg="http://schemas.microsoft.com/office/drawing/2016/SVG/main" r:embed="rId5"/>
                </a:ext>
              </a:extLst>
            </a:blip>
            <a:stretch>
              <a:fillRect l="-8888" t="0" r="-8888" b="0"/>
            </a:stretch>
          </a:blipFill>
        </p:spPr>
      </p:sp>
      <p:sp>
        <p:nvSpPr>
          <p:cNvPr name="TextBox 18" id="18"/>
          <p:cNvSpPr txBox="true"/>
          <p:nvPr/>
        </p:nvSpPr>
        <p:spPr>
          <a:xfrm rot="0">
            <a:off x="10232384" y="4442222"/>
            <a:ext cx="4342362" cy="404660"/>
          </a:xfrm>
          <a:prstGeom prst="rect">
            <a:avLst/>
          </a:prstGeom>
        </p:spPr>
        <p:txBody>
          <a:bodyPr anchor="t" rtlCol="false" tIns="0" lIns="0" bIns="0" rIns="0">
            <a:spAutoFit/>
          </a:bodyPr>
          <a:lstStyle/>
          <a:p>
            <a:pPr algn="l">
              <a:lnSpc>
                <a:spcPts val="3062"/>
              </a:lnSpc>
            </a:pPr>
            <a:r>
              <a:rPr lang="en-US" sz="2437" b="true">
                <a:solidFill>
                  <a:srgbClr val="DAD8E9"/>
                </a:solidFill>
                <a:latin typeface="Prompt Medium"/>
                <a:ea typeface="Prompt Medium"/>
                <a:cs typeface="Prompt Medium"/>
                <a:sym typeface="Prompt Medium"/>
              </a:rPr>
              <a:t>Libraries: OpenCV &amp; NumPy</a:t>
            </a:r>
          </a:p>
        </p:txBody>
      </p:sp>
      <p:sp>
        <p:nvSpPr>
          <p:cNvPr name="TextBox 19" id="19"/>
          <p:cNvSpPr txBox="true"/>
          <p:nvPr/>
        </p:nvSpPr>
        <p:spPr>
          <a:xfrm rot="0">
            <a:off x="10232384" y="4918472"/>
            <a:ext cx="7059959" cy="960539"/>
          </a:xfrm>
          <a:prstGeom prst="rect">
            <a:avLst/>
          </a:prstGeom>
        </p:spPr>
        <p:txBody>
          <a:bodyPr anchor="t" rtlCol="false" tIns="0" lIns="0" bIns="0" rIns="0">
            <a:spAutoFit/>
          </a:bodyPr>
          <a:lstStyle/>
          <a:p>
            <a:pPr algn="l">
              <a:lnSpc>
                <a:spcPts val="3437"/>
              </a:lnSpc>
            </a:pPr>
            <a:r>
              <a:rPr lang="en-US" sz="2187">
                <a:solidFill>
                  <a:srgbClr val="DAD8E9"/>
                </a:solidFill>
                <a:latin typeface="Mukta Light"/>
                <a:ea typeface="Mukta Light"/>
                <a:cs typeface="Mukta Light"/>
                <a:sym typeface="Mukta Light"/>
              </a:rPr>
              <a:t>Efficient matrix operations for real-time-compatible processing.</a:t>
            </a:r>
          </a:p>
        </p:txBody>
      </p:sp>
      <p:sp>
        <p:nvSpPr>
          <p:cNvPr name="TextBox 20" id="20"/>
          <p:cNvSpPr txBox="true"/>
          <p:nvPr/>
        </p:nvSpPr>
        <p:spPr>
          <a:xfrm rot="0">
            <a:off x="995658" y="6262840"/>
            <a:ext cx="3338217" cy="404660"/>
          </a:xfrm>
          <a:prstGeom prst="rect">
            <a:avLst/>
          </a:prstGeom>
        </p:spPr>
        <p:txBody>
          <a:bodyPr anchor="t" rtlCol="false" tIns="0" lIns="0" bIns="0" rIns="0">
            <a:spAutoFit/>
          </a:bodyPr>
          <a:lstStyle/>
          <a:p>
            <a:pPr algn="l">
              <a:lnSpc>
                <a:spcPts val="3062"/>
              </a:lnSpc>
            </a:pPr>
            <a:r>
              <a:rPr lang="en-US" sz="2437" b="true">
                <a:solidFill>
                  <a:srgbClr val="C6BFEE"/>
                </a:solidFill>
                <a:latin typeface="Prompt Medium"/>
                <a:ea typeface="Prompt Medium"/>
                <a:cs typeface="Prompt Medium"/>
                <a:sym typeface="Prompt Medium"/>
              </a:rPr>
              <a:t>Baseline Performance</a:t>
            </a:r>
          </a:p>
        </p:txBody>
      </p:sp>
      <p:sp>
        <p:nvSpPr>
          <p:cNvPr name="TextBox 21" id="21"/>
          <p:cNvSpPr txBox="true"/>
          <p:nvPr/>
        </p:nvSpPr>
        <p:spPr>
          <a:xfrm rot="0">
            <a:off x="995658" y="7345861"/>
            <a:ext cx="7984484" cy="795928"/>
          </a:xfrm>
          <a:prstGeom prst="rect">
            <a:avLst/>
          </a:prstGeom>
        </p:spPr>
        <p:txBody>
          <a:bodyPr anchor="t" rtlCol="false" tIns="0" lIns="0" bIns="0" rIns="0">
            <a:spAutoFit/>
          </a:bodyPr>
          <a:lstStyle/>
          <a:p>
            <a:pPr algn="ctr">
              <a:lnSpc>
                <a:spcPts val="7375"/>
              </a:lnSpc>
            </a:pPr>
            <a:r>
              <a:rPr lang="en-US" sz="7375" b="true">
                <a:solidFill>
                  <a:srgbClr val="DAD8E9"/>
                </a:solidFill>
                <a:latin typeface="Prompt Medium"/>
                <a:ea typeface="Prompt Medium"/>
                <a:cs typeface="Prompt Medium"/>
                <a:sym typeface="Prompt Medium"/>
              </a:rPr>
              <a:t>10.77</a:t>
            </a:r>
          </a:p>
        </p:txBody>
      </p:sp>
      <p:sp>
        <p:nvSpPr>
          <p:cNvPr name="TextBox 22" id="22"/>
          <p:cNvSpPr txBox="true"/>
          <p:nvPr/>
        </p:nvSpPr>
        <p:spPr>
          <a:xfrm rot="0">
            <a:off x="3407273" y="8471002"/>
            <a:ext cx="3161109" cy="404660"/>
          </a:xfrm>
          <a:prstGeom prst="rect">
            <a:avLst/>
          </a:prstGeom>
        </p:spPr>
        <p:txBody>
          <a:bodyPr anchor="t" rtlCol="false" tIns="0" lIns="0" bIns="0" rIns="0">
            <a:spAutoFit/>
          </a:bodyPr>
          <a:lstStyle/>
          <a:p>
            <a:pPr algn="ctr">
              <a:lnSpc>
                <a:spcPts val="3062"/>
              </a:lnSpc>
            </a:pPr>
            <a:r>
              <a:rPr lang="en-US" sz="2437" b="true">
                <a:solidFill>
                  <a:srgbClr val="DAD8E9"/>
                </a:solidFill>
                <a:latin typeface="Prompt Medium"/>
                <a:ea typeface="Prompt Medium"/>
                <a:cs typeface="Prompt Medium"/>
                <a:sym typeface="Prompt Medium"/>
              </a:rPr>
              <a:t>PSNR (dB)</a:t>
            </a:r>
          </a:p>
        </p:txBody>
      </p:sp>
      <p:sp>
        <p:nvSpPr>
          <p:cNvPr name="TextBox 23" id="23"/>
          <p:cNvSpPr txBox="true"/>
          <p:nvPr/>
        </p:nvSpPr>
        <p:spPr>
          <a:xfrm rot="0">
            <a:off x="995658" y="8947252"/>
            <a:ext cx="7984484" cy="523132"/>
          </a:xfrm>
          <a:prstGeom prst="rect">
            <a:avLst/>
          </a:prstGeom>
        </p:spPr>
        <p:txBody>
          <a:bodyPr anchor="t" rtlCol="false" tIns="0" lIns="0" bIns="0" rIns="0">
            <a:spAutoFit/>
          </a:bodyPr>
          <a:lstStyle/>
          <a:p>
            <a:pPr algn="ctr">
              <a:lnSpc>
                <a:spcPts val="3437"/>
              </a:lnSpc>
            </a:pPr>
            <a:r>
              <a:rPr lang="en-US" sz="2187">
                <a:solidFill>
                  <a:srgbClr val="DAD8E9"/>
                </a:solidFill>
                <a:latin typeface="Mukta Light"/>
                <a:ea typeface="Mukta Light"/>
                <a:cs typeface="Mukta Light"/>
                <a:sym typeface="Mukta Light"/>
              </a:rPr>
              <a:t>Peak Signal-to-Noise Ratio — measures reconstruction fidelity.</a:t>
            </a:r>
          </a:p>
        </p:txBody>
      </p:sp>
      <p:sp>
        <p:nvSpPr>
          <p:cNvPr name="TextBox 24" id="24"/>
          <p:cNvSpPr txBox="true"/>
          <p:nvPr/>
        </p:nvSpPr>
        <p:spPr>
          <a:xfrm rot="0">
            <a:off x="9307859" y="7345861"/>
            <a:ext cx="7984484" cy="795928"/>
          </a:xfrm>
          <a:prstGeom prst="rect">
            <a:avLst/>
          </a:prstGeom>
        </p:spPr>
        <p:txBody>
          <a:bodyPr anchor="t" rtlCol="false" tIns="0" lIns="0" bIns="0" rIns="0">
            <a:spAutoFit/>
          </a:bodyPr>
          <a:lstStyle/>
          <a:p>
            <a:pPr algn="ctr">
              <a:lnSpc>
                <a:spcPts val="7375"/>
              </a:lnSpc>
            </a:pPr>
            <a:r>
              <a:rPr lang="en-US" sz="7375" b="true">
                <a:solidFill>
                  <a:srgbClr val="DAD8E9"/>
                </a:solidFill>
                <a:latin typeface="Prompt Medium"/>
                <a:ea typeface="Prompt Medium"/>
                <a:cs typeface="Prompt Medium"/>
                <a:sym typeface="Prompt Medium"/>
              </a:rPr>
              <a:t>0.58</a:t>
            </a:r>
          </a:p>
        </p:txBody>
      </p:sp>
      <p:sp>
        <p:nvSpPr>
          <p:cNvPr name="TextBox 25" id="25"/>
          <p:cNvSpPr txBox="true"/>
          <p:nvPr/>
        </p:nvSpPr>
        <p:spPr>
          <a:xfrm rot="0">
            <a:off x="11719474" y="8471002"/>
            <a:ext cx="3161109" cy="404660"/>
          </a:xfrm>
          <a:prstGeom prst="rect">
            <a:avLst/>
          </a:prstGeom>
        </p:spPr>
        <p:txBody>
          <a:bodyPr anchor="t" rtlCol="false" tIns="0" lIns="0" bIns="0" rIns="0">
            <a:spAutoFit/>
          </a:bodyPr>
          <a:lstStyle/>
          <a:p>
            <a:pPr algn="ctr">
              <a:lnSpc>
                <a:spcPts val="3062"/>
              </a:lnSpc>
            </a:pPr>
            <a:r>
              <a:rPr lang="en-US" sz="2437" b="true">
                <a:solidFill>
                  <a:srgbClr val="DAD8E9"/>
                </a:solidFill>
                <a:latin typeface="Prompt Medium"/>
                <a:ea typeface="Prompt Medium"/>
                <a:cs typeface="Prompt Medium"/>
                <a:sym typeface="Prompt Medium"/>
              </a:rPr>
              <a:t>SSIM</a:t>
            </a:r>
          </a:p>
        </p:txBody>
      </p:sp>
      <p:sp>
        <p:nvSpPr>
          <p:cNvPr name="TextBox 26" id="26"/>
          <p:cNvSpPr txBox="true"/>
          <p:nvPr/>
        </p:nvSpPr>
        <p:spPr>
          <a:xfrm rot="0">
            <a:off x="9307859" y="8947252"/>
            <a:ext cx="7984484" cy="523132"/>
          </a:xfrm>
          <a:prstGeom prst="rect">
            <a:avLst/>
          </a:prstGeom>
        </p:spPr>
        <p:txBody>
          <a:bodyPr anchor="t" rtlCol="false" tIns="0" lIns="0" bIns="0" rIns="0">
            <a:spAutoFit/>
          </a:bodyPr>
          <a:lstStyle/>
          <a:p>
            <a:pPr algn="ctr">
              <a:lnSpc>
                <a:spcPts val="3437"/>
              </a:lnSpc>
            </a:pPr>
            <a:r>
              <a:rPr lang="en-US" sz="2187">
                <a:solidFill>
                  <a:srgbClr val="DAD8E9"/>
                </a:solidFill>
                <a:latin typeface="Mukta Light"/>
                <a:ea typeface="Mukta Light"/>
                <a:cs typeface="Mukta Light"/>
                <a:sym typeface="Mukta Light"/>
              </a:rPr>
              <a:t>Structural Similarity Index — measures perceptual quality.</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preencoded.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0B0C23">
                <a:alpha val="90196"/>
              </a:srgbClr>
            </a:solidFill>
          </p:spPr>
        </p:sp>
      </p:grpSp>
      <p:sp>
        <p:nvSpPr>
          <p:cNvPr name="TextBox 6" id="6"/>
          <p:cNvSpPr txBox="true"/>
          <p:nvPr/>
        </p:nvSpPr>
        <p:spPr>
          <a:xfrm rot="0">
            <a:off x="2193874" y="650824"/>
            <a:ext cx="5997626" cy="658120"/>
          </a:xfrm>
          <a:prstGeom prst="rect">
            <a:avLst/>
          </a:prstGeom>
        </p:spPr>
        <p:txBody>
          <a:bodyPr anchor="t" rtlCol="false" tIns="0" lIns="0" bIns="0" rIns="0">
            <a:spAutoFit/>
          </a:bodyPr>
          <a:lstStyle/>
          <a:p>
            <a:pPr algn="l">
              <a:lnSpc>
                <a:spcPts val="4937"/>
              </a:lnSpc>
            </a:pPr>
            <a:r>
              <a:rPr lang="en-US" sz="3937" b="true">
                <a:solidFill>
                  <a:srgbClr val="C6BFEE"/>
                </a:solidFill>
                <a:latin typeface="Prompt Medium"/>
                <a:ea typeface="Prompt Medium"/>
                <a:cs typeface="Prompt Medium"/>
                <a:sym typeface="Prompt Medium"/>
              </a:rPr>
              <a:t>Proposed Improvements</a:t>
            </a:r>
          </a:p>
        </p:txBody>
      </p:sp>
      <p:sp>
        <p:nvSpPr>
          <p:cNvPr name="TextBox 7" id="7"/>
          <p:cNvSpPr txBox="true"/>
          <p:nvPr/>
        </p:nvSpPr>
        <p:spPr>
          <a:xfrm rot="0">
            <a:off x="2193874" y="1603619"/>
            <a:ext cx="13900252" cy="352577"/>
          </a:xfrm>
          <a:prstGeom prst="rect">
            <a:avLst/>
          </a:prstGeom>
        </p:spPr>
        <p:txBody>
          <a:bodyPr anchor="t" rtlCol="false" tIns="0" lIns="0" bIns="0" rIns="0">
            <a:spAutoFit/>
          </a:bodyPr>
          <a:lstStyle/>
          <a:p>
            <a:pPr algn="l">
              <a:lnSpc>
                <a:spcPts val="2437"/>
              </a:lnSpc>
            </a:pPr>
            <a:r>
              <a:rPr lang="en-US" sz="1750">
                <a:solidFill>
                  <a:srgbClr val="DAD8E9"/>
                </a:solidFill>
                <a:latin typeface="Mukta Light"/>
                <a:ea typeface="Mukta Light"/>
                <a:cs typeface="Mukta Light"/>
                <a:sym typeface="Mukta Light"/>
              </a:rPr>
              <a:t>Five targeted modifications were introduced iteratively to the baseline DCP pipeline, each addressing a specific weakness in the original method.</a:t>
            </a:r>
          </a:p>
        </p:txBody>
      </p:sp>
      <p:grpSp>
        <p:nvGrpSpPr>
          <p:cNvPr name="Group 8" id="8"/>
          <p:cNvGrpSpPr/>
          <p:nvPr/>
        </p:nvGrpSpPr>
        <p:grpSpPr>
          <a:xfrm rot="0">
            <a:off x="2179587" y="2129133"/>
            <a:ext cx="13928827" cy="1388269"/>
            <a:chOff x="0" y="0"/>
            <a:chExt cx="18571769" cy="1851025"/>
          </a:xfrm>
        </p:grpSpPr>
        <p:sp>
          <p:nvSpPr>
            <p:cNvPr name="Freeform 9" id="9"/>
            <p:cNvSpPr/>
            <p:nvPr/>
          </p:nvSpPr>
          <p:spPr>
            <a:xfrm flipH="false" flipV="false" rot="0">
              <a:off x="19050" y="19050"/>
              <a:ext cx="18533619" cy="1812925"/>
            </a:xfrm>
            <a:custGeom>
              <a:avLst/>
              <a:gdLst/>
              <a:ahLst/>
              <a:cxnLst/>
              <a:rect r="r" b="b" t="t" l="l"/>
              <a:pathLst>
                <a:path h="1812925" w="18533619">
                  <a:moveTo>
                    <a:pt x="0" y="126873"/>
                  </a:moveTo>
                  <a:cubicBezTo>
                    <a:pt x="0" y="56769"/>
                    <a:pt x="57912" y="0"/>
                    <a:pt x="129286" y="0"/>
                  </a:cubicBezTo>
                  <a:lnTo>
                    <a:pt x="18404332" y="0"/>
                  </a:lnTo>
                  <a:cubicBezTo>
                    <a:pt x="18475706" y="0"/>
                    <a:pt x="18533619" y="56769"/>
                    <a:pt x="18533619" y="126873"/>
                  </a:cubicBezTo>
                  <a:lnTo>
                    <a:pt x="18533619" y="1686052"/>
                  </a:lnTo>
                  <a:cubicBezTo>
                    <a:pt x="18533619" y="1756156"/>
                    <a:pt x="18475706" y="1812925"/>
                    <a:pt x="18404332" y="1812925"/>
                  </a:cubicBezTo>
                  <a:lnTo>
                    <a:pt x="129286" y="1812925"/>
                  </a:lnTo>
                  <a:cubicBezTo>
                    <a:pt x="57912" y="1812925"/>
                    <a:pt x="0" y="1756156"/>
                    <a:pt x="0" y="1686052"/>
                  </a:cubicBezTo>
                  <a:close/>
                </a:path>
              </a:pathLst>
            </a:custGeom>
            <a:solidFill>
              <a:srgbClr val="0B0C23">
                <a:alpha val="90196"/>
              </a:srgbClr>
            </a:solidFill>
          </p:spPr>
        </p:sp>
        <p:sp>
          <p:nvSpPr>
            <p:cNvPr name="Freeform 10" id="10"/>
            <p:cNvSpPr/>
            <p:nvPr/>
          </p:nvSpPr>
          <p:spPr>
            <a:xfrm flipH="false" flipV="false" rot="0">
              <a:off x="0" y="0"/>
              <a:ext cx="18571719" cy="1851025"/>
            </a:xfrm>
            <a:custGeom>
              <a:avLst/>
              <a:gdLst/>
              <a:ahLst/>
              <a:cxnLst/>
              <a:rect r="r" b="b" t="t" l="l"/>
              <a:pathLst>
                <a:path h="1851025" w="18571719">
                  <a:moveTo>
                    <a:pt x="0" y="145923"/>
                  </a:moveTo>
                  <a:cubicBezTo>
                    <a:pt x="0" y="65024"/>
                    <a:pt x="66802" y="0"/>
                    <a:pt x="148336" y="0"/>
                  </a:cubicBezTo>
                  <a:lnTo>
                    <a:pt x="18423382" y="0"/>
                  </a:lnTo>
                  <a:lnTo>
                    <a:pt x="18423382" y="19050"/>
                  </a:lnTo>
                  <a:lnTo>
                    <a:pt x="18423382" y="0"/>
                  </a:lnTo>
                  <a:cubicBezTo>
                    <a:pt x="18505044" y="0"/>
                    <a:pt x="18571719" y="65024"/>
                    <a:pt x="18571719" y="145923"/>
                  </a:cubicBezTo>
                  <a:lnTo>
                    <a:pt x="18552669" y="145923"/>
                  </a:lnTo>
                  <a:lnTo>
                    <a:pt x="18571719" y="145923"/>
                  </a:lnTo>
                  <a:lnTo>
                    <a:pt x="18571719" y="1705102"/>
                  </a:lnTo>
                  <a:lnTo>
                    <a:pt x="18552669" y="1705102"/>
                  </a:lnTo>
                  <a:lnTo>
                    <a:pt x="18571719" y="1705102"/>
                  </a:lnTo>
                  <a:cubicBezTo>
                    <a:pt x="18571719" y="1786001"/>
                    <a:pt x="18504917" y="1851025"/>
                    <a:pt x="18423382" y="1851025"/>
                  </a:cubicBezTo>
                  <a:lnTo>
                    <a:pt x="18423382" y="1831975"/>
                  </a:lnTo>
                  <a:lnTo>
                    <a:pt x="18423382" y="1851025"/>
                  </a:lnTo>
                  <a:lnTo>
                    <a:pt x="148336" y="1851025"/>
                  </a:lnTo>
                  <a:lnTo>
                    <a:pt x="148336" y="1831975"/>
                  </a:lnTo>
                  <a:lnTo>
                    <a:pt x="148336" y="1851025"/>
                  </a:lnTo>
                  <a:cubicBezTo>
                    <a:pt x="66802" y="1851025"/>
                    <a:pt x="0" y="1786001"/>
                    <a:pt x="0" y="1705102"/>
                  </a:cubicBezTo>
                  <a:lnTo>
                    <a:pt x="0" y="145923"/>
                  </a:lnTo>
                  <a:lnTo>
                    <a:pt x="19050" y="145923"/>
                  </a:lnTo>
                  <a:lnTo>
                    <a:pt x="0" y="145923"/>
                  </a:lnTo>
                  <a:moveTo>
                    <a:pt x="38100" y="145923"/>
                  </a:moveTo>
                  <a:lnTo>
                    <a:pt x="38100" y="1705102"/>
                  </a:lnTo>
                  <a:lnTo>
                    <a:pt x="19050" y="1705102"/>
                  </a:lnTo>
                  <a:lnTo>
                    <a:pt x="38100" y="1705102"/>
                  </a:lnTo>
                  <a:cubicBezTo>
                    <a:pt x="38100" y="1764284"/>
                    <a:pt x="87122" y="1812925"/>
                    <a:pt x="148336" y="1812925"/>
                  </a:cubicBezTo>
                  <a:lnTo>
                    <a:pt x="18423382" y="1812925"/>
                  </a:lnTo>
                  <a:cubicBezTo>
                    <a:pt x="18484596" y="1812925"/>
                    <a:pt x="18533619" y="1764284"/>
                    <a:pt x="18533619" y="1705102"/>
                  </a:cubicBezTo>
                  <a:lnTo>
                    <a:pt x="18533619" y="145923"/>
                  </a:lnTo>
                  <a:cubicBezTo>
                    <a:pt x="18533619" y="86741"/>
                    <a:pt x="18484596" y="38100"/>
                    <a:pt x="18423382" y="38100"/>
                  </a:cubicBezTo>
                  <a:lnTo>
                    <a:pt x="148336" y="38100"/>
                  </a:lnTo>
                  <a:lnTo>
                    <a:pt x="148336" y="19050"/>
                  </a:lnTo>
                  <a:lnTo>
                    <a:pt x="148336" y="38100"/>
                  </a:lnTo>
                  <a:cubicBezTo>
                    <a:pt x="87122" y="38100"/>
                    <a:pt x="38100" y="86741"/>
                    <a:pt x="38100" y="145923"/>
                  </a:cubicBezTo>
                  <a:close/>
                </a:path>
              </a:pathLst>
            </a:custGeom>
            <a:solidFill>
              <a:srgbClr val="6D4562"/>
            </a:solidFill>
          </p:spPr>
        </p:sp>
      </p:grpSp>
      <p:grpSp>
        <p:nvGrpSpPr>
          <p:cNvPr name="Group 11" id="11"/>
          <p:cNvGrpSpPr/>
          <p:nvPr/>
        </p:nvGrpSpPr>
        <p:grpSpPr>
          <a:xfrm rot="0">
            <a:off x="2222449" y="2171995"/>
            <a:ext cx="906513" cy="1302544"/>
            <a:chOff x="0" y="0"/>
            <a:chExt cx="1208684" cy="1736725"/>
          </a:xfrm>
        </p:grpSpPr>
        <p:sp>
          <p:nvSpPr>
            <p:cNvPr name="Freeform 12" id="12"/>
            <p:cNvSpPr/>
            <p:nvPr/>
          </p:nvSpPr>
          <p:spPr>
            <a:xfrm flipH="false" flipV="false" rot="0">
              <a:off x="0" y="0"/>
              <a:ext cx="1208659" cy="1736725"/>
            </a:xfrm>
            <a:custGeom>
              <a:avLst/>
              <a:gdLst/>
              <a:ahLst/>
              <a:cxnLst/>
              <a:rect r="r" b="b" t="t" l="l"/>
              <a:pathLst>
                <a:path h="1736725" w="1208659">
                  <a:moveTo>
                    <a:pt x="0" y="81153"/>
                  </a:moveTo>
                  <a:cubicBezTo>
                    <a:pt x="0" y="36322"/>
                    <a:pt x="36322" y="0"/>
                    <a:pt x="81153" y="0"/>
                  </a:cubicBezTo>
                  <a:lnTo>
                    <a:pt x="1127506" y="0"/>
                  </a:lnTo>
                  <a:cubicBezTo>
                    <a:pt x="1172337" y="0"/>
                    <a:pt x="1208659" y="36322"/>
                    <a:pt x="1208659" y="81153"/>
                  </a:cubicBezTo>
                  <a:lnTo>
                    <a:pt x="1208659" y="1655572"/>
                  </a:lnTo>
                  <a:cubicBezTo>
                    <a:pt x="1208659" y="1700403"/>
                    <a:pt x="1172337" y="1736725"/>
                    <a:pt x="1127506" y="1736725"/>
                  </a:cubicBezTo>
                  <a:lnTo>
                    <a:pt x="81153" y="1736725"/>
                  </a:lnTo>
                  <a:cubicBezTo>
                    <a:pt x="36322" y="1736725"/>
                    <a:pt x="0" y="1700403"/>
                    <a:pt x="0" y="1655572"/>
                  </a:cubicBezTo>
                  <a:close/>
                </a:path>
              </a:pathLst>
            </a:custGeom>
            <a:solidFill>
              <a:srgbClr val="542C49"/>
            </a:solidFill>
          </p:spPr>
        </p:sp>
      </p:grpSp>
      <p:sp>
        <p:nvSpPr>
          <p:cNvPr name="TextBox 13" id="13"/>
          <p:cNvSpPr txBox="true"/>
          <p:nvPr/>
        </p:nvSpPr>
        <p:spPr>
          <a:xfrm rot="0">
            <a:off x="2500903" y="2658370"/>
            <a:ext cx="339928" cy="377276"/>
          </a:xfrm>
          <a:prstGeom prst="rect">
            <a:avLst/>
          </a:prstGeom>
        </p:spPr>
        <p:txBody>
          <a:bodyPr anchor="t" rtlCol="false" tIns="0" lIns="0" bIns="0" rIns="0">
            <a:spAutoFit/>
          </a:bodyPr>
          <a:lstStyle/>
          <a:p>
            <a:pPr algn="l">
              <a:lnSpc>
                <a:spcPts val="2625"/>
              </a:lnSpc>
            </a:pPr>
            <a:r>
              <a:rPr lang="en-US" sz="2625" b="true">
                <a:solidFill>
                  <a:srgbClr val="DAD8E9"/>
                </a:solidFill>
                <a:latin typeface="Prompt Medium"/>
                <a:ea typeface="Prompt Medium"/>
                <a:cs typeface="Prompt Medium"/>
                <a:sym typeface="Prompt Medium"/>
              </a:rPr>
              <a:t>1</a:t>
            </a:r>
          </a:p>
        </p:txBody>
      </p:sp>
      <p:sp>
        <p:nvSpPr>
          <p:cNvPr name="TextBox 14" id="14"/>
          <p:cNvSpPr txBox="true"/>
          <p:nvPr/>
        </p:nvSpPr>
        <p:spPr>
          <a:xfrm rot="0">
            <a:off x="3295355" y="2388984"/>
            <a:ext cx="3498209" cy="324298"/>
          </a:xfrm>
          <a:prstGeom prst="rect">
            <a:avLst/>
          </a:prstGeom>
        </p:spPr>
        <p:txBody>
          <a:bodyPr anchor="t" rtlCol="false" tIns="0" lIns="0" bIns="0" rIns="0">
            <a:spAutoFit/>
          </a:bodyPr>
          <a:lstStyle/>
          <a:p>
            <a:pPr algn="l">
              <a:lnSpc>
                <a:spcPts val="2437"/>
              </a:lnSpc>
            </a:pPr>
            <a:r>
              <a:rPr lang="en-US" sz="1937" b="true">
                <a:solidFill>
                  <a:srgbClr val="DAD8E9"/>
                </a:solidFill>
                <a:latin typeface="Prompt Medium"/>
                <a:ea typeface="Prompt Medium"/>
                <a:cs typeface="Prompt Medium"/>
                <a:sym typeface="Prompt Medium"/>
              </a:rPr>
              <a:t>Improved Airlight Estimation</a:t>
            </a:r>
          </a:p>
        </p:txBody>
      </p:sp>
      <p:sp>
        <p:nvSpPr>
          <p:cNvPr name="TextBox 15" id="15"/>
          <p:cNvSpPr txBox="true"/>
          <p:nvPr/>
        </p:nvSpPr>
        <p:spPr>
          <a:xfrm rot="0">
            <a:off x="3295355" y="2774899"/>
            <a:ext cx="12543682" cy="352577"/>
          </a:xfrm>
          <a:prstGeom prst="rect">
            <a:avLst/>
          </a:prstGeom>
        </p:spPr>
        <p:txBody>
          <a:bodyPr anchor="t" rtlCol="false" tIns="0" lIns="0" bIns="0" rIns="0">
            <a:spAutoFit/>
          </a:bodyPr>
          <a:lstStyle/>
          <a:p>
            <a:pPr algn="l">
              <a:lnSpc>
                <a:spcPts val="2437"/>
              </a:lnSpc>
            </a:pPr>
            <a:r>
              <a:rPr lang="en-US" sz="1750">
                <a:solidFill>
                  <a:srgbClr val="DAD8E9"/>
                </a:solidFill>
                <a:latin typeface="Mukta Light"/>
                <a:ea typeface="Mukta Light"/>
                <a:cs typeface="Mukta Light"/>
                <a:sym typeface="Mukta Light"/>
              </a:rPr>
              <a:t>Brightest candidate pixels selected more robustly, reducing overestimation artefacts.</a:t>
            </a:r>
          </a:p>
        </p:txBody>
      </p:sp>
      <p:grpSp>
        <p:nvGrpSpPr>
          <p:cNvPr name="Group 16" id="16"/>
          <p:cNvGrpSpPr/>
          <p:nvPr/>
        </p:nvGrpSpPr>
        <p:grpSpPr>
          <a:xfrm rot="0">
            <a:off x="2179587" y="3655219"/>
            <a:ext cx="13928827" cy="1388269"/>
            <a:chOff x="0" y="0"/>
            <a:chExt cx="18571769" cy="1851025"/>
          </a:xfrm>
        </p:grpSpPr>
        <p:sp>
          <p:nvSpPr>
            <p:cNvPr name="Freeform 17" id="17"/>
            <p:cNvSpPr/>
            <p:nvPr/>
          </p:nvSpPr>
          <p:spPr>
            <a:xfrm flipH="false" flipV="false" rot="0">
              <a:off x="19050" y="19050"/>
              <a:ext cx="18533619" cy="1812925"/>
            </a:xfrm>
            <a:custGeom>
              <a:avLst/>
              <a:gdLst/>
              <a:ahLst/>
              <a:cxnLst/>
              <a:rect r="r" b="b" t="t" l="l"/>
              <a:pathLst>
                <a:path h="1812925" w="18533619">
                  <a:moveTo>
                    <a:pt x="0" y="126873"/>
                  </a:moveTo>
                  <a:cubicBezTo>
                    <a:pt x="0" y="56769"/>
                    <a:pt x="57912" y="0"/>
                    <a:pt x="129286" y="0"/>
                  </a:cubicBezTo>
                  <a:lnTo>
                    <a:pt x="18404332" y="0"/>
                  </a:lnTo>
                  <a:cubicBezTo>
                    <a:pt x="18475706" y="0"/>
                    <a:pt x="18533619" y="56769"/>
                    <a:pt x="18533619" y="126873"/>
                  </a:cubicBezTo>
                  <a:lnTo>
                    <a:pt x="18533619" y="1686052"/>
                  </a:lnTo>
                  <a:cubicBezTo>
                    <a:pt x="18533619" y="1756156"/>
                    <a:pt x="18475706" y="1812925"/>
                    <a:pt x="18404332" y="1812925"/>
                  </a:cubicBezTo>
                  <a:lnTo>
                    <a:pt x="129286" y="1812925"/>
                  </a:lnTo>
                  <a:cubicBezTo>
                    <a:pt x="57912" y="1812925"/>
                    <a:pt x="0" y="1756156"/>
                    <a:pt x="0" y="1686052"/>
                  </a:cubicBezTo>
                  <a:close/>
                </a:path>
              </a:pathLst>
            </a:custGeom>
            <a:solidFill>
              <a:srgbClr val="0B0C23">
                <a:alpha val="90196"/>
              </a:srgbClr>
            </a:solidFill>
          </p:spPr>
        </p:sp>
        <p:sp>
          <p:nvSpPr>
            <p:cNvPr name="Freeform 18" id="18"/>
            <p:cNvSpPr/>
            <p:nvPr/>
          </p:nvSpPr>
          <p:spPr>
            <a:xfrm flipH="false" flipV="false" rot="0">
              <a:off x="0" y="0"/>
              <a:ext cx="18571719" cy="1851025"/>
            </a:xfrm>
            <a:custGeom>
              <a:avLst/>
              <a:gdLst/>
              <a:ahLst/>
              <a:cxnLst/>
              <a:rect r="r" b="b" t="t" l="l"/>
              <a:pathLst>
                <a:path h="1851025" w="18571719">
                  <a:moveTo>
                    <a:pt x="0" y="145923"/>
                  </a:moveTo>
                  <a:cubicBezTo>
                    <a:pt x="0" y="65024"/>
                    <a:pt x="66802" y="0"/>
                    <a:pt x="148336" y="0"/>
                  </a:cubicBezTo>
                  <a:lnTo>
                    <a:pt x="18423382" y="0"/>
                  </a:lnTo>
                  <a:lnTo>
                    <a:pt x="18423382" y="19050"/>
                  </a:lnTo>
                  <a:lnTo>
                    <a:pt x="18423382" y="0"/>
                  </a:lnTo>
                  <a:cubicBezTo>
                    <a:pt x="18505044" y="0"/>
                    <a:pt x="18571719" y="65024"/>
                    <a:pt x="18571719" y="145923"/>
                  </a:cubicBezTo>
                  <a:lnTo>
                    <a:pt x="18552669" y="145923"/>
                  </a:lnTo>
                  <a:lnTo>
                    <a:pt x="18571719" y="145923"/>
                  </a:lnTo>
                  <a:lnTo>
                    <a:pt x="18571719" y="1705102"/>
                  </a:lnTo>
                  <a:lnTo>
                    <a:pt x="18552669" y="1705102"/>
                  </a:lnTo>
                  <a:lnTo>
                    <a:pt x="18571719" y="1705102"/>
                  </a:lnTo>
                  <a:cubicBezTo>
                    <a:pt x="18571719" y="1786001"/>
                    <a:pt x="18504917" y="1851025"/>
                    <a:pt x="18423382" y="1851025"/>
                  </a:cubicBezTo>
                  <a:lnTo>
                    <a:pt x="18423382" y="1831975"/>
                  </a:lnTo>
                  <a:lnTo>
                    <a:pt x="18423382" y="1851025"/>
                  </a:lnTo>
                  <a:lnTo>
                    <a:pt x="148336" y="1851025"/>
                  </a:lnTo>
                  <a:lnTo>
                    <a:pt x="148336" y="1831975"/>
                  </a:lnTo>
                  <a:lnTo>
                    <a:pt x="148336" y="1851025"/>
                  </a:lnTo>
                  <a:cubicBezTo>
                    <a:pt x="66802" y="1851025"/>
                    <a:pt x="0" y="1786001"/>
                    <a:pt x="0" y="1705102"/>
                  </a:cubicBezTo>
                  <a:lnTo>
                    <a:pt x="0" y="145923"/>
                  </a:lnTo>
                  <a:lnTo>
                    <a:pt x="19050" y="145923"/>
                  </a:lnTo>
                  <a:lnTo>
                    <a:pt x="0" y="145923"/>
                  </a:lnTo>
                  <a:moveTo>
                    <a:pt x="38100" y="145923"/>
                  </a:moveTo>
                  <a:lnTo>
                    <a:pt x="38100" y="1705102"/>
                  </a:lnTo>
                  <a:lnTo>
                    <a:pt x="19050" y="1705102"/>
                  </a:lnTo>
                  <a:lnTo>
                    <a:pt x="38100" y="1705102"/>
                  </a:lnTo>
                  <a:cubicBezTo>
                    <a:pt x="38100" y="1764284"/>
                    <a:pt x="87122" y="1812925"/>
                    <a:pt x="148336" y="1812925"/>
                  </a:cubicBezTo>
                  <a:lnTo>
                    <a:pt x="18423382" y="1812925"/>
                  </a:lnTo>
                  <a:cubicBezTo>
                    <a:pt x="18484596" y="1812925"/>
                    <a:pt x="18533619" y="1764284"/>
                    <a:pt x="18533619" y="1705102"/>
                  </a:cubicBezTo>
                  <a:lnTo>
                    <a:pt x="18533619" y="145923"/>
                  </a:lnTo>
                  <a:cubicBezTo>
                    <a:pt x="18533619" y="86741"/>
                    <a:pt x="18484596" y="38100"/>
                    <a:pt x="18423382" y="38100"/>
                  </a:cubicBezTo>
                  <a:lnTo>
                    <a:pt x="148336" y="38100"/>
                  </a:lnTo>
                  <a:lnTo>
                    <a:pt x="148336" y="19050"/>
                  </a:lnTo>
                  <a:lnTo>
                    <a:pt x="148336" y="38100"/>
                  </a:lnTo>
                  <a:cubicBezTo>
                    <a:pt x="87122" y="38100"/>
                    <a:pt x="38100" y="86741"/>
                    <a:pt x="38100" y="145923"/>
                  </a:cubicBezTo>
                  <a:close/>
                </a:path>
              </a:pathLst>
            </a:custGeom>
            <a:solidFill>
              <a:srgbClr val="6D4562"/>
            </a:solidFill>
          </p:spPr>
        </p:sp>
      </p:grpSp>
      <p:grpSp>
        <p:nvGrpSpPr>
          <p:cNvPr name="Group 19" id="19"/>
          <p:cNvGrpSpPr/>
          <p:nvPr/>
        </p:nvGrpSpPr>
        <p:grpSpPr>
          <a:xfrm rot="0">
            <a:off x="2222449" y="3698081"/>
            <a:ext cx="906513" cy="1302544"/>
            <a:chOff x="0" y="0"/>
            <a:chExt cx="1208684" cy="1736725"/>
          </a:xfrm>
        </p:grpSpPr>
        <p:sp>
          <p:nvSpPr>
            <p:cNvPr name="Freeform 20" id="20"/>
            <p:cNvSpPr/>
            <p:nvPr/>
          </p:nvSpPr>
          <p:spPr>
            <a:xfrm flipH="false" flipV="false" rot="0">
              <a:off x="0" y="0"/>
              <a:ext cx="1208659" cy="1736725"/>
            </a:xfrm>
            <a:custGeom>
              <a:avLst/>
              <a:gdLst/>
              <a:ahLst/>
              <a:cxnLst/>
              <a:rect r="r" b="b" t="t" l="l"/>
              <a:pathLst>
                <a:path h="1736725" w="1208659">
                  <a:moveTo>
                    <a:pt x="0" y="81153"/>
                  </a:moveTo>
                  <a:cubicBezTo>
                    <a:pt x="0" y="36322"/>
                    <a:pt x="36322" y="0"/>
                    <a:pt x="81153" y="0"/>
                  </a:cubicBezTo>
                  <a:lnTo>
                    <a:pt x="1127506" y="0"/>
                  </a:lnTo>
                  <a:cubicBezTo>
                    <a:pt x="1172337" y="0"/>
                    <a:pt x="1208659" y="36322"/>
                    <a:pt x="1208659" y="81153"/>
                  </a:cubicBezTo>
                  <a:lnTo>
                    <a:pt x="1208659" y="1655572"/>
                  </a:lnTo>
                  <a:cubicBezTo>
                    <a:pt x="1208659" y="1700403"/>
                    <a:pt x="1172337" y="1736725"/>
                    <a:pt x="1127506" y="1736725"/>
                  </a:cubicBezTo>
                  <a:lnTo>
                    <a:pt x="81153" y="1736725"/>
                  </a:lnTo>
                  <a:cubicBezTo>
                    <a:pt x="36322" y="1736725"/>
                    <a:pt x="0" y="1700403"/>
                    <a:pt x="0" y="1655572"/>
                  </a:cubicBezTo>
                  <a:close/>
                </a:path>
              </a:pathLst>
            </a:custGeom>
            <a:solidFill>
              <a:srgbClr val="542C49"/>
            </a:solidFill>
          </p:spPr>
        </p:sp>
      </p:grpSp>
      <p:sp>
        <p:nvSpPr>
          <p:cNvPr name="TextBox 21" id="21"/>
          <p:cNvSpPr txBox="true"/>
          <p:nvPr/>
        </p:nvSpPr>
        <p:spPr>
          <a:xfrm rot="0">
            <a:off x="2500903" y="4184447"/>
            <a:ext cx="339928" cy="377276"/>
          </a:xfrm>
          <a:prstGeom prst="rect">
            <a:avLst/>
          </a:prstGeom>
        </p:spPr>
        <p:txBody>
          <a:bodyPr anchor="t" rtlCol="false" tIns="0" lIns="0" bIns="0" rIns="0">
            <a:spAutoFit/>
          </a:bodyPr>
          <a:lstStyle/>
          <a:p>
            <a:pPr algn="l">
              <a:lnSpc>
                <a:spcPts val="2625"/>
              </a:lnSpc>
            </a:pPr>
            <a:r>
              <a:rPr lang="en-US" sz="2625" b="true">
                <a:solidFill>
                  <a:srgbClr val="DAD8E9"/>
                </a:solidFill>
                <a:latin typeface="Prompt Medium"/>
                <a:ea typeface="Prompt Medium"/>
                <a:cs typeface="Prompt Medium"/>
                <a:sym typeface="Prompt Medium"/>
              </a:rPr>
              <a:t>2</a:t>
            </a:r>
          </a:p>
        </p:txBody>
      </p:sp>
      <p:sp>
        <p:nvSpPr>
          <p:cNvPr name="TextBox 22" id="22"/>
          <p:cNvSpPr txBox="true"/>
          <p:nvPr/>
        </p:nvSpPr>
        <p:spPr>
          <a:xfrm rot="0">
            <a:off x="3295355" y="3915070"/>
            <a:ext cx="3825926" cy="324298"/>
          </a:xfrm>
          <a:prstGeom prst="rect">
            <a:avLst/>
          </a:prstGeom>
        </p:spPr>
        <p:txBody>
          <a:bodyPr anchor="t" rtlCol="false" tIns="0" lIns="0" bIns="0" rIns="0">
            <a:spAutoFit/>
          </a:bodyPr>
          <a:lstStyle/>
          <a:p>
            <a:pPr algn="l">
              <a:lnSpc>
                <a:spcPts val="2437"/>
              </a:lnSpc>
            </a:pPr>
            <a:r>
              <a:rPr lang="en-US" sz="1937" b="true">
                <a:solidFill>
                  <a:srgbClr val="DAD8E9"/>
                </a:solidFill>
                <a:latin typeface="Prompt Medium"/>
                <a:ea typeface="Prompt Medium"/>
                <a:cs typeface="Prompt Medium"/>
                <a:sym typeface="Prompt Medium"/>
              </a:rPr>
              <a:t>Tuned Transmission Coefficient</a:t>
            </a:r>
          </a:p>
        </p:txBody>
      </p:sp>
      <p:sp>
        <p:nvSpPr>
          <p:cNvPr name="TextBox 23" id="23"/>
          <p:cNvSpPr txBox="true"/>
          <p:nvPr/>
        </p:nvSpPr>
        <p:spPr>
          <a:xfrm rot="0">
            <a:off x="3295355" y="4300985"/>
            <a:ext cx="12543682" cy="352577"/>
          </a:xfrm>
          <a:prstGeom prst="rect">
            <a:avLst/>
          </a:prstGeom>
        </p:spPr>
        <p:txBody>
          <a:bodyPr anchor="t" rtlCol="false" tIns="0" lIns="0" bIns="0" rIns="0">
            <a:spAutoFit/>
          </a:bodyPr>
          <a:lstStyle/>
          <a:p>
            <a:pPr algn="l">
              <a:lnSpc>
                <a:spcPts val="2437"/>
              </a:lnSpc>
            </a:pPr>
            <a:r>
              <a:rPr lang="en-US" sz="1750">
                <a:solidFill>
                  <a:srgbClr val="DAD8E9"/>
                </a:solidFill>
                <a:latin typeface="Mukta Light"/>
                <a:ea typeface="Mukta Light"/>
                <a:cs typeface="Mukta Light"/>
                <a:sym typeface="Mukta Light"/>
              </a:rPr>
              <a:t>Omega parameter adjusted to balance haze removal and naturalness.</a:t>
            </a:r>
          </a:p>
        </p:txBody>
      </p:sp>
      <p:grpSp>
        <p:nvGrpSpPr>
          <p:cNvPr name="Group 24" id="24"/>
          <p:cNvGrpSpPr/>
          <p:nvPr/>
        </p:nvGrpSpPr>
        <p:grpSpPr>
          <a:xfrm rot="0">
            <a:off x="2179587" y="5181305"/>
            <a:ext cx="13928827" cy="1388269"/>
            <a:chOff x="0" y="0"/>
            <a:chExt cx="18571769" cy="1851025"/>
          </a:xfrm>
        </p:grpSpPr>
        <p:sp>
          <p:nvSpPr>
            <p:cNvPr name="Freeform 25" id="25"/>
            <p:cNvSpPr/>
            <p:nvPr/>
          </p:nvSpPr>
          <p:spPr>
            <a:xfrm flipH="false" flipV="false" rot="0">
              <a:off x="19050" y="19050"/>
              <a:ext cx="18533619" cy="1812925"/>
            </a:xfrm>
            <a:custGeom>
              <a:avLst/>
              <a:gdLst/>
              <a:ahLst/>
              <a:cxnLst/>
              <a:rect r="r" b="b" t="t" l="l"/>
              <a:pathLst>
                <a:path h="1812925" w="18533619">
                  <a:moveTo>
                    <a:pt x="0" y="126873"/>
                  </a:moveTo>
                  <a:cubicBezTo>
                    <a:pt x="0" y="56769"/>
                    <a:pt x="57912" y="0"/>
                    <a:pt x="129286" y="0"/>
                  </a:cubicBezTo>
                  <a:lnTo>
                    <a:pt x="18404332" y="0"/>
                  </a:lnTo>
                  <a:cubicBezTo>
                    <a:pt x="18475706" y="0"/>
                    <a:pt x="18533619" y="56769"/>
                    <a:pt x="18533619" y="126873"/>
                  </a:cubicBezTo>
                  <a:lnTo>
                    <a:pt x="18533619" y="1686052"/>
                  </a:lnTo>
                  <a:cubicBezTo>
                    <a:pt x="18533619" y="1756156"/>
                    <a:pt x="18475706" y="1812925"/>
                    <a:pt x="18404332" y="1812925"/>
                  </a:cubicBezTo>
                  <a:lnTo>
                    <a:pt x="129286" y="1812925"/>
                  </a:lnTo>
                  <a:cubicBezTo>
                    <a:pt x="57912" y="1812925"/>
                    <a:pt x="0" y="1756156"/>
                    <a:pt x="0" y="1686052"/>
                  </a:cubicBezTo>
                  <a:close/>
                </a:path>
              </a:pathLst>
            </a:custGeom>
            <a:solidFill>
              <a:srgbClr val="0B0C23">
                <a:alpha val="90196"/>
              </a:srgbClr>
            </a:solidFill>
          </p:spPr>
        </p:sp>
        <p:sp>
          <p:nvSpPr>
            <p:cNvPr name="Freeform 26" id="26"/>
            <p:cNvSpPr/>
            <p:nvPr/>
          </p:nvSpPr>
          <p:spPr>
            <a:xfrm flipH="false" flipV="false" rot="0">
              <a:off x="0" y="0"/>
              <a:ext cx="18571719" cy="1851025"/>
            </a:xfrm>
            <a:custGeom>
              <a:avLst/>
              <a:gdLst/>
              <a:ahLst/>
              <a:cxnLst/>
              <a:rect r="r" b="b" t="t" l="l"/>
              <a:pathLst>
                <a:path h="1851025" w="18571719">
                  <a:moveTo>
                    <a:pt x="0" y="145923"/>
                  </a:moveTo>
                  <a:cubicBezTo>
                    <a:pt x="0" y="65024"/>
                    <a:pt x="66802" y="0"/>
                    <a:pt x="148336" y="0"/>
                  </a:cubicBezTo>
                  <a:lnTo>
                    <a:pt x="18423382" y="0"/>
                  </a:lnTo>
                  <a:lnTo>
                    <a:pt x="18423382" y="19050"/>
                  </a:lnTo>
                  <a:lnTo>
                    <a:pt x="18423382" y="0"/>
                  </a:lnTo>
                  <a:cubicBezTo>
                    <a:pt x="18505044" y="0"/>
                    <a:pt x="18571719" y="65024"/>
                    <a:pt x="18571719" y="145923"/>
                  </a:cubicBezTo>
                  <a:lnTo>
                    <a:pt x="18552669" y="145923"/>
                  </a:lnTo>
                  <a:lnTo>
                    <a:pt x="18571719" y="145923"/>
                  </a:lnTo>
                  <a:lnTo>
                    <a:pt x="18571719" y="1705102"/>
                  </a:lnTo>
                  <a:lnTo>
                    <a:pt x="18552669" y="1705102"/>
                  </a:lnTo>
                  <a:lnTo>
                    <a:pt x="18571719" y="1705102"/>
                  </a:lnTo>
                  <a:cubicBezTo>
                    <a:pt x="18571719" y="1786001"/>
                    <a:pt x="18504917" y="1851025"/>
                    <a:pt x="18423382" y="1851025"/>
                  </a:cubicBezTo>
                  <a:lnTo>
                    <a:pt x="18423382" y="1831975"/>
                  </a:lnTo>
                  <a:lnTo>
                    <a:pt x="18423382" y="1851025"/>
                  </a:lnTo>
                  <a:lnTo>
                    <a:pt x="148336" y="1851025"/>
                  </a:lnTo>
                  <a:lnTo>
                    <a:pt x="148336" y="1831975"/>
                  </a:lnTo>
                  <a:lnTo>
                    <a:pt x="148336" y="1851025"/>
                  </a:lnTo>
                  <a:cubicBezTo>
                    <a:pt x="66802" y="1851025"/>
                    <a:pt x="0" y="1786001"/>
                    <a:pt x="0" y="1705102"/>
                  </a:cubicBezTo>
                  <a:lnTo>
                    <a:pt x="0" y="145923"/>
                  </a:lnTo>
                  <a:lnTo>
                    <a:pt x="19050" y="145923"/>
                  </a:lnTo>
                  <a:lnTo>
                    <a:pt x="0" y="145923"/>
                  </a:lnTo>
                  <a:moveTo>
                    <a:pt x="38100" y="145923"/>
                  </a:moveTo>
                  <a:lnTo>
                    <a:pt x="38100" y="1705102"/>
                  </a:lnTo>
                  <a:lnTo>
                    <a:pt x="19050" y="1705102"/>
                  </a:lnTo>
                  <a:lnTo>
                    <a:pt x="38100" y="1705102"/>
                  </a:lnTo>
                  <a:cubicBezTo>
                    <a:pt x="38100" y="1764284"/>
                    <a:pt x="87122" y="1812925"/>
                    <a:pt x="148336" y="1812925"/>
                  </a:cubicBezTo>
                  <a:lnTo>
                    <a:pt x="18423382" y="1812925"/>
                  </a:lnTo>
                  <a:cubicBezTo>
                    <a:pt x="18484596" y="1812925"/>
                    <a:pt x="18533619" y="1764284"/>
                    <a:pt x="18533619" y="1705102"/>
                  </a:cubicBezTo>
                  <a:lnTo>
                    <a:pt x="18533619" y="145923"/>
                  </a:lnTo>
                  <a:cubicBezTo>
                    <a:pt x="18533619" y="86741"/>
                    <a:pt x="18484596" y="38100"/>
                    <a:pt x="18423382" y="38100"/>
                  </a:cubicBezTo>
                  <a:lnTo>
                    <a:pt x="148336" y="38100"/>
                  </a:lnTo>
                  <a:lnTo>
                    <a:pt x="148336" y="19050"/>
                  </a:lnTo>
                  <a:lnTo>
                    <a:pt x="148336" y="38100"/>
                  </a:lnTo>
                  <a:cubicBezTo>
                    <a:pt x="87122" y="38100"/>
                    <a:pt x="38100" y="86741"/>
                    <a:pt x="38100" y="145923"/>
                  </a:cubicBezTo>
                  <a:close/>
                </a:path>
              </a:pathLst>
            </a:custGeom>
            <a:solidFill>
              <a:srgbClr val="6D4562"/>
            </a:solidFill>
          </p:spPr>
        </p:sp>
      </p:grpSp>
      <p:grpSp>
        <p:nvGrpSpPr>
          <p:cNvPr name="Group 27" id="27"/>
          <p:cNvGrpSpPr/>
          <p:nvPr/>
        </p:nvGrpSpPr>
        <p:grpSpPr>
          <a:xfrm rot="0">
            <a:off x="2222449" y="5224167"/>
            <a:ext cx="906513" cy="1302544"/>
            <a:chOff x="0" y="0"/>
            <a:chExt cx="1208684" cy="1736725"/>
          </a:xfrm>
        </p:grpSpPr>
        <p:sp>
          <p:nvSpPr>
            <p:cNvPr name="Freeform 28" id="28"/>
            <p:cNvSpPr/>
            <p:nvPr/>
          </p:nvSpPr>
          <p:spPr>
            <a:xfrm flipH="false" flipV="false" rot="0">
              <a:off x="0" y="0"/>
              <a:ext cx="1208659" cy="1736725"/>
            </a:xfrm>
            <a:custGeom>
              <a:avLst/>
              <a:gdLst/>
              <a:ahLst/>
              <a:cxnLst/>
              <a:rect r="r" b="b" t="t" l="l"/>
              <a:pathLst>
                <a:path h="1736725" w="1208659">
                  <a:moveTo>
                    <a:pt x="0" y="81153"/>
                  </a:moveTo>
                  <a:cubicBezTo>
                    <a:pt x="0" y="36322"/>
                    <a:pt x="36322" y="0"/>
                    <a:pt x="81153" y="0"/>
                  </a:cubicBezTo>
                  <a:lnTo>
                    <a:pt x="1127506" y="0"/>
                  </a:lnTo>
                  <a:cubicBezTo>
                    <a:pt x="1172337" y="0"/>
                    <a:pt x="1208659" y="36322"/>
                    <a:pt x="1208659" y="81153"/>
                  </a:cubicBezTo>
                  <a:lnTo>
                    <a:pt x="1208659" y="1655572"/>
                  </a:lnTo>
                  <a:cubicBezTo>
                    <a:pt x="1208659" y="1700403"/>
                    <a:pt x="1172337" y="1736725"/>
                    <a:pt x="1127506" y="1736725"/>
                  </a:cubicBezTo>
                  <a:lnTo>
                    <a:pt x="81153" y="1736725"/>
                  </a:lnTo>
                  <a:cubicBezTo>
                    <a:pt x="36322" y="1736725"/>
                    <a:pt x="0" y="1700403"/>
                    <a:pt x="0" y="1655572"/>
                  </a:cubicBezTo>
                  <a:close/>
                </a:path>
              </a:pathLst>
            </a:custGeom>
            <a:solidFill>
              <a:srgbClr val="542C49"/>
            </a:solidFill>
          </p:spPr>
        </p:sp>
      </p:grpSp>
      <p:sp>
        <p:nvSpPr>
          <p:cNvPr name="TextBox 29" id="29"/>
          <p:cNvSpPr txBox="true"/>
          <p:nvPr/>
        </p:nvSpPr>
        <p:spPr>
          <a:xfrm rot="0">
            <a:off x="2500903" y="5710533"/>
            <a:ext cx="339928" cy="377276"/>
          </a:xfrm>
          <a:prstGeom prst="rect">
            <a:avLst/>
          </a:prstGeom>
        </p:spPr>
        <p:txBody>
          <a:bodyPr anchor="t" rtlCol="false" tIns="0" lIns="0" bIns="0" rIns="0">
            <a:spAutoFit/>
          </a:bodyPr>
          <a:lstStyle/>
          <a:p>
            <a:pPr algn="l">
              <a:lnSpc>
                <a:spcPts val="2625"/>
              </a:lnSpc>
            </a:pPr>
            <a:r>
              <a:rPr lang="en-US" sz="2625" b="true">
                <a:solidFill>
                  <a:srgbClr val="DAD8E9"/>
                </a:solidFill>
                <a:latin typeface="Prompt Medium"/>
                <a:ea typeface="Prompt Medium"/>
                <a:cs typeface="Prompt Medium"/>
                <a:sym typeface="Prompt Medium"/>
              </a:rPr>
              <a:t>3</a:t>
            </a:r>
          </a:p>
        </p:txBody>
      </p:sp>
      <p:sp>
        <p:nvSpPr>
          <p:cNvPr name="TextBox 30" id="30"/>
          <p:cNvSpPr txBox="true"/>
          <p:nvPr/>
        </p:nvSpPr>
        <p:spPr>
          <a:xfrm rot="0">
            <a:off x="3295355" y="5441156"/>
            <a:ext cx="2751830" cy="324298"/>
          </a:xfrm>
          <a:prstGeom prst="rect">
            <a:avLst/>
          </a:prstGeom>
        </p:spPr>
        <p:txBody>
          <a:bodyPr anchor="t" rtlCol="false" tIns="0" lIns="0" bIns="0" rIns="0">
            <a:spAutoFit/>
          </a:bodyPr>
          <a:lstStyle/>
          <a:p>
            <a:pPr algn="l">
              <a:lnSpc>
                <a:spcPts val="2437"/>
              </a:lnSpc>
            </a:pPr>
            <a:r>
              <a:rPr lang="en-US" sz="1937" b="true">
                <a:solidFill>
                  <a:srgbClr val="DAD8E9"/>
                </a:solidFill>
                <a:latin typeface="Prompt Medium"/>
                <a:ea typeface="Prompt Medium"/>
                <a:cs typeface="Prompt Medium"/>
                <a:sym typeface="Prompt Medium"/>
              </a:rPr>
              <a:t>Lower-Bound Clipping</a:t>
            </a:r>
          </a:p>
        </p:txBody>
      </p:sp>
      <p:sp>
        <p:nvSpPr>
          <p:cNvPr name="TextBox 31" id="31"/>
          <p:cNvSpPr txBox="true"/>
          <p:nvPr/>
        </p:nvSpPr>
        <p:spPr>
          <a:xfrm rot="0">
            <a:off x="3295355" y="5827071"/>
            <a:ext cx="12543682" cy="352577"/>
          </a:xfrm>
          <a:prstGeom prst="rect">
            <a:avLst/>
          </a:prstGeom>
        </p:spPr>
        <p:txBody>
          <a:bodyPr anchor="t" rtlCol="false" tIns="0" lIns="0" bIns="0" rIns="0">
            <a:spAutoFit/>
          </a:bodyPr>
          <a:lstStyle/>
          <a:p>
            <a:pPr algn="l">
              <a:lnSpc>
                <a:spcPts val="2437"/>
              </a:lnSpc>
            </a:pPr>
            <a:r>
              <a:rPr lang="en-US" sz="1750">
                <a:solidFill>
                  <a:srgbClr val="DAD8E9"/>
                </a:solidFill>
                <a:latin typeface="Mukta Light"/>
                <a:ea typeface="Mukta Light"/>
                <a:cs typeface="Mukta Light"/>
                <a:sym typeface="Mukta Light"/>
              </a:rPr>
              <a:t>Minimum transmission threshold applied to suppress noise in dense-haze regions.</a:t>
            </a:r>
          </a:p>
        </p:txBody>
      </p:sp>
      <p:grpSp>
        <p:nvGrpSpPr>
          <p:cNvPr name="Group 32" id="32"/>
          <p:cNvGrpSpPr/>
          <p:nvPr/>
        </p:nvGrpSpPr>
        <p:grpSpPr>
          <a:xfrm rot="0">
            <a:off x="2179587" y="6707391"/>
            <a:ext cx="13928827" cy="1388269"/>
            <a:chOff x="0" y="0"/>
            <a:chExt cx="18571769" cy="1851025"/>
          </a:xfrm>
        </p:grpSpPr>
        <p:sp>
          <p:nvSpPr>
            <p:cNvPr name="Freeform 33" id="33"/>
            <p:cNvSpPr/>
            <p:nvPr/>
          </p:nvSpPr>
          <p:spPr>
            <a:xfrm flipH="false" flipV="false" rot="0">
              <a:off x="19050" y="19050"/>
              <a:ext cx="18533619" cy="1812925"/>
            </a:xfrm>
            <a:custGeom>
              <a:avLst/>
              <a:gdLst/>
              <a:ahLst/>
              <a:cxnLst/>
              <a:rect r="r" b="b" t="t" l="l"/>
              <a:pathLst>
                <a:path h="1812925" w="18533619">
                  <a:moveTo>
                    <a:pt x="0" y="126873"/>
                  </a:moveTo>
                  <a:cubicBezTo>
                    <a:pt x="0" y="56769"/>
                    <a:pt x="57912" y="0"/>
                    <a:pt x="129286" y="0"/>
                  </a:cubicBezTo>
                  <a:lnTo>
                    <a:pt x="18404332" y="0"/>
                  </a:lnTo>
                  <a:cubicBezTo>
                    <a:pt x="18475706" y="0"/>
                    <a:pt x="18533619" y="56769"/>
                    <a:pt x="18533619" y="126873"/>
                  </a:cubicBezTo>
                  <a:lnTo>
                    <a:pt x="18533619" y="1686052"/>
                  </a:lnTo>
                  <a:cubicBezTo>
                    <a:pt x="18533619" y="1756156"/>
                    <a:pt x="18475706" y="1812925"/>
                    <a:pt x="18404332" y="1812925"/>
                  </a:cubicBezTo>
                  <a:lnTo>
                    <a:pt x="129286" y="1812925"/>
                  </a:lnTo>
                  <a:cubicBezTo>
                    <a:pt x="57912" y="1812925"/>
                    <a:pt x="0" y="1756156"/>
                    <a:pt x="0" y="1686052"/>
                  </a:cubicBezTo>
                  <a:close/>
                </a:path>
              </a:pathLst>
            </a:custGeom>
            <a:solidFill>
              <a:srgbClr val="0B0C23">
                <a:alpha val="90196"/>
              </a:srgbClr>
            </a:solidFill>
          </p:spPr>
        </p:sp>
        <p:sp>
          <p:nvSpPr>
            <p:cNvPr name="Freeform 34" id="34"/>
            <p:cNvSpPr/>
            <p:nvPr/>
          </p:nvSpPr>
          <p:spPr>
            <a:xfrm flipH="false" flipV="false" rot="0">
              <a:off x="0" y="0"/>
              <a:ext cx="18571719" cy="1851025"/>
            </a:xfrm>
            <a:custGeom>
              <a:avLst/>
              <a:gdLst/>
              <a:ahLst/>
              <a:cxnLst/>
              <a:rect r="r" b="b" t="t" l="l"/>
              <a:pathLst>
                <a:path h="1851025" w="18571719">
                  <a:moveTo>
                    <a:pt x="0" y="145923"/>
                  </a:moveTo>
                  <a:cubicBezTo>
                    <a:pt x="0" y="65024"/>
                    <a:pt x="66802" y="0"/>
                    <a:pt x="148336" y="0"/>
                  </a:cubicBezTo>
                  <a:lnTo>
                    <a:pt x="18423382" y="0"/>
                  </a:lnTo>
                  <a:lnTo>
                    <a:pt x="18423382" y="19050"/>
                  </a:lnTo>
                  <a:lnTo>
                    <a:pt x="18423382" y="0"/>
                  </a:lnTo>
                  <a:cubicBezTo>
                    <a:pt x="18505044" y="0"/>
                    <a:pt x="18571719" y="65024"/>
                    <a:pt x="18571719" y="145923"/>
                  </a:cubicBezTo>
                  <a:lnTo>
                    <a:pt x="18552669" y="145923"/>
                  </a:lnTo>
                  <a:lnTo>
                    <a:pt x="18571719" y="145923"/>
                  </a:lnTo>
                  <a:lnTo>
                    <a:pt x="18571719" y="1705102"/>
                  </a:lnTo>
                  <a:lnTo>
                    <a:pt x="18552669" y="1705102"/>
                  </a:lnTo>
                  <a:lnTo>
                    <a:pt x="18571719" y="1705102"/>
                  </a:lnTo>
                  <a:cubicBezTo>
                    <a:pt x="18571719" y="1786001"/>
                    <a:pt x="18504917" y="1851025"/>
                    <a:pt x="18423382" y="1851025"/>
                  </a:cubicBezTo>
                  <a:lnTo>
                    <a:pt x="18423382" y="1831975"/>
                  </a:lnTo>
                  <a:lnTo>
                    <a:pt x="18423382" y="1851025"/>
                  </a:lnTo>
                  <a:lnTo>
                    <a:pt x="148336" y="1851025"/>
                  </a:lnTo>
                  <a:lnTo>
                    <a:pt x="148336" y="1831975"/>
                  </a:lnTo>
                  <a:lnTo>
                    <a:pt x="148336" y="1851025"/>
                  </a:lnTo>
                  <a:cubicBezTo>
                    <a:pt x="66802" y="1851025"/>
                    <a:pt x="0" y="1786001"/>
                    <a:pt x="0" y="1705102"/>
                  </a:cubicBezTo>
                  <a:lnTo>
                    <a:pt x="0" y="145923"/>
                  </a:lnTo>
                  <a:lnTo>
                    <a:pt x="19050" y="145923"/>
                  </a:lnTo>
                  <a:lnTo>
                    <a:pt x="0" y="145923"/>
                  </a:lnTo>
                  <a:moveTo>
                    <a:pt x="38100" y="145923"/>
                  </a:moveTo>
                  <a:lnTo>
                    <a:pt x="38100" y="1705102"/>
                  </a:lnTo>
                  <a:lnTo>
                    <a:pt x="19050" y="1705102"/>
                  </a:lnTo>
                  <a:lnTo>
                    <a:pt x="38100" y="1705102"/>
                  </a:lnTo>
                  <a:cubicBezTo>
                    <a:pt x="38100" y="1764284"/>
                    <a:pt x="87122" y="1812925"/>
                    <a:pt x="148336" y="1812925"/>
                  </a:cubicBezTo>
                  <a:lnTo>
                    <a:pt x="18423382" y="1812925"/>
                  </a:lnTo>
                  <a:cubicBezTo>
                    <a:pt x="18484596" y="1812925"/>
                    <a:pt x="18533619" y="1764284"/>
                    <a:pt x="18533619" y="1705102"/>
                  </a:cubicBezTo>
                  <a:lnTo>
                    <a:pt x="18533619" y="145923"/>
                  </a:lnTo>
                  <a:cubicBezTo>
                    <a:pt x="18533619" y="86741"/>
                    <a:pt x="18484596" y="38100"/>
                    <a:pt x="18423382" y="38100"/>
                  </a:cubicBezTo>
                  <a:lnTo>
                    <a:pt x="148336" y="38100"/>
                  </a:lnTo>
                  <a:lnTo>
                    <a:pt x="148336" y="19050"/>
                  </a:lnTo>
                  <a:lnTo>
                    <a:pt x="148336" y="38100"/>
                  </a:lnTo>
                  <a:cubicBezTo>
                    <a:pt x="87122" y="38100"/>
                    <a:pt x="38100" y="86741"/>
                    <a:pt x="38100" y="145923"/>
                  </a:cubicBezTo>
                  <a:close/>
                </a:path>
              </a:pathLst>
            </a:custGeom>
            <a:solidFill>
              <a:srgbClr val="6D4562"/>
            </a:solidFill>
          </p:spPr>
        </p:sp>
      </p:grpSp>
      <p:grpSp>
        <p:nvGrpSpPr>
          <p:cNvPr name="Group 35" id="35"/>
          <p:cNvGrpSpPr/>
          <p:nvPr/>
        </p:nvGrpSpPr>
        <p:grpSpPr>
          <a:xfrm rot="0">
            <a:off x="2222449" y="6750253"/>
            <a:ext cx="906513" cy="1302544"/>
            <a:chOff x="0" y="0"/>
            <a:chExt cx="1208684" cy="1736725"/>
          </a:xfrm>
        </p:grpSpPr>
        <p:sp>
          <p:nvSpPr>
            <p:cNvPr name="Freeform 36" id="36"/>
            <p:cNvSpPr/>
            <p:nvPr/>
          </p:nvSpPr>
          <p:spPr>
            <a:xfrm flipH="false" flipV="false" rot="0">
              <a:off x="0" y="0"/>
              <a:ext cx="1208659" cy="1736725"/>
            </a:xfrm>
            <a:custGeom>
              <a:avLst/>
              <a:gdLst/>
              <a:ahLst/>
              <a:cxnLst/>
              <a:rect r="r" b="b" t="t" l="l"/>
              <a:pathLst>
                <a:path h="1736725" w="1208659">
                  <a:moveTo>
                    <a:pt x="0" y="81153"/>
                  </a:moveTo>
                  <a:cubicBezTo>
                    <a:pt x="0" y="36322"/>
                    <a:pt x="36322" y="0"/>
                    <a:pt x="81153" y="0"/>
                  </a:cubicBezTo>
                  <a:lnTo>
                    <a:pt x="1127506" y="0"/>
                  </a:lnTo>
                  <a:cubicBezTo>
                    <a:pt x="1172337" y="0"/>
                    <a:pt x="1208659" y="36322"/>
                    <a:pt x="1208659" y="81153"/>
                  </a:cubicBezTo>
                  <a:lnTo>
                    <a:pt x="1208659" y="1655572"/>
                  </a:lnTo>
                  <a:cubicBezTo>
                    <a:pt x="1208659" y="1700403"/>
                    <a:pt x="1172337" y="1736725"/>
                    <a:pt x="1127506" y="1736725"/>
                  </a:cubicBezTo>
                  <a:lnTo>
                    <a:pt x="81153" y="1736725"/>
                  </a:lnTo>
                  <a:cubicBezTo>
                    <a:pt x="36322" y="1736725"/>
                    <a:pt x="0" y="1700403"/>
                    <a:pt x="0" y="1655572"/>
                  </a:cubicBezTo>
                  <a:close/>
                </a:path>
              </a:pathLst>
            </a:custGeom>
            <a:solidFill>
              <a:srgbClr val="542C49"/>
            </a:solidFill>
          </p:spPr>
        </p:sp>
      </p:grpSp>
      <p:sp>
        <p:nvSpPr>
          <p:cNvPr name="TextBox 37" id="37"/>
          <p:cNvSpPr txBox="true"/>
          <p:nvPr/>
        </p:nvSpPr>
        <p:spPr>
          <a:xfrm rot="0">
            <a:off x="2500903" y="7236619"/>
            <a:ext cx="339928" cy="377276"/>
          </a:xfrm>
          <a:prstGeom prst="rect">
            <a:avLst/>
          </a:prstGeom>
        </p:spPr>
        <p:txBody>
          <a:bodyPr anchor="t" rtlCol="false" tIns="0" lIns="0" bIns="0" rIns="0">
            <a:spAutoFit/>
          </a:bodyPr>
          <a:lstStyle/>
          <a:p>
            <a:pPr algn="l">
              <a:lnSpc>
                <a:spcPts val="2625"/>
              </a:lnSpc>
            </a:pPr>
            <a:r>
              <a:rPr lang="en-US" sz="2625" b="true">
                <a:solidFill>
                  <a:srgbClr val="DAD8E9"/>
                </a:solidFill>
                <a:latin typeface="Prompt Medium"/>
                <a:ea typeface="Prompt Medium"/>
                <a:cs typeface="Prompt Medium"/>
                <a:sym typeface="Prompt Medium"/>
              </a:rPr>
              <a:t>4</a:t>
            </a:r>
          </a:p>
        </p:txBody>
      </p:sp>
      <p:sp>
        <p:nvSpPr>
          <p:cNvPr name="TextBox 38" id="38"/>
          <p:cNvSpPr txBox="true"/>
          <p:nvPr/>
        </p:nvSpPr>
        <p:spPr>
          <a:xfrm rot="0">
            <a:off x="3295355" y="6967242"/>
            <a:ext cx="2518172" cy="324298"/>
          </a:xfrm>
          <a:prstGeom prst="rect">
            <a:avLst/>
          </a:prstGeom>
        </p:spPr>
        <p:txBody>
          <a:bodyPr anchor="t" rtlCol="false" tIns="0" lIns="0" bIns="0" rIns="0">
            <a:spAutoFit/>
          </a:bodyPr>
          <a:lstStyle/>
          <a:p>
            <a:pPr algn="l">
              <a:lnSpc>
                <a:spcPts val="2437"/>
              </a:lnSpc>
            </a:pPr>
            <a:r>
              <a:rPr lang="en-US" sz="1937" b="true">
                <a:solidFill>
                  <a:srgbClr val="DAD8E9"/>
                </a:solidFill>
                <a:latin typeface="Prompt Medium"/>
                <a:ea typeface="Prompt Medium"/>
                <a:cs typeface="Prompt Medium"/>
                <a:sym typeface="Prompt Medium"/>
              </a:rPr>
              <a:t>Gamma Correction</a:t>
            </a:r>
          </a:p>
        </p:txBody>
      </p:sp>
      <p:sp>
        <p:nvSpPr>
          <p:cNvPr name="TextBox 39" id="39"/>
          <p:cNvSpPr txBox="true"/>
          <p:nvPr/>
        </p:nvSpPr>
        <p:spPr>
          <a:xfrm rot="0">
            <a:off x="3295355" y="7353148"/>
            <a:ext cx="12543682" cy="352577"/>
          </a:xfrm>
          <a:prstGeom prst="rect">
            <a:avLst/>
          </a:prstGeom>
        </p:spPr>
        <p:txBody>
          <a:bodyPr anchor="t" rtlCol="false" tIns="0" lIns="0" bIns="0" rIns="0">
            <a:spAutoFit/>
          </a:bodyPr>
          <a:lstStyle/>
          <a:p>
            <a:pPr algn="l">
              <a:lnSpc>
                <a:spcPts val="2437"/>
              </a:lnSpc>
            </a:pPr>
            <a:r>
              <a:rPr lang="en-US" sz="1750">
                <a:solidFill>
                  <a:srgbClr val="DAD8E9"/>
                </a:solidFill>
                <a:latin typeface="Mukta Light"/>
                <a:ea typeface="Mukta Light"/>
                <a:cs typeface="Mukta Light"/>
                <a:sym typeface="Mukta Light"/>
              </a:rPr>
              <a:t>Non-linear brightness adjustment restores perceptual luminance balance.</a:t>
            </a:r>
          </a:p>
        </p:txBody>
      </p:sp>
      <p:grpSp>
        <p:nvGrpSpPr>
          <p:cNvPr name="Group 40" id="40"/>
          <p:cNvGrpSpPr/>
          <p:nvPr/>
        </p:nvGrpSpPr>
        <p:grpSpPr>
          <a:xfrm rot="0">
            <a:off x="2179587" y="8233467"/>
            <a:ext cx="13928827" cy="1388269"/>
            <a:chOff x="0" y="0"/>
            <a:chExt cx="18571769" cy="1851025"/>
          </a:xfrm>
        </p:grpSpPr>
        <p:sp>
          <p:nvSpPr>
            <p:cNvPr name="Freeform 41" id="41"/>
            <p:cNvSpPr/>
            <p:nvPr/>
          </p:nvSpPr>
          <p:spPr>
            <a:xfrm flipH="false" flipV="false" rot="0">
              <a:off x="19050" y="19050"/>
              <a:ext cx="18533619" cy="1812925"/>
            </a:xfrm>
            <a:custGeom>
              <a:avLst/>
              <a:gdLst/>
              <a:ahLst/>
              <a:cxnLst/>
              <a:rect r="r" b="b" t="t" l="l"/>
              <a:pathLst>
                <a:path h="1812925" w="18533619">
                  <a:moveTo>
                    <a:pt x="0" y="126873"/>
                  </a:moveTo>
                  <a:cubicBezTo>
                    <a:pt x="0" y="56769"/>
                    <a:pt x="57912" y="0"/>
                    <a:pt x="129286" y="0"/>
                  </a:cubicBezTo>
                  <a:lnTo>
                    <a:pt x="18404332" y="0"/>
                  </a:lnTo>
                  <a:cubicBezTo>
                    <a:pt x="18475706" y="0"/>
                    <a:pt x="18533619" y="56769"/>
                    <a:pt x="18533619" y="126873"/>
                  </a:cubicBezTo>
                  <a:lnTo>
                    <a:pt x="18533619" y="1686052"/>
                  </a:lnTo>
                  <a:cubicBezTo>
                    <a:pt x="18533619" y="1756156"/>
                    <a:pt x="18475706" y="1812925"/>
                    <a:pt x="18404332" y="1812925"/>
                  </a:cubicBezTo>
                  <a:lnTo>
                    <a:pt x="129286" y="1812925"/>
                  </a:lnTo>
                  <a:cubicBezTo>
                    <a:pt x="57912" y="1812925"/>
                    <a:pt x="0" y="1756156"/>
                    <a:pt x="0" y="1686052"/>
                  </a:cubicBezTo>
                  <a:close/>
                </a:path>
              </a:pathLst>
            </a:custGeom>
            <a:solidFill>
              <a:srgbClr val="0B0C23">
                <a:alpha val="90196"/>
              </a:srgbClr>
            </a:solidFill>
          </p:spPr>
        </p:sp>
        <p:sp>
          <p:nvSpPr>
            <p:cNvPr name="Freeform 42" id="42"/>
            <p:cNvSpPr/>
            <p:nvPr/>
          </p:nvSpPr>
          <p:spPr>
            <a:xfrm flipH="false" flipV="false" rot="0">
              <a:off x="0" y="0"/>
              <a:ext cx="18571719" cy="1851025"/>
            </a:xfrm>
            <a:custGeom>
              <a:avLst/>
              <a:gdLst/>
              <a:ahLst/>
              <a:cxnLst/>
              <a:rect r="r" b="b" t="t" l="l"/>
              <a:pathLst>
                <a:path h="1851025" w="18571719">
                  <a:moveTo>
                    <a:pt x="0" y="145923"/>
                  </a:moveTo>
                  <a:cubicBezTo>
                    <a:pt x="0" y="65024"/>
                    <a:pt x="66802" y="0"/>
                    <a:pt x="148336" y="0"/>
                  </a:cubicBezTo>
                  <a:lnTo>
                    <a:pt x="18423382" y="0"/>
                  </a:lnTo>
                  <a:lnTo>
                    <a:pt x="18423382" y="19050"/>
                  </a:lnTo>
                  <a:lnTo>
                    <a:pt x="18423382" y="0"/>
                  </a:lnTo>
                  <a:cubicBezTo>
                    <a:pt x="18505044" y="0"/>
                    <a:pt x="18571719" y="65024"/>
                    <a:pt x="18571719" y="145923"/>
                  </a:cubicBezTo>
                  <a:lnTo>
                    <a:pt x="18552669" y="145923"/>
                  </a:lnTo>
                  <a:lnTo>
                    <a:pt x="18571719" y="145923"/>
                  </a:lnTo>
                  <a:lnTo>
                    <a:pt x="18571719" y="1705102"/>
                  </a:lnTo>
                  <a:lnTo>
                    <a:pt x="18552669" y="1705102"/>
                  </a:lnTo>
                  <a:lnTo>
                    <a:pt x="18571719" y="1705102"/>
                  </a:lnTo>
                  <a:cubicBezTo>
                    <a:pt x="18571719" y="1786001"/>
                    <a:pt x="18504917" y="1851025"/>
                    <a:pt x="18423382" y="1851025"/>
                  </a:cubicBezTo>
                  <a:lnTo>
                    <a:pt x="18423382" y="1831975"/>
                  </a:lnTo>
                  <a:lnTo>
                    <a:pt x="18423382" y="1851025"/>
                  </a:lnTo>
                  <a:lnTo>
                    <a:pt x="148336" y="1851025"/>
                  </a:lnTo>
                  <a:lnTo>
                    <a:pt x="148336" y="1831975"/>
                  </a:lnTo>
                  <a:lnTo>
                    <a:pt x="148336" y="1851025"/>
                  </a:lnTo>
                  <a:cubicBezTo>
                    <a:pt x="66802" y="1851025"/>
                    <a:pt x="0" y="1786001"/>
                    <a:pt x="0" y="1705102"/>
                  </a:cubicBezTo>
                  <a:lnTo>
                    <a:pt x="0" y="145923"/>
                  </a:lnTo>
                  <a:lnTo>
                    <a:pt x="19050" y="145923"/>
                  </a:lnTo>
                  <a:lnTo>
                    <a:pt x="0" y="145923"/>
                  </a:lnTo>
                  <a:moveTo>
                    <a:pt x="38100" y="145923"/>
                  </a:moveTo>
                  <a:lnTo>
                    <a:pt x="38100" y="1705102"/>
                  </a:lnTo>
                  <a:lnTo>
                    <a:pt x="19050" y="1705102"/>
                  </a:lnTo>
                  <a:lnTo>
                    <a:pt x="38100" y="1705102"/>
                  </a:lnTo>
                  <a:cubicBezTo>
                    <a:pt x="38100" y="1764284"/>
                    <a:pt x="87122" y="1812925"/>
                    <a:pt x="148336" y="1812925"/>
                  </a:cubicBezTo>
                  <a:lnTo>
                    <a:pt x="18423382" y="1812925"/>
                  </a:lnTo>
                  <a:cubicBezTo>
                    <a:pt x="18484596" y="1812925"/>
                    <a:pt x="18533619" y="1764284"/>
                    <a:pt x="18533619" y="1705102"/>
                  </a:cubicBezTo>
                  <a:lnTo>
                    <a:pt x="18533619" y="145923"/>
                  </a:lnTo>
                  <a:cubicBezTo>
                    <a:pt x="18533619" y="86741"/>
                    <a:pt x="18484596" y="38100"/>
                    <a:pt x="18423382" y="38100"/>
                  </a:cubicBezTo>
                  <a:lnTo>
                    <a:pt x="148336" y="38100"/>
                  </a:lnTo>
                  <a:lnTo>
                    <a:pt x="148336" y="19050"/>
                  </a:lnTo>
                  <a:lnTo>
                    <a:pt x="148336" y="38100"/>
                  </a:lnTo>
                  <a:cubicBezTo>
                    <a:pt x="87122" y="38100"/>
                    <a:pt x="38100" y="86741"/>
                    <a:pt x="38100" y="145923"/>
                  </a:cubicBezTo>
                  <a:close/>
                </a:path>
              </a:pathLst>
            </a:custGeom>
            <a:solidFill>
              <a:srgbClr val="6D4562"/>
            </a:solidFill>
          </p:spPr>
        </p:sp>
      </p:grpSp>
      <p:grpSp>
        <p:nvGrpSpPr>
          <p:cNvPr name="Group 43" id="43"/>
          <p:cNvGrpSpPr/>
          <p:nvPr/>
        </p:nvGrpSpPr>
        <p:grpSpPr>
          <a:xfrm rot="0">
            <a:off x="2222449" y="8276330"/>
            <a:ext cx="906513" cy="1302544"/>
            <a:chOff x="0" y="0"/>
            <a:chExt cx="1208684" cy="1736725"/>
          </a:xfrm>
        </p:grpSpPr>
        <p:sp>
          <p:nvSpPr>
            <p:cNvPr name="Freeform 44" id="44"/>
            <p:cNvSpPr/>
            <p:nvPr/>
          </p:nvSpPr>
          <p:spPr>
            <a:xfrm flipH="false" flipV="false" rot="0">
              <a:off x="0" y="0"/>
              <a:ext cx="1208659" cy="1736725"/>
            </a:xfrm>
            <a:custGeom>
              <a:avLst/>
              <a:gdLst/>
              <a:ahLst/>
              <a:cxnLst/>
              <a:rect r="r" b="b" t="t" l="l"/>
              <a:pathLst>
                <a:path h="1736725" w="1208659">
                  <a:moveTo>
                    <a:pt x="0" y="81153"/>
                  </a:moveTo>
                  <a:cubicBezTo>
                    <a:pt x="0" y="36322"/>
                    <a:pt x="36322" y="0"/>
                    <a:pt x="81153" y="0"/>
                  </a:cubicBezTo>
                  <a:lnTo>
                    <a:pt x="1127506" y="0"/>
                  </a:lnTo>
                  <a:cubicBezTo>
                    <a:pt x="1172337" y="0"/>
                    <a:pt x="1208659" y="36322"/>
                    <a:pt x="1208659" y="81153"/>
                  </a:cubicBezTo>
                  <a:lnTo>
                    <a:pt x="1208659" y="1655572"/>
                  </a:lnTo>
                  <a:cubicBezTo>
                    <a:pt x="1208659" y="1700403"/>
                    <a:pt x="1172337" y="1736725"/>
                    <a:pt x="1127506" y="1736725"/>
                  </a:cubicBezTo>
                  <a:lnTo>
                    <a:pt x="81153" y="1736725"/>
                  </a:lnTo>
                  <a:cubicBezTo>
                    <a:pt x="36322" y="1736725"/>
                    <a:pt x="0" y="1700403"/>
                    <a:pt x="0" y="1655572"/>
                  </a:cubicBezTo>
                  <a:close/>
                </a:path>
              </a:pathLst>
            </a:custGeom>
            <a:solidFill>
              <a:srgbClr val="542C49"/>
            </a:solidFill>
          </p:spPr>
        </p:sp>
      </p:grpSp>
      <p:sp>
        <p:nvSpPr>
          <p:cNvPr name="TextBox 45" id="45"/>
          <p:cNvSpPr txBox="true"/>
          <p:nvPr/>
        </p:nvSpPr>
        <p:spPr>
          <a:xfrm rot="0">
            <a:off x="2500903" y="8762705"/>
            <a:ext cx="339928" cy="377276"/>
          </a:xfrm>
          <a:prstGeom prst="rect">
            <a:avLst/>
          </a:prstGeom>
        </p:spPr>
        <p:txBody>
          <a:bodyPr anchor="t" rtlCol="false" tIns="0" lIns="0" bIns="0" rIns="0">
            <a:spAutoFit/>
          </a:bodyPr>
          <a:lstStyle/>
          <a:p>
            <a:pPr algn="l">
              <a:lnSpc>
                <a:spcPts val="2625"/>
              </a:lnSpc>
            </a:pPr>
            <a:r>
              <a:rPr lang="en-US" sz="2625" b="true">
                <a:solidFill>
                  <a:srgbClr val="DAD8E9"/>
                </a:solidFill>
                <a:latin typeface="Prompt Medium"/>
                <a:ea typeface="Prompt Medium"/>
                <a:cs typeface="Prompt Medium"/>
                <a:sym typeface="Prompt Medium"/>
              </a:rPr>
              <a:t>5</a:t>
            </a:r>
          </a:p>
        </p:txBody>
      </p:sp>
      <p:sp>
        <p:nvSpPr>
          <p:cNvPr name="TextBox 46" id="46"/>
          <p:cNvSpPr txBox="true"/>
          <p:nvPr/>
        </p:nvSpPr>
        <p:spPr>
          <a:xfrm rot="0">
            <a:off x="3295355" y="8493328"/>
            <a:ext cx="2518172" cy="324298"/>
          </a:xfrm>
          <a:prstGeom prst="rect">
            <a:avLst/>
          </a:prstGeom>
        </p:spPr>
        <p:txBody>
          <a:bodyPr anchor="t" rtlCol="false" tIns="0" lIns="0" bIns="0" rIns="0">
            <a:spAutoFit/>
          </a:bodyPr>
          <a:lstStyle/>
          <a:p>
            <a:pPr algn="l">
              <a:lnSpc>
                <a:spcPts val="2437"/>
              </a:lnSpc>
            </a:pPr>
            <a:r>
              <a:rPr lang="en-US" sz="1937" b="true">
                <a:solidFill>
                  <a:srgbClr val="DAD8E9"/>
                </a:solidFill>
                <a:latin typeface="Prompt Medium"/>
                <a:ea typeface="Prompt Medium"/>
                <a:cs typeface="Prompt Medium"/>
                <a:sym typeface="Prompt Medium"/>
              </a:rPr>
              <a:t>Mild Sharpening</a:t>
            </a:r>
          </a:p>
        </p:txBody>
      </p:sp>
      <p:sp>
        <p:nvSpPr>
          <p:cNvPr name="TextBox 47" id="47"/>
          <p:cNvSpPr txBox="true"/>
          <p:nvPr/>
        </p:nvSpPr>
        <p:spPr>
          <a:xfrm rot="0">
            <a:off x="3295355" y="8879234"/>
            <a:ext cx="12543682" cy="352577"/>
          </a:xfrm>
          <a:prstGeom prst="rect">
            <a:avLst/>
          </a:prstGeom>
        </p:spPr>
        <p:txBody>
          <a:bodyPr anchor="t" rtlCol="false" tIns="0" lIns="0" bIns="0" rIns="0">
            <a:spAutoFit/>
          </a:bodyPr>
          <a:lstStyle/>
          <a:p>
            <a:pPr algn="l">
              <a:lnSpc>
                <a:spcPts val="2437"/>
              </a:lnSpc>
            </a:pPr>
            <a:r>
              <a:rPr lang="en-US" sz="1750">
                <a:solidFill>
                  <a:srgbClr val="DAD8E9"/>
                </a:solidFill>
                <a:latin typeface="Mukta Light"/>
                <a:ea typeface="Mukta Light"/>
                <a:cs typeface="Mukta Light"/>
                <a:sym typeface="Mukta Light"/>
              </a:rPr>
              <a:t>Unsharp masking applied post-recovery to enhance edge clarity.</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preencoded.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0B0C23">
                <a:alpha val="90196"/>
              </a:srgbClr>
            </a:solidFill>
          </p:spPr>
        </p:sp>
      </p:grpSp>
      <p:sp>
        <p:nvSpPr>
          <p:cNvPr name="TextBox 6" id="6"/>
          <p:cNvSpPr txBox="true"/>
          <p:nvPr/>
        </p:nvSpPr>
        <p:spPr>
          <a:xfrm rot="0">
            <a:off x="1306563" y="755009"/>
            <a:ext cx="11125048" cy="728958"/>
          </a:xfrm>
          <a:prstGeom prst="rect">
            <a:avLst/>
          </a:prstGeom>
        </p:spPr>
        <p:txBody>
          <a:bodyPr anchor="t" rtlCol="false" tIns="0" lIns="0" bIns="0" rIns="0">
            <a:spAutoFit/>
          </a:bodyPr>
          <a:lstStyle/>
          <a:p>
            <a:pPr algn="l">
              <a:lnSpc>
                <a:spcPts val="5562"/>
              </a:lnSpc>
            </a:pPr>
            <a:r>
              <a:rPr lang="en-US" sz="4437" b="true">
                <a:solidFill>
                  <a:srgbClr val="C6BFEE"/>
                </a:solidFill>
                <a:latin typeface="Prompt Medium"/>
                <a:ea typeface="Prompt Medium"/>
                <a:cs typeface="Prompt Medium"/>
                <a:sym typeface="Prompt Medium"/>
              </a:rPr>
              <a:t>Checkpoint Evolution: PSNR Progression</a:t>
            </a:r>
          </a:p>
        </p:txBody>
      </p:sp>
      <p:grpSp>
        <p:nvGrpSpPr>
          <p:cNvPr name="Group 7" id="7"/>
          <p:cNvGrpSpPr/>
          <p:nvPr/>
        </p:nvGrpSpPr>
        <p:grpSpPr>
          <a:xfrm rot="0">
            <a:off x="1306563" y="2039388"/>
            <a:ext cx="9970294" cy="5408857"/>
            <a:chOff x="0" y="0"/>
            <a:chExt cx="13293725" cy="7211809"/>
          </a:xfrm>
        </p:grpSpPr>
        <p:sp>
          <p:nvSpPr>
            <p:cNvPr name="Freeform 8" id="8" descr="preencoded.png"/>
            <p:cNvSpPr/>
            <p:nvPr/>
          </p:nvSpPr>
          <p:spPr>
            <a:xfrm flipH="false" flipV="false" rot="0">
              <a:off x="0" y="0"/>
              <a:ext cx="13293725" cy="7211822"/>
            </a:xfrm>
            <a:custGeom>
              <a:avLst/>
              <a:gdLst/>
              <a:ahLst/>
              <a:cxnLst/>
              <a:rect r="r" b="b" t="t" l="l"/>
              <a:pathLst>
                <a:path h="7211822" w="13293725">
                  <a:moveTo>
                    <a:pt x="0" y="0"/>
                  </a:moveTo>
                  <a:lnTo>
                    <a:pt x="13293725" y="0"/>
                  </a:lnTo>
                  <a:lnTo>
                    <a:pt x="13293725" y="7211822"/>
                  </a:lnTo>
                  <a:lnTo>
                    <a:pt x="0" y="7211822"/>
                  </a:lnTo>
                  <a:lnTo>
                    <a:pt x="0" y="0"/>
                  </a:lnTo>
                  <a:close/>
                </a:path>
              </a:pathLst>
            </a:custGeom>
            <a:blipFill>
              <a:blip r:embed="rId4"/>
              <a:stretch>
                <a:fillRect l="0" t="0" r="0" b="0"/>
              </a:stretch>
            </a:blipFill>
          </p:spPr>
        </p:sp>
      </p:grpSp>
      <p:sp>
        <p:nvSpPr>
          <p:cNvPr name="TextBox 9" id="9"/>
          <p:cNvSpPr txBox="true"/>
          <p:nvPr/>
        </p:nvSpPr>
        <p:spPr>
          <a:xfrm rot="0">
            <a:off x="2285600" y="5654764"/>
            <a:ext cx="204102" cy="120015"/>
          </a:xfrm>
          <a:prstGeom prst="rect">
            <a:avLst/>
          </a:prstGeom>
        </p:spPr>
        <p:txBody>
          <a:bodyPr anchor="t" rtlCol="false" tIns="0" lIns="0" bIns="0" rIns="0">
            <a:spAutoFit/>
          </a:bodyPr>
          <a:lstStyle/>
          <a:p>
            <a:pPr algn="l">
              <a:lnSpc>
                <a:spcPts val="812"/>
              </a:lnSpc>
            </a:pPr>
            <a:r>
              <a:rPr lang="en-US" sz="812">
                <a:solidFill>
                  <a:srgbClr val="FFFFFF"/>
                </a:solidFill>
                <a:latin typeface="Arimo"/>
                <a:ea typeface="Arimo"/>
                <a:cs typeface="Arimo"/>
                <a:sym typeface="Arimo"/>
              </a:rPr>
              <a:t>10.8</a:t>
            </a:r>
          </a:p>
        </p:txBody>
      </p:sp>
      <p:sp>
        <p:nvSpPr>
          <p:cNvPr name="TextBox 10" id="10"/>
          <p:cNvSpPr txBox="true"/>
          <p:nvPr/>
        </p:nvSpPr>
        <p:spPr>
          <a:xfrm rot="0">
            <a:off x="4219175" y="4608328"/>
            <a:ext cx="204102" cy="120015"/>
          </a:xfrm>
          <a:prstGeom prst="rect">
            <a:avLst/>
          </a:prstGeom>
        </p:spPr>
        <p:txBody>
          <a:bodyPr anchor="t" rtlCol="false" tIns="0" lIns="0" bIns="0" rIns="0">
            <a:spAutoFit/>
          </a:bodyPr>
          <a:lstStyle/>
          <a:p>
            <a:pPr algn="l">
              <a:lnSpc>
                <a:spcPts val="812"/>
              </a:lnSpc>
            </a:pPr>
            <a:r>
              <a:rPr lang="en-US" sz="812">
                <a:solidFill>
                  <a:srgbClr val="FFFFFF"/>
                </a:solidFill>
                <a:latin typeface="Arimo"/>
                <a:ea typeface="Arimo"/>
                <a:cs typeface="Arimo"/>
                <a:sym typeface="Arimo"/>
              </a:rPr>
              <a:t>12.6</a:t>
            </a:r>
          </a:p>
        </p:txBody>
      </p:sp>
      <p:sp>
        <p:nvSpPr>
          <p:cNvPr name="TextBox 11" id="11"/>
          <p:cNvSpPr txBox="true"/>
          <p:nvPr/>
        </p:nvSpPr>
        <p:spPr>
          <a:xfrm rot="0">
            <a:off x="6196727" y="3170225"/>
            <a:ext cx="116148" cy="120015"/>
          </a:xfrm>
          <a:prstGeom prst="rect">
            <a:avLst/>
          </a:prstGeom>
        </p:spPr>
        <p:txBody>
          <a:bodyPr anchor="t" rtlCol="false" tIns="0" lIns="0" bIns="0" rIns="0">
            <a:spAutoFit/>
          </a:bodyPr>
          <a:lstStyle/>
          <a:p>
            <a:pPr algn="l">
              <a:lnSpc>
                <a:spcPts val="812"/>
              </a:lnSpc>
            </a:pPr>
            <a:r>
              <a:rPr lang="en-US" sz="812">
                <a:solidFill>
                  <a:srgbClr val="FFFFFF"/>
                </a:solidFill>
                <a:latin typeface="Arimo"/>
                <a:ea typeface="Arimo"/>
                <a:cs typeface="Arimo"/>
                <a:sym typeface="Arimo"/>
              </a:rPr>
              <a:t>15</a:t>
            </a:r>
          </a:p>
        </p:txBody>
      </p:sp>
      <p:sp>
        <p:nvSpPr>
          <p:cNvPr name="TextBox 12" id="12"/>
          <p:cNvSpPr txBox="true"/>
          <p:nvPr/>
        </p:nvSpPr>
        <p:spPr>
          <a:xfrm rot="0">
            <a:off x="8086325" y="2538860"/>
            <a:ext cx="204102" cy="120015"/>
          </a:xfrm>
          <a:prstGeom prst="rect">
            <a:avLst/>
          </a:prstGeom>
        </p:spPr>
        <p:txBody>
          <a:bodyPr anchor="t" rtlCol="false" tIns="0" lIns="0" bIns="0" rIns="0">
            <a:spAutoFit/>
          </a:bodyPr>
          <a:lstStyle/>
          <a:p>
            <a:pPr algn="l">
              <a:lnSpc>
                <a:spcPts val="812"/>
              </a:lnSpc>
            </a:pPr>
            <a:r>
              <a:rPr lang="en-US" sz="812">
                <a:solidFill>
                  <a:srgbClr val="FFFFFF"/>
                </a:solidFill>
                <a:latin typeface="Arimo"/>
                <a:ea typeface="Arimo"/>
                <a:cs typeface="Arimo"/>
                <a:sym typeface="Arimo"/>
              </a:rPr>
              <a:t>16.1</a:t>
            </a:r>
          </a:p>
        </p:txBody>
      </p:sp>
      <p:sp>
        <p:nvSpPr>
          <p:cNvPr name="TextBox 13" id="13"/>
          <p:cNvSpPr txBox="true"/>
          <p:nvPr/>
        </p:nvSpPr>
        <p:spPr>
          <a:xfrm rot="0">
            <a:off x="10019900" y="2357638"/>
            <a:ext cx="204102" cy="120015"/>
          </a:xfrm>
          <a:prstGeom prst="rect">
            <a:avLst/>
          </a:prstGeom>
        </p:spPr>
        <p:txBody>
          <a:bodyPr anchor="t" rtlCol="false" tIns="0" lIns="0" bIns="0" rIns="0">
            <a:spAutoFit/>
          </a:bodyPr>
          <a:lstStyle/>
          <a:p>
            <a:pPr algn="l">
              <a:lnSpc>
                <a:spcPts val="812"/>
              </a:lnSpc>
            </a:pPr>
            <a:r>
              <a:rPr lang="en-US" sz="812">
                <a:solidFill>
                  <a:srgbClr val="FFFFFF"/>
                </a:solidFill>
                <a:latin typeface="Arimo"/>
                <a:ea typeface="Arimo"/>
                <a:cs typeface="Arimo"/>
                <a:sym typeface="Arimo"/>
              </a:rPr>
              <a:t>16.4</a:t>
            </a:r>
          </a:p>
        </p:txBody>
      </p:sp>
      <p:sp>
        <p:nvSpPr>
          <p:cNvPr name="TextBox 14" id="14"/>
          <p:cNvSpPr txBox="true"/>
          <p:nvPr/>
        </p:nvSpPr>
        <p:spPr>
          <a:xfrm rot="0">
            <a:off x="11909669" y="2003527"/>
            <a:ext cx="2839641" cy="364484"/>
          </a:xfrm>
          <a:prstGeom prst="rect">
            <a:avLst/>
          </a:prstGeom>
        </p:spPr>
        <p:txBody>
          <a:bodyPr anchor="t" rtlCol="false" tIns="0" lIns="0" bIns="0" rIns="0">
            <a:spAutoFit/>
          </a:bodyPr>
          <a:lstStyle/>
          <a:p>
            <a:pPr algn="l">
              <a:lnSpc>
                <a:spcPts val="2750"/>
              </a:lnSpc>
            </a:pPr>
            <a:r>
              <a:rPr lang="en-US" sz="2187" b="true">
                <a:solidFill>
                  <a:srgbClr val="C6BFEE"/>
                </a:solidFill>
                <a:latin typeface="Prompt Medium"/>
                <a:ea typeface="Prompt Medium"/>
                <a:cs typeface="Prompt Medium"/>
                <a:sym typeface="Prompt Medium"/>
              </a:rPr>
              <a:t>Iterative Gains</a:t>
            </a:r>
          </a:p>
        </p:txBody>
      </p:sp>
      <p:grpSp>
        <p:nvGrpSpPr>
          <p:cNvPr name="Group 15" id="15"/>
          <p:cNvGrpSpPr/>
          <p:nvPr/>
        </p:nvGrpSpPr>
        <p:grpSpPr>
          <a:xfrm rot="0">
            <a:off x="11895382" y="2591695"/>
            <a:ext cx="5109572" cy="1537097"/>
            <a:chOff x="0" y="0"/>
            <a:chExt cx="6812763" cy="2049462"/>
          </a:xfrm>
        </p:grpSpPr>
        <p:sp>
          <p:nvSpPr>
            <p:cNvPr name="Freeform 16" id="16"/>
            <p:cNvSpPr/>
            <p:nvPr/>
          </p:nvSpPr>
          <p:spPr>
            <a:xfrm flipH="false" flipV="false" rot="0">
              <a:off x="19050" y="19050"/>
              <a:ext cx="6774688" cy="2011426"/>
            </a:xfrm>
            <a:custGeom>
              <a:avLst/>
              <a:gdLst/>
              <a:ahLst/>
              <a:cxnLst/>
              <a:rect r="r" b="b" t="t" l="l"/>
              <a:pathLst>
                <a:path h="2011426" w="6774688">
                  <a:moveTo>
                    <a:pt x="0" y="182880"/>
                  </a:moveTo>
                  <a:cubicBezTo>
                    <a:pt x="0" y="81915"/>
                    <a:pt x="82931" y="0"/>
                    <a:pt x="185293" y="0"/>
                  </a:cubicBezTo>
                  <a:lnTo>
                    <a:pt x="6589395" y="0"/>
                  </a:lnTo>
                  <a:cubicBezTo>
                    <a:pt x="6691757" y="0"/>
                    <a:pt x="6774688" y="81915"/>
                    <a:pt x="6774688" y="182880"/>
                  </a:cubicBezTo>
                  <a:lnTo>
                    <a:pt x="6774688" y="1828546"/>
                  </a:lnTo>
                  <a:cubicBezTo>
                    <a:pt x="6774688" y="1929511"/>
                    <a:pt x="6691757" y="2011426"/>
                    <a:pt x="6589395" y="2011426"/>
                  </a:cubicBezTo>
                  <a:lnTo>
                    <a:pt x="185293" y="2011426"/>
                  </a:lnTo>
                  <a:cubicBezTo>
                    <a:pt x="82931" y="2011426"/>
                    <a:pt x="0" y="1929511"/>
                    <a:pt x="0" y="1828546"/>
                  </a:cubicBezTo>
                  <a:close/>
                </a:path>
              </a:pathLst>
            </a:custGeom>
            <a:solidFill>
              <a:srgbClr val="0B0C23">
                <a:alpha val="90196"/>
              </a:srgbClr>
            </a:solidFill>
          </p:spPr>
        </p:sp>
        <p:sp>
          <p:nvSpPr>
            <p:cNvPr name="Freeform 17" id="17"/>
            <p:cNvSpPr/>
            <p:nvPr/>
          </p:nvSpPr>
          <p:spPr>
            <a:xfrm flipH="false" flipV="false" rot="0">
              <a:off x="0" y="0"/>
              <a:ext cx="6812788" cy="2049526"/>
            </a:xfrm>
            <a:custGeom>
              <a:avLst/>
              <a:gdLst/>
              <a:ahLst/>
              <a:cxnLst/>
              <a:rect r="r" b="b" t="t" l="l"/>
              <a:pathLst>
                <a:path h="2049526" w="6812788">
                  <a:moveTo>
                    <a:pt x="0" y="201930"/>
                  </a:moveTo>
                  <a:cubicBezTo>
                    <a:pt x="0" y="90170"/>
                    <a:pt x="91694" y="0"/>
                    <a:pt x="204343" y="0"/>
                  </a:cubicBezTo>
                  <a:lnTo>
                    <a:pt x="6608445" y="0"/>
                  </a:lnTo>
                  <a:lnTo>
                    <a:pt x="6608445" y="19050"/>
                  </a:lnTo>
                  <a:lnTo>
                    <a:pt x="6608445" y="0"/>
                  </a:lnTo>
                  <a:cubicBezTo>
                    <a:pt x="6721094" y="0"/>
                    <a:pt x="6812788" y="90170"/>
                    <a:pt x="6812788" y="201930"/>
                  </a:cubicBezTo>
                  <a:lnTo>
                    <a:pt x="6793738" y="201930"/>
                  </a:lnTo>
                  <a:lnTo>
                    <a:pt x="6812788" y="201930"/>
                  </a:lnTo>
                  <a:lnTo>
                    <a:pt x="6812788" y="1847596"/>
                  </a:lnTo>
                  <a:lnTo>
                    <a:pt x="6793738" y="1847596"/>
                  </a:lnTo>
                  <a:lnTo>
                    <a:pt x="6812788" y="1847596"/>
                  </a:lnTo>
                  <a:cubicBezTo>
                    <a:pt x="6812788" y="1959356"/>
                    <a:pt x="6721094" y="2049526"/>
                    <a:pt x="6608445" y="2049526"/>
                  </a:cubicBezTo>
                  <a:lnTo>
                    <a:pt x="6608445" y="2030476"/>
                  </a:lnTo>
                  <a:lnTo>
                    <a:pt x="6608445" y="2049526"/>
                  </a:lnTo>
                  <a:lnTo>
                    <a:pt x="204343" y="2049526"/>
                  </a:lnTo>
                  <a:lnTo>
                    <a:pt x="204343" y="2030476"/>
                  </a:lnTo>
                  <a:lnTo>
                    <a:pt x="204343" y="2049526"/>
                  </a:lnTo>
                  <a:cubicBezTo>
                    <a:pt x="91694" y="2049526"/>
                    <a:pt x="0" y="1959356"/>
                    <a:pt x="0" y="1847596"/>
                  </a:cubicBezTo>
                  <a:lnTo>
                    <a:pt x="0" y="201930"/>
                  </a:lnTo>
                  <a:lnTo>
                    <a:pt x="19050" y="201930"/>
                  </a:lnTo>
                  <a:lnTo>
                    <a:pt x="0" y="201930"/>
                  </a:lnTo>
                  <a:moveTo>
                    <a:pt x="38100" y="201930"/>
                  </a:moveTo>
                  <a:lnTo>
                    <a:pt x="38100" y="1847596"/>
                  </a:lnTo>
                  <a:lnTo>
                    <a:pt x="19050" y="1847596"/>
                  </a:lnTo>
                  <a:lnTo>
                    <a:pt x="38100" y="1847596"/>
                  </a:lnTo>
                  <a:cubicBezTo>
                    <a:pt x="38100" y="1937893"/>
                    <a:pt x="112268" y="2011426"/>
                    <a:pt x="204343" y="2011426"/>
                  </a:cubicBezTo>
                  <a:lnTo>
                    <a:pt x="6608445" y="2011426"/>
                  </a:lnTo>
                  <a:cubicBezTo>
                    <a:pt x="6700520" y="2011426"/>
                    <a:pt x="6774688" y="1937893"/>
                    <a:pt x="6774688" y="1847596"/>
                  </a:cubicBezTo>
                  <a:lnTo>
                    <a:pt x="6774688" y="201930"/>
                  </a:lnTo>
                  <a:cubicBezTo>
                    <a:pt x="6774688" y="111633"/>
                    <a:pt x="6700520" y="38100"/>
                    <a:pt x="6608445" y="38100"/>
                  </a:cubicBezTo>
                  <a:lnTo>
                    <a:pt x="204343" y="38100"/>
                  </a:lnTo>
                  <a:lnTo>
                    <a:pt x="204343" y="19050"/>
                  </a:lnTo>
                  <a:lnTo>
                    <a:pt x="204343" y="38100"/>
                  </a:lnTo>
                  <a:cubicBezTo>
                    <a:pt x="112268" y="38100"/>
                    <a:pt x="38100" y="111633"/>
                    <a:pt x="38100" y="201930"/>
                  </a:cubicBezTo>
                  <a:close/>
                </a:path>
              </a:pathLst>
            </a:custGeom>
            <a:solidFill>
              <a:srgbClr val="6D4562"/>
            </a:solidFill>
          </p:spPr>
        </p:sp>
      </p:grpSp>
      <p:grpSp>
        <p:nvGrpSpPr>
          <p:cNvPr name="Group 18" id="18"/>
          <p:cNvGrpSpPr/>
          <p:nvPr/>
        </p:nvGrpSpPr>
        <p:grpSpPr>
          <a:xfrm rot="0">
            <a:off x="11881094" y="2605983"/>
            <a:ext cx="114300" cy="1508522"/>
            <a:chOff x="0" y="0"/>
            <a:chExt cx="152400" cy="2011362"/>
          </a:xfrm>
        </p:grpSpPr>
        <p:sp>
          <p:nvSpPr>
            <p:cNvPr name="Freeform 19" id="19"/>
            <p:cNvSpPr/>
            <p:nvPr/>
          </p:nvSpPr>
          <p:spPr>
            <a:xfrm flipH="false" flipV="false" rot="0">
              <a:off x="0" y="0"/>
              <a:ext cx="152400" cy="2011426"/>
            </a:xfrm>
            <a:custGeom>
              <a:avLst/>
              <a:gdLst/>
              <a:ahLst/>
              <a:cxnLst/>
              <a:rect r="r" b="b" t="t" l="l"/>
              <a:pathLst>
                <a:path h="2011426" w="152400">
                  <a:moveTo>
                    <a:pt x="0" y="76200"/>
                  </a:moveTo>
                  <a:cubicBezTo>
                    <a:pt x="0" y="34163"/>
                    <a:pt x="34163" y="0"/>
                    <a:pt x="76200" y="0"/>
                  </a:cubicBezTo>
                  <a:cubicBezTo>
                    <a:pt x="118237" y="0"/>
                    <a:pt x="152400" y="34163"/>
                    <a:pt x="152400" y="76200"/>
                  </a:cubicBezTo>
                  <a:lnTo>
                    <a:pt x="152400" y="1935226"/>
                  </a:lnTo>
                  <a:cubicBezTo>
                    <a:pt x="152400" y="1977263"/>
                    <a:pt x="118237" y="2011426"/>
                    <a:pt x="76200" y="2011426"/>
                  </a:cubicBezTo>
                  <a:cubicBezTo>
                    <a:pt x="34163" y="2011426"/>
                    <a:pt x="0" y="1977263"/>
                    <a:pt x="0" y="1935226"/>
                  </a:cubicBezTo>
                  <a:close/>
                </a:path>
              </a:pathLst>
            </a:custGeom>
            <a:solidFill>
              <a:srgbClr val="A95B95"/>
            </a:solidFill>
          </p:spPr>
        </p:sp>
      </p:grpSp>
      <p:sp>
        <p:nvSpPr>
          <p:cNvPr name="TextBox 20" id="20"/>
          <p:cNvSpPr txBox="true"/>
          <p:nvPr/>
        </p:nvSpPr>
        <p:spPr>
          <a:xfrm rot="0">
            <a:off x="12279516" y="2880570"/>
            <a:ext cx="2839641" cy="364484"/>
          </a:xfrm>
          <a:prstGeom prst="rect">
            <a:avLst/>
          </a:prstGeom>
        </p:spPr>
        <p:txBody>
          <a:bodyPr anchor="t" rtlCol="false" tIns="0" lIns="0" bIns="0" rIns="0">
            <a:spAutoFit/>
          </a:bodyPr>
          <a:lstStyle/>
          <a:p>
            <a:pPr algn="l">
              <a:lnSpc>
                <a:spcPts val="2750"/>
              </a:lnSpc>
            </a:pPr>
            <a:r>
              <a:rPr lang="en-US" sz="2187" b="true">
                <a:solidFill>
                  <a:srgbClr val="DAD8E9"/>
                </a:solidFill>
                <a:latin typeface="Prompt Medium"/>
                <a:ea typeface="Prompt Medium"/>
                <a:cs typeface="Prompt Medium"/>
                <a:sym typeface="Prompt Medium"/>
              </a:rPr>
              <a:t>+1.79 dB</a:t>
            </a:r>
          </a:p>
        </p:txBody>
      </p:sp>
      <p:sp>
        <p:nvSpPr>
          <p:cNvPr name="TextBox 21" id="21"/>
          <p:cNvSpPr txBox="true"/>
          <p:nvPr/>
        </p:nvSpPr>
        <p:spPr>
          <a:xfrm rot="0">
            <a:off x="12279516" y="3399530"/>
            <a:ext cx="4427039" cy="430854"/>
          </a:xfrm>
          <a:prstGeom prst="rect">
            <a:avLst/>
          </a:prstGeom>
        </p:spPr>
        <p:txBody>
          <a:bodyPr anchor="t" rtlCol="false" tIns="0" lIns="0" bIns="0" rIns="0">
            <a:spAutoFit/>
          </a:bodyPr>
          <a:lstStyle/>
          <a:p>
            <a:pPr algn="l">
              <a:lnSpc>
                <a:spcPts val="2937"/>
              </a:lnSpc>
            </a:pPr>
            <a:r>
              <a:rPr lang="en-US" sz="2000">
                <a:solidFill>
                  <a:srgbClr val="DAD8E9"/>
                </a:solidFill>
                <a:latin typeface="Mukta Light"/>
                <a:ea typeface="Mukta Light"/>
                <a:cs typeface="Mukta Light"/>
                <a:sym typeface="Mukta Light"/>
              </a:rPr>
              <a:t>V1 → V2: Better airlight estimation</a:t>
            </a:r>
          </a:p>
        </p:txBody>
      </p:sp>
      <p:grpSp>
        <p:nvGrpSpPr>
          <p:cNvPr name="Group 22" id="22"/>
          <p:cNvGrpSpPr/>
          <p:nvPr/>
        </p:nvGrpSpPr>
        <p:grpSpPr>
          <a:xfrm rot="0">
            <a:off x="11895382" y="4311853"/>
            <a:ext cx="5109572" cy="1537097"/>
            <a:chOff x="0" y="0"/>
            <a:chExt cx="6812763" cy="2049462"/>
          </a:xfrm>
        </p:grpSpPr>
        <p:sp>
          <p:nvSpPr>
            <p:cNvPr name="Freeform 23" id="23"/>
            <p:cNvSpPr/>
            <p:nvPr/>
          </p:nvSpPr>
          <p:spPr>
            <a:xfrm flipH="false" flipV="false" rot="0">
              <a:off x="19050" y="19050"/>
              <a:ext cx="6774688" cy="2011426"/>
            </a:xfrm>
            <a:custGeom>
              <a:avLst/>
              <a:gdLst/>
              <a:ahLst/>
              <a:cxnLst/>
              <a:rect r="r" b="b" t="t" l="l"/>
              <a:pathLst>
                <a:path h="2011426" w="6774688">
                  <a:moveTo>
                    <a:pt x="0" y="182880"/>
                  </a:moveTo>
                  <a:cubicBezTo>
                    <a:pt x="0" y="81915"/>
                    <a:pt x="82931" y="0"/>
                    <a:pt x="185293" y="0"/>
                  </a:cubicBezTo>
                  <a:lnTo>
                    <a:pt x="6589395" y="0"/>
                  </a:lnTo>
                  <a:cubicBezTo>
                    <a:pt x="6691757" y="0"/>
                    <a:pt x="6774688" y="81915"/>
                    <a:pt x="6774688" y="182880"/>
                  </a:cubicBezTo>
                  <a:lnTo>
                    <a:pt x="6774688" y="1828546"/>
                  </a:lnTo>
                  <a:cubicBezTo>
                    <a:pt x="6774688" y="1929511"/>
                    <a:pt x="6691757" y="2011426"/>
                    <a:pt x="6589395" y="2011426"/>
                  </a:cubicBezTo>
                  <a:lnTo>
                    <a:pt x="185293" y="2011426"/>
                  </a:lnTo>
                  <a:cubicBezTo>
                    <a:pt x="82931" y="2011426"/>
                    <a:pt x="0" y="1929511"/>
                    <a:pt x="0" y="1828546"/>
                  </a:cubicBezTo>
                  <a:close/>
                </a:path>
              </a:pathLst>
            </a:custGeom>
            <a:solidFill>
              <a:srgbClr val="0B0C23">
                <a:alpha val="90196"/>
              </a:srgbClr>
            </a:solidFill>
          </p:spPr>
        </p:sp>
        <p:sp>
          <p:nvSpPr>
            <p:cNvPr name="Freeform 24" id="24"/>
            <p:cNvSpPr/>
            <p:nvPr/>
          </p:nvSpPr>
          <p:spPr>
            <a:xfrm flipH="false" flipV="false" rot="0">
              <a:off x="0" y="0"/>
              <a:ext cx="6812788" cy="2049526"/>
            </a:xfrm>
            <a:custGeom>
              <a:avLst/>
              <a:gdLst/>
              <a:ahLst/>
              <a:cxnLst/>
              <a:rect r="r" b="b" t="t" l="l"/>
              <a:pathLst>
                <a:path h="2049526" w="6812788">
                  <a:moveTo>
                    <a:pt x="0" y="201930"/>
                  </a:moveTo>
                  <a:cubicBezTo>
                    <a:pt x="0" y="90170"/>
                    <a:pt x="91694" y="0"/>
                    <a:pt x="204343" y="0"/>
                  </a:cubicBezTo>
                  <a:lnTo>
                    <a:pt x="6608445" y="0"/>
                  </a:lnTo>
                  <a:lnTo>
                    <a:pt x="6608445" y="19050"/>
                  </a:lnTo>
                  <a:lnTo>
                    <a:pt x="6608445" y="0"/>
                  </a:lnTo>
                  <a:cubicBezTo>
                    <a:pt x="6721094" y="0"/>
                    <a:pt x="6812788" y="90170"/>
                    <a:pt x="6812788" y="201930"/>
                  </a:cubicBezTo>
                  <a:lnTo>
                    <a:pt x="6793738" y="201930"/>
                  </a:lnTo>
                  <a:lnTo>
                    <a:pt x="6812788" y="201930"/>
                  </a:lnTo>
                  <a:lnTo>
                    <a:pt x="6812788" y="1847596"/>
                  </a:lnTo>
                  <a:lnTo>
                    <a:pt x="6793738" y="1847596"/>
                  </a:lnTo>
                  <a:lnTo>
                    <a:pt x="6812788" y="1847596"/>
                  </a:lnTo>
                  <a:cubicBezTo>
                    <a:pt x="6812788" y="1959356"/>
                    <a:pt x="6721094" y="2049526"/>
                    <a:pt x="6608445" y="2049526"/>
                  </a:cubicBezTo>
                  <a:lnTo>
                    <a:pt x="6608445" y="2030476"/>
                  </a:lnTo>
                  <a:lnTo>
                    <a:pt x="6608445" y="2049526"/>
                  </a:lnTo>
                  <a:lnTo>
                    <a:pt x="204343" y="2049526"/>
                  </a:lnTo>
                  <a:lnTo>
                    <a:pt x="204343" y="2030476"/>
                  </a:lnTo>
                  <a:lnTo>
                    <a:pt x="204343" y="2049526"/>
                  </a:lnTo>
                  <a:cubicBezTo>
                    <a:pt x="91694" y="2049526"/>
                    <a:pt x="0" y="1959356"/>
                    <a:pt x="0" y="1847596"/>
                  </a:cubicBezTo>
                  <a:lnTo>
                    <a:pt x="0" y="201930"/>
                  </a:lnTo>
                  <a:lnTo>
                    <a:pt x="19050" y="201930"/>
                  </a:lnTo>
                  <a:lnTo>
                    <a:pt x="0" y="201930"/>
                  </a:lnTo>
                  <a:moveTo>
                    <a:pt x="38100" y="201930"/>
                  </a:moveTo>
                  <a:lnTo>
                    <a:pt x="38100" y="1847596"/>
                  </a:lnTo>
                  <a:lnTo>
                    <a:pt x="19050" y="1847596"/>
                  </a:lnTo>
                  <a:lnTo>
                    <a:pt x="38100" y="1847596"/>
                  </a:lnTo>
                  <a:cubicBezTo>
                    <a:pt x="38100" y="1937893"/>
                    <a:pt x="112268" y="2011426"/>
                    <a:pt x="204343" y="2011426"/>
                  </a:cubicBezTo>
                  <a:lnTo>
                    <a:pt x="6608445" y="2011426"/>
                  </a:lnTo>
                  <a:cubicBezTo>
                    <a:pt x="6700520" y="2011426"/>
                    <a:pt x="6774688" y="1937893"/>
                    <a:pt x="6774688" y="1847596"/>
                  </a:cubicBezTo>
                  <a:lnTo>
                    <a:pt x="6774688" y="201930"/>
                  </a:lnTo>
                  <a:cubicBezTo>
                    <a:pt x="6774688" y="111633"/>
                    <a:pt x="6700520" y="38100"/>
                    <a:pt x="6608445" y="38100"/>
                  </a:cubicBezTo>
                  <a:lnTo>
                    <a:pt x="204343" y="38100"/>
                  </a:lnTo>
                  <a:lnTo>
                    <a:pt x="204343" y="19050"/>
                  </a:lnTo>
                  <a:lnTo>
                    <a:pt x="204343" y="38100"/>
                  </a:lnTo>
                  <a:cubicBezTo>
                    <a:pt x="112268" y="38100"/>
                    <a:pt x="38100" y="111633"/>
                    <a:pt x="38100" y="201930"/>
                  </a:cubicBezTo>
                  <a:close/>
                </a:path>
              </a:pathLst>
            </a:custGeom>
            <a:solidFill>
              <a:srgbClr val="6D4562"/>
            </a:solidFill>
          </p:spPr>
        </p:sp>
      </p:grpSp>
      <p:grpSp>
        <p:nvGrpSpPr>
          <p:cNvPr name="Group 25" id="25"/>
          <p:cNvGrpSpPr/>
          <p:nvPr/>
        </p:nvGrpSpPr>
        <p:grpSpPr>
          <a:xfrm rot="0">
            <a:off x="11881094" y="4326141"/>
            <a:ext cx="114300" cy="1508522"/>
            <a:chOff x="0" y="0"/>
            <a:chExt cx="152400" cy="2011362"/>
          </a:xfrm>
        </p:grpSpPr>
        <p:sp>
          <p:nvSpPr>
            <p:cNvPr name="Freeform 26" id="26"/>
            <p:cNvSpPr/>
            <p:nvPr/>
          </p:nvSpPr>
          <p:spPr>
            <a:xfrm flipH="false" flipV="false" rot="0">
              <a:off x="0" y="0"/>
              <a:ext cx="152400" cy="2011426"/>
            </a:xfrm>
            <a:custGeom>
              <a:avLst/>
              <a:gdLst/>
              <a:ahLst/>
              <a:cxnLst/>
              <a:rect r="r" b="b" t="t" l="l"/>
              <a:pathLst>
                <a:path h="2011426" w="152400">
                  <a:moveTo>
                    <a:pt x="0" y="76200"/>
                  </a:moveTo>
                  <a:cubicBezTo>
                    <a:pt x="0" y="34163"/>
                    <a:pt x="34163" y="0"/>
                    <a:pt x="76200" y="0"/>
                  </a:cubicBezTo>
                  <a:cubicBezTo>
                    <a:pt x="118237" y="0"/>
                    <a:pt x="152400" y="34163"/>
                    <a:pt x="152400" y="76200"/>
                  </a:cubicBezTo>
                  <a:lnTo>
                    <a:pt x="152400" y="1935226"/>
                  </a:lnTo>
                  <a:cubicBezTo>
                    <a:pt x="152400" y="1977263"/>
                    <a:pt x="118237" y="2011426"/>
                    <a:pt x="76200" y="2011426"/>
                  </a:cubicBezTo>
                  <a:cubicBezTo>
                    <a:pt x="34163" y="2011426"/>
                    <a:pt x="0" y="1977263"/>
                    <a:pt x="0" y="1935226"/>
                  </a:cubicBezTo>
                  <a:close/>
                </a:path>
              </a:pathLst>
            </a:custGeom>
            <a:solidFill>
              <a:srgbClr val="A95B95"/>
            </a:solidFill>
          </p:spPr>
        </p:sp>
      </p:grpSp>
      <p:sp>
        <p:nvSpPr>
          <p:cNvPr name="TextBox 27" id="27"/>
          <p:cNvSpPr txBox="true"/>
          <p:nvPr/>
        </p:nvSpPr>
        <p:spPr>
          <a:xfrm rot="0">
            <a:off x="12279516" y="4600727"/>
            <a:ext cx="2839641" cy="364484"/>
          </a:xfrm>
          <a:prstGeom prst="rect">
            <a:avLst/>
          </a:prstGeom>
        </p:spPr>
        <p:txBody>
          <a:bodyPr anchor="t" rtlCol="false" tIns="0" lIns="0" bIns="0" rIns="0">
            <a:spAutoFit/>
          </a:bodyPr>
          <a:lstStyle/>
          <a:p>
            <a:pPr algn="l">
              <a:lnSpc>
                <a:spcPts val="2750"/>
              </a:lnSpc>
            </a:pPr>
            <a:r>
              <a:rPr lang="en-US" sz="2187" b="true">
                <a:solidFill>
                  <a:srgbClr val="DAD8E9"/>
                </a:solidFill>
                <a:latin typeface="Prompt Medium"/>
                <a:ea typeface="Prompt Medium"/>
                <a:cs typeface="Prompt Medium"/>
                <a:sym typeface="Prompt Medium"/>
              </a:rPr>
              <a:t>+2.46 dB</a:t>
            </a:r>
          </a:p>
        </p:txBody>
      </p:sp>
      <p:sp>
        <p:nvSpPr>
          <p:cNvPr name="TextBox 28" id="28"/>
          <p:cNvSpPr txBox="true"/>
          <p:nvPr/>
        </p:nvSpPr>
        <p:spPr>
          <a:xfrm rot="0">
            <a:off x="12279516" y="5119688"/>
            <a:ext cx="4427039" cy="430854"/>
          </a:xfrm>
          <a:prstGeom prst="rect">
            <a:avLst/>
          </a:prstGeom>
        </p:spPr>
        <p:txBody>
          <a:bodyPr anchor="t" rtlCol="false" tIns="0" lIns="0" bIns="0" rIns="0">
            <a:spAutoFit/>
          </a:bodyPr>
          <a:lstStyle/>
          <a:p>
            <a:pPr algn="l">
              <a:lnSpc>
                <a:spcPts val="2937"/>
              </a:lnSpc>
            </a:pPr>
            <a:r>
              <a:rPr lang="en-US" sz="2000">
                <a:solidFill>
                  <a:srgbClr val="DAD8E9"/>
                </a:solidFill>
                <a:latin typeface="Mukta Light"/>
                <a:ea typeface="Mukta Light"/>
                <a:cs typeface="Mukta Light"/>
                <a:sym typeface="Mukta Light"/>
              </a:rPr>
              <a:t>V2 → V3: Transmission tuning</a:t>
            </a:r>
          </a:p>
        </p:txBody>
      </p:sp>
      <p:grpSp>
        <p:nvGrpSpPr>
          <p:cNvPr name="Group 29" id="29"/>
          <p:cNvGrpSpPr/>
          <p:nvPr/>
        </p:nvGrpSpPr>
        <p:grpSpPr>
          <a:xfrm rot="0">
            <a:off x="11895382" y="6032002"/>
            <a:ext cx="5109572" cy="1537097"/>
            <a:chOff x="0" y="0"/>
            <a:chExt cx="6812763" cy="2049462"/>
          </a:xfrm>
        </p:grpSpPr>
        <p:sp>
          <p:nvSpPr>
            <p:cNvPr name="Freeform 30" id="30"/>
            <p:cNvSpPr/>
            <p:nvPr/>
          </p:nvSpPr>
          <p:spPr>
            <a:xfrm flipH="false" flipV="false" rot="0">
              <a:off x="19050" y="19050"/>
              <a:ext cx="6774688" cy="2011426"/>
            </a:xfrm>
            <a:custGeom>
              <a:avLst/>
              <a:gdLst/>
              <a:ahLst/>
              <a:cxnLst/>
              <a:rect r="r" b="b" t="t" l="l"/>
              <a:pathLst>
                <a:path h="2011426" w="6774688">
                  <a:moveTo>
                    <a:pt x="0" y="182880"/>
                  </a:moveTo>
                  <a:cubicBezTo>
                    <a:pt x="0" y="81915"/>
                    <a:pt x="82931" y="0"/>
                    <a:pt x="185293" y="0"/>
                  </a:cubicBezTo>
                  <a:lnTo>
                    <a:pt x="6589395" y="0"/>
                  </a:lnTo>
                  <a:cubicBezTo>
                    <a:pt x="6691757" y="0"/>
                    <a:pt x="6774688" y="81915"/>
                    <a:pt x="6774688" y="182880"/>
                  </a:cubicBezTo>
                  <a:lnTo>
                    <a:pt x="6774688" y="1828546"/>
                  </a:lnTo>
                  <a:cubicBezTo>
                    <a:pt x="6774688" y="1929511"/>
                    <a:pt x="6691757" y="2011426"/>
                    <a:pt x="6589395" y="2011426"/>
                  </a:cubicBezTo>
                  <a:lnTo>
                    <a:pt x="185293" y="2011426"/>
                  </a:lnTo>
                  <a:cubicBezTo>
                    <a:pt x="82931" y="2011426"/>
                    <a:pt x="0" y="1929511"/>
                    <a:pt x="0" y="1828546"/>
                  </a:cubicBezTo>
                  <a:close/>
                </a:path>
              </a:pathLst>
            </a:custGeom>
            <a:solidFill>
              <a:srgbClr val="0B0C23">
                <a:alpha val="90196"/>
              </a:srgbClr>
            </a:solidFill>
          </p:spPr>
        </p:sp>
        <p:sp>
          <p:nvSpPr>
            <p:cNvPr name="Freeform 31" id="31"/>
            <p:cNvSpPr/>
            <p:nvPr/>
          </p:nvSpPr>
          <p:spPr>
            <a:xfrm flipH="false" flipV="false" rot="0">
              <a:off x="0" y="0"/>
              <a:ext cx="6812788" cy="2049526"/>
            </a:xfrm>
            <a:custGeom>
              <a:avLst/>
              <a:gdLst/>
              <a:ahLst/>
              <a:cxnLst/>
              <a:rect r="r" b="b" t="t" l="l"/>
              <a:pathLst>
                <a:path h="2049526" w="6812788">
                  <a:moveTo>
                    <a:pt x="0" y="201930"/>
                  </a:moveTo>
                  <a:cubicBezTo>
                    <a:pt x="0" y="90170"/>
                    <a:pt x="91694" y="0"/>
                    <a:pt x="204343" y="0"/>
                  </a:cubicBezTo>
                  <a:lnTo>
                    <a:pt x="6608445" y="0"/>
                  </a:lnTo>
                  <a:lnTo>
                    <a:pt x="6608445" y="19050"/>
                  </a:lnTo>
                  <a:lnTo>
                    <a:pt x="6608445" y="0"/>
                  </a:lnTo>
                  <a:cubicBezTo>
                    <a:pt x="6721094" y="0"/>
                    <a:pt x="6812788" y="90170"/>
                    <a:pt x="6812788" y="201930"/>
                  </a:cubicBezTo>
                  <a:lnTo>
                    <a:pt x="6793738" y="201930"/>
                  </a:lnTo>
                  <a:lnTo>
                    <a:pt x="6812788" y="201930"/>
                  </a:lnTo>
                  <a:lnTo>
                    <a:pt x="6812788" y="1847596"/>
                  </a:lnTo>
                  <a:lnTo>
                    <a:pt x="6793738" y="1847596"/>
                  </a:lnTo>
                  <a:lnTo>
                    <a:pt x="6812788" y="1847596"/>
                  </a:lnTo>
                  <a:cubicBezTo>
                    <a:pt x="6812788" y="1959356"/>
                    <a:pt x="6721094" y="2049526"/>
                    <a:pt x="6608445" y="2049526"/>
                  </a:cubicBezTo>
                  <a:lnTo>
                    <a:pt x="6608445" y="2030476"/>
                  </a:lnTo>
                  <a:lnTo>
                    <a:pt x="6608445" y="2049526"/>
                  </a:lnTo>
                  <a:lnTo>
                    <a:pt x="204343" y="2049526"/>
                  </a:lnTo>
                  <a:lnTo>
                    <a:pt x="204343" y="2030476"/>
                  </a:lnTo>
                  <a:lnTo>
                    <a:pt x="204343" y="2049526"/>
                  </a:lnTo>
                  <a:cubicBezTo>
                    <a:pt x="91694" y="2049526"/>
                    <a:pt x="0" y="1959356"/>
                    <a:pt x="0" y="1847596"/>
                  </a:cubicBezTo>
                  <a:lnTo>
                    <a:pt x="0" y="201930"/>
                  </a:lnTo>
                  <a:lnTo>
                    <a:pt x="19050" y="201930"/>
                  </a:lnTo>
                  <a:lnTo>
                    <a:pt x="0" y="201930"/>
                  </a:lnTo>
                  <a:moveTo>
                    <a:pt x="38100" y="201930"/>
                  </a:moveTo>
                  <a:lnTo>
                    <a:pt x="38100" y="1847596"/>
                  </a:lnTo>
                  <a:lnTo>
                    <a:pt x="19050" y="1847596"/>
                  </a:lnTo>
                  <a:lnTo>
                    <a:pt x="38100" y="1847596"/>
                  </a:lnTo>
                  <a:cubicBezTo>
                    <a:pt x="38100" y="1937893"/>
                    <a:pt x="112268" y="2011426"/>
                    <a:pt x="204343" y="2011426"/>
                  </a:cubicBezTo>
                  <a:lnTo>
                    <a:pt x="6608445" y="2011426"/>
                  </a:lnTo>
                  <a:cubicBezTo>
                    <a:pt x="6700520" y="2011426"/>
                    <a:pt x="6774688" y="1937893"/>
                    <a:pt x="6774688" y="1847596"/>
                  </a:cubicBezTo>
                  <a:lnTo>
                    <a:pt x="6774688" y="201930"/>
                  </a:lnTo>
                  <a:cubicBezTo>
                    <a:pt x="6774688" y="111633"/>
                    <a:pt x="6700520" y="38100"/>
                    <a:pt x="6608445" y="38100"/>
                  </a:cubicBezTo>
                  <a:lnTo>
                    <a:pt x="204343" y="38100"/>
                  </a:lnTo>
                  <a:lnTo>
                    <a:pt x="204343" y="19050"/>
                  </a:lnTo>
                  <a:lnTo>
                    <a:pt x="204343" y="38100"/>
                  </a:lnTo>
                  <a:cubicBezTo>
                    <a:pt x="112268" y="38100"/>
                    <a:pt x="38100" y="111633"/>
                    <a:pt x="38100" y="201930"/>
                  </a:cubicBezTo>
                  <a:close/>
                </a:path>
              </a:pathLst>
            </a:custGeom>
            <a:solidFill>
              <a:srgbClr val="6D4562"/>
            </a:solidFill>
          </p:spPr>
        </p:sp>
      </p:grpSp>
      <p:grpSp>
        <p:nvGrpSpPr>
          <p:cNvPr name="Group 32" id="32"/>
          <p:cNvGrpSpPr/>
          <p:nvPr/>
        </p:nvGrpSpPr>
        <p:grpSpPr>
          <a:xfrm rot="0">
            <a:off x="11881094" y="6046289"/>
            <a:ext cx="114300" cy="1508522"/>
            <a:chOff x="0" y="0"/>
            <a:chExt cx="152400" cy="2011362"/>
          </a:xfrm>
        </p:grpSpPr>
        <p:sp>
          <p:nvSpPr>
            <p:cNvPr name="Freeform 33" id="33"/>
            <p:cNvSpPr/>
            <p:nvPr/>
          </p:nvSpPr>
          <p:spPr>
            <a:xfrm flipH="false" flipV="false" rot="0">
              <a:off x="0" y="0"/>
              <a:ext cx="152400" cy="2011426"/>
            </a:xfrm>
            <a:custGeom>
              <a:avLst/>
              <a:gdLst/>
              <a:ahLst/>
              <a:cxnLst/>
              <a:rect r="r" b="b" t="t" l="l"/>
              <a:pathLst>
                <a:path h="2011426" w="152400">
                  <a:moveTo>
                    <a:pt x="0" y="76200"/>
                  </a:moveTo>
                  <a:cubicBezTo>
                    <a:pt x="0" y="34163"/>
                    <a:pt x="34163" y="0"/>
                    <a:pt x="76200" y="0"/>
                  </a:cubicBezTo>
                  <a:cubicBezTo>
                    <a:pt x="118237" y="0"/>
                    <a:pt x="152400" y="34163"/>
                    <a:pt x="152400" y="76200"/>
                  </a:cubicBezTo>
                  <a:lnTo>
                    <a:pt x="152400" y="1935226"/>
                  </a:lnTo>
                  <a:cubicBezTo>
                    <a:pt x="152400" y="1977263"/>
                    <a:pt x="118237" y="2011426"/>
                    <a:pt x="76200" y="2011426"/>
                  </a:cubicBezTo>
                  <a:cubicBezTo>
                    <a:pt x="34163" y="2011426"/>
                    <a:pt x="0" y="1977263"/>
                    <a:pt x="0" y="1935226"/>
                  </a:cubicBezTo>
                  <a:close/>
                </a:path>
              </a:pathLst>
            </a:custGeom>
            <a:solidFill>
              <a:srgbClr val="A95B95"/>
            </a:solidFill>
          </p:spPr>
        </p:sp>
      </p:grpSp>
      <p:sp>
        <p:nvSpPr>
          <p:cNvPr name="TextBox 34" id="34"/>
          <p:cNvSpPr txBox="true"/>
          <p:nvPr/>
        </p:nvSpPr>
        <p:spPr>
          <a:xfrm rot="0">
            <a:off x="12279516" y="6320876"/>
            <a:ext cx="2839641" cy="364484"/>
          </a:xfrm>
          <a:prstGeom prst="rect">
            <a:avLst/>
          </a:prstGeom>
        </p:spPr>
        <p:txBody>
          <a:bodyPr anchor="t" rtlCol="false" tIns="0" lIns="0" bIns="0" rIns="0">
            <a:spAutoFit/>
          </a:bodyPr>
          <a:lstStyle/>
          <a:p>
            <a:pPr algn="l">
              <a:lnSpc>
                <a:spcPts val="2750"/>
              </a:lnSpc>
            </a:pPr>
            <a:r>
              <a:rPr lang="en-US" sz="2187" b="true">
                <a:solidFill>
                  <a:srgbClr val="DAD8E9"/>
                </a:solidFill>
                <a:latin typeface="Prompt Medium"/>
                <a:ea typeface="Prompt Medium"/>
                <a:cs typeface="Prompt Medium"/>
                <a:sym typeface="Prompt Medium"/>
              </a:rPr>
              <a:t>+1.08 dB</a:t>
            </a:r>
          </a:p>
        </p:txBody>
      </p:sp>
      <p:sp>
        <p:nvSpPr>
          <p:cNvPr name="TextBox 35" id="35"/>
          <p:cNvSpPr txBox="true"/>
          <p:nvPr/>
        </p:nvSpPr>
        <p:spPr>
          <a:xfrm rot="0">
            <a:off x="12279516" y="6839845"/>
            <a:ext cx="4427039" cy="430854"/>
          </a:xfrm>
          <a:prstGeom prst="rect">
            <a:avLst/>
          </a:prstGeom>
        </p:spPr>
        <p:txBody>
          <a:bodyPr anchor="t" rtlCol="false" tIns="0" lIns="0" bIns="0" rIns="0">
            <a:spAutoFit/>
          </a:bodyPr>
          <a:lstStyle/>
          <a:p>
            <a:pPr algn="l">
              <a:lnSpc>
                <a:spcPts val="2937"/>
              </a:lnSpc>
            </a:pPr>
            <a:r>
              <a:rPr lang="en-US" sz="2000">
                <a:solidFill>
                  <a:srgbClr val="DAD8E9"/>
                </a:solidFill>
                <a:latin typeface="Mukta Light"/>
                <a:ea typeface="Mukta Light"/>
                <a:cs typeface="Mukta Light"/>
                <a:sym typeface="Mukta Light"/>
              </a:rPr>
              <a:t>V3 → V4: Gamma correction</a:t>
            </a:r>
          </a:p>
        </p:txBody>
      </p:sp>
      <p:grpSp>
        <p:nvGrpSpPr>
          <p:cNvPr name="Group 36" id="36"/>
          <p:cNvGrpSpPr/>
          <p:nvPr/>
        </p:nvGrpSpPr>
        <p:grpSpPr>
          <a:xfrm rot="0">
            <a:off x="11895382" y="7752159"/>
            <a:ext cx="5109572" cy="1537097"/>
            <a:chOff x="0" y="0"/>
            <a:chExt cx="6812763" cy="2049462"/>
          </a:xfrm>
        </p:grpSpPr>
        <p:sp>
          <p:nvSpPr>
            <p:cNvPr name="Freeform 37" id="37"/>
            <p:cNvSpPr/>
            <p:nvPr/>
          </p:nvSpPr>
          <p:spPr>
            <a:xfrm flipH="false" flipV="false" rot="0">
              <a:off x="19050" y="19050"/>
              <a:ext cx="6774688" cy="2011426"/>
            </a:xfrm>
            <a:custGeom>
              <a:avLst/>
              <a:gdLst/>
              <a:ahLst/>
              <a:cxnLst/>
              <a:rect r="r" b="b" t="t" l="l"/>
              <a:pathLst>
                <a:path h="2011426" w="6774688">
                  <a:moveTo>
                    <a:pt x="0" y="182880"/>
                  </a:moveTo>
                  <a:cubicBezTo>
                    <a:pt x="0" y="81915"/>
                    <a:pt x="82931" y="0"/>
                    <a:pt x="185293" y="0"/>
                  </a:cubicBezTo>
                  <a:lnTo>
                    <a:pt x="6589395" y="0"/>
                  </a:lnTo>
                  <a:cubicBezTo>
                    <a:pt x="6691757" y="0"/>
                    <a:pt x="6774688" y="81915"/>
                    <a:pt x="6774688" y="182880"/>
                  </a:cubicBezTo>
                  <a:lnTo>
                    <a:pt x="6774688" y="1828546"/>
                  </a:lnTo>
                  <a:cubicBezTo>
                    <a:pt x="6774688" y="1929511"/>
                    <a:pt x="6691757" y="2011426"/>
                    <a:pt x="6589395" y="2011426"/>
                  </a:cubicBezTo>
                  <a:lnTo>
                    <a:pt x="185293" y="2011426"/>
                  </a:lnTo>
                  <a:cubicBezTo>
                    <a:pt x="82931" y="2011426"/>
                    <a:pt x="0" y="1929511"/>
                    <a:pt x="0" y="1828546"/>
                  </a:cubicBezTo>
                  <a:close/>
                </a:path>
              </a:pathLst>
            </a:custGeom>
            <a:solidFill>
              <a:srgbClr val="0B0C23">
                <a:alpha val="90196"/>
              </a:srgbClr>
            </a:solidFill>
          </p:spPr>
        </p:sp>
        <p:sp>
          <p:nvSpPr>
            <p:cNvPr name="Freeform 38" id="38"/>
            <p:cNvSpPr/>
            <p:nvPr/>
          </p:nvSpPr>
          <p:spPr>
            <a:xfrm flipH="false" flipV="false" rot="0">
              <a:off x="0" y="0"/>
              <a:ext cx="6812788" cy="2049526"/>
            </a:xfrm>
            <a:custGeom>
              <a:avLst/>
              <a:gdLst/>
              <a:ahLst/>
              <a:cxnLst/>
              <a:rect r="r" b="b" t="t" l="l"/>
              <a:pathLst>
                <a:path h="2049526" w="6812788">
                  <a:moveTo>
                    <a:pt x="0" y="201930"/>
                  </a:moveTo>
                  <a:cubicBezTo>
                    <a:pt x="0" y="90170"/>
                    <a:pt x="91694" y="0"/>
                    <a:pt x="204343" y="0"/>
                  </a:cubicBezTo>
                  <a:lnTo>
                    <a:pt x="6608445" y="0"/>
                  </a:lnTo>
                  <a:lnTo>
                    <a:pt x="6608445" y="19050"/>
                  </a:lnTo>
                  <a:lnTo>
                    <a:pt x="6608445" y="0"/>
                  </a:lnTo>
                  <a:cubicBezTo>
                    <a:pt x="6721094" y="0"/>
                    <a:pt x="6812788" y="90170"/>
                    <a:pt x="6812788" y="201930"/>
                  </a:cubicBezTo>
                  <a:lnTo>
                    <a:pt x="6793738" y="201930"/>
                  </a:lnTo>
                  <a:lnTo>
                    <a:pt x="6812788" y="201930"/>
                  </a:lnTo>
                  <a:lnTo>
                    <a:pt x="6812788" y="1847596"/>
                  </a:lnTo>
                  <a:lnTo>
                    <a:pt x="6793738" y="1847596"/>
                  </a:lnTo>
                  <a:lnTo>
                    <a:pt x="6812788" y="1847596"/>
                  </a:lnTo>
                  <a:cubicBezTo>
                    <a:pt x="6812788" y="1959356"/>
                    <a:pt x="6721094" y="2049526"/>
                    <a:pt x="6608445" y="2049526"/>
                  </a:cubicBezTo>
                  <a:lnTo>
                    <a:pt x="6608445" y="2030476"/>
                  </a:lnTo>
                  <a:lnTo>
                    <a:pt x="6608445" y="2049526"/>
                  </a:lnTo>
                  <a:lnTo>
                    <a:pt x="204343" y="2049526"/>
                  </a:lnTo>
                  <a:lnTo>
                    <a:pt x="204343" y="2030476"/>
                  </a:lnTo>
                  <a:lnTo>
                    <a:pt x="204343" y="2049526"/>
                  </a:lnTo>
                  <a:cubicBezTo>
                    <a:pt x="91694" y="2049526"/>
                    <a:pt x="0" y="1959356"/>
                    <a:pt x="0" y="1847596"/>
                  </a:cubicBezTo>
                  <a:lnTo>
                    <a:pt x="0" y="201930"/>
                  </a:lnTo>
                  <a:lnTo>
                    <a:pt x="19050" y="201930"/>
                  </a:lnTo>
                  <a:lnTo>
                    <a:pt x="0" y="201930"/>
                  </a:lnTo>
                  <a:moveTo>
                    <a:pt x="38100" y="201930"/>
                  </a:moveTo>
                  <a:lnTo>
                    <a:pt x="38100" y="1847596"/>
                  </a:lnTo>
                  <a:lnTo>
                    <a:pt x="19050" y="1847596"/>
                  </a:lnTo>
                  <a:lnTo>
                    <a:pt x="38100" y="1847596"/>
                  </a:lnTo>
                  <a:cubicBezTo>
                    <a:pt x="38100" y="1937893"/>
                    <a:pt x="112268" y="2011426"/>
                    <a:pt x="204343" y="2011426"/>
                  </a:cubicBezTo>
                  <a:lnTo>
                    <a:pt x="6608445" y="2011426"/>
                  </a:lnTo>
                  <a:cubicBezTo>
                    <a:pt x="6700520" y="2011426"/>
                    <a:pt x="6774688" y="1937893"/>
                    <a:pt x="6774688" y="1847596"/>
                  </a:cubicBezTo>
                  <a:lnTo>
                    <a:pt x="6774688" y="201930"/>
                  </a:lnTo>
                  <a:cubicBezTo>
                    <a:pt x="6774688" y="111633"/>
                    <a:pt x="6700520" y="38100"/>
                    <a:pt x="6608445" y="38100"/>
                  </a:cubicBezTo>
                  <a:lnTo>
                    <a:pt x="204343" y="38100"/>
                  </a:lnTo>
                  <a:lnTo>
                    <a:pt x="204343" y="19050"/>
                  </a:lnTo>
                  <a:lnTo>
                    <a:pt x="204343" y="38100"/>
                  </a:lnTo>
                  <a:cubicBezTo>
                    <a:pt x="112268" y="38100"/>
                    <a:pt x="38100" y="111633"/>
                    <a:pt x="38100" y="201930"/>
                  </a:cubicBezTo>
                  <a:close/>
                </a:path>
              </a:pathLst>
            </a:custGeom>
            <a:solidFill>
              <a:srgbClr val="6D4562"/>
            </a:solidFill>
          </p:spPr>
        </p:sp>
      </p:grpSp>
      <p:grpSp>
        <p:nvGrpSpPr>
          <p:cNvPr name="Group 39" id="39"/>
          <p:cNvGrpSpPr/>
          <p:nvPr/>
        </p:nvGrpSpPr>
        <p:grpSpPr>
          <a:xfrm rot="0">
            <a:off x="11881094" y="7766447"/>
            <a:ext cx="114300" cy="1508522"/>
            <a:chOff x="0" y="0"/>
            <a:chExt cx="152400" cy="2011362"/>
          </a:xfrm>
        </p:grpSpPr>
        <p:sp>
          <p:nvSpPr>
            <p:cNvPr name="Freeform 40" id="40"/>
            <p:cNvSpPr/>
            <p:nvPr/>
          </p:nvSpPr>
          <p:spPr>
            <a:xfrm flipH="false" flipV="false" rot="0">
              <a:off x="0" y="0"/>
              <a:ext cx="152400" cy="2011426"/>
            </a:xfrm>
            <a:custGeom>
              <a:avLst/>
              <a:gdLst/>
              <a:ahLst/>
              <a:cxnLst/>
              <a:rect r="r" b="b" t="t" l="l"/>
              <a:pathLst>
                <a:path h="2011426" w="152400">
                  <a:moveTo>
                    <a:pt x="0" y="76200"/>
                  </a:moveTo>
                  <a:cubicBezTo>
                    <a:pt x="0" y="34163"/>
                    <a:pt x="34163" y="0"/>
                    <a:pt x="76200" y="0"/>
                  </a:cubicBezTo>
                  <a:cubicBezTo>
                    <a:pt x="118237" y="0"/>
                    <a:pt x="152400" y="34163"/>
                    <a:pt x="152400" y="76200"/>
                  </a:cubicBezTo>
                  <a:lnTo>
                    <a:pt x="152400" y="1935226"/>
                  </a:lnTo>
                  <a:cubicBezTo>
                    <a:pt x="152400" y="1977263"/>
                    <a:pt x="118237" y="2011426"/>
                    <a:pt x="76200" y="2011426"/>
                  </a:cubicBezTo>
                  <a:cubicBezTo>
                    <a:pt x="34163" y="2011426"/>
                    <a:pt x="0" y="1977263"/>
                    <a:pt x="0" y="1935226"/>
                  </a:cubicBezTo>
                  <a:close/>
                </a:path>
              </a:pathLst>
            </a:custGeom>
            <a:solidFill>
              <a:srgbClr val="A95B95"/>
            </a:solidFill>
          </p:spPr>
        </p:sp>
      </p:grpSp>
      <p:sp>
        <p:nvSpPr>
          <p:cNvPr name="TextBox 41" id="41"/>
          <p:cNvSpPr txBox="true"/>
          <p:nvPr/>
        </p:nvSpPr>
        <p:spPr>
          <a:xfrm rot="0">
            <a:off x="12279516" y="8041034"/>
            <a:ext cx="2839641" cy="364484"/>
          </a:xfrm>
          <a:prstGeom prst="rect">
            <a:avLst/>
          </a:prstGeom>
        </p:spPr>
        <p:txBody>
          <a:bodyPr anchor="t" rtlCol="false" tIns="0" lIns="0" bIns="0" rIns="0">
            <a:spAutoFit/>
          </a:bodyPr>
          <a:lstStyle/>
          <a:p>
            <a:pPr algn="l">
              <a:lnSpc>
                <a:spcPts val="2750"/>
              </a:lnSpc>
            </a:pPr>
            <a:r>
              <a:rPr lang="en-US" sz="2187" b="true">
                <a:solidFill>
                  <a:srgbClr val="DAD8E9"/>
                </a:solidFill>
                <a:latin typeface="Prompt Medium"/>
                <a:ea typeface="Prompt Medium"/>
                <a:cs typeface="Prompt Medium"/>
                <a:sym typeface="Prompt Medium"/>
              </a:rPr>
              <a:t>+0.31 dB</a:t>
            </a:r>
          </a:p>
        </p:txBody>
      </p:sp>
      <p:sp>
        <p:nvSpPr>
          <p:cNvPr name="TextBox 42" id="42"/>
          <p:cNvSpPr txBox="true"/>
          <p:nvPr/>
        </p:nvSpPr>
        <p:spPr>
          <a:xfrm rot="0">
            <a:off x="12279516" y="8560003"/>
            <a:ext cx="4427039" cy="430854"/>
          </a:xfrm>
          <a:prstGeom prst="rect">
            <a:avLst/>
          </a:prstGeom>
        </p:spPr>
        <p:txBody>
          <a:bodyPr anchor="t" rtlCol="false" tIns="0" lIns="0" bIns="0" rIns="0">
            <a:spAutoFit/>
          </a:bodyPr>
          <a:lstStyle/>
          <a:p>
            <a:pPr algn="l">
              <a:lnSpc>
                <a:spcPts val="2937"/>
              </a:lnSpc>
            </a:pPr>
            <a:r>
              <a:rPr lang="en-US" sz="2000">
                <a:solidFill>
                  <a:srgbClr val="DAD8E9"/>
                </a:solidFill>
                <a:latin typeface="Mukta Light"/>
                <a:ea typeface="Mukta Light"/>
                <a:cs typeface="Mukta Light"/>
                <a:sym typeface="Mukta Light"/>
              </a:rPr>
              <a:t>V4 → V5: Final sharpening</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preencoded.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0B0C23">
                <a:alpha val="90196"/>
              </a:srgbClr>
            </a:solidFill>
          </p:spPr>
        </p:sp>
      </p:grpSp>
      <p:sp>
        <p:nvSpPr>
          <p:cNvPr name="TextBox 6" id="6"/>
          <p:cNvSpPr txBox="true"/>
          <p:nvPr/>
        </p:nvSpPr>
        <p:spPr>
          <a:xfrm rot="0">
            <a:off x="1080049" y="928097"/>
            <a:ext cx="10207523" cy="885825"/>
          </a:xfrm>
          <a:prstGeom prst="rect">
            <a:avLst/>
          </a:prstGeom>
        </p:spPr>
        <p:txBody>
          <a:bodyPr anchor="t" rtlCol="false" tIns="0" lIns="0" bIns="0" rIns="0">
            <a:spAutoFit/>
          </a:bodyPr>
          <a:lstStyle/>
          <a:p>
            <a:pPr algn="l">
              <a:lnSpc>
                <a:spcPts val="6749"/>
              </a:lnSpc>
            </a:pPr>
            <a:r>
              <a:rPr lang="en-US" sz="5374" b="true">
                <a:solidFill>
                  <a:srgbClr val="C6BFEE"/>
                </a:solidFill>
                <a:latin typeface="Prompt Medium"/>
                <a:ea typeface="Prompt Medium"/>
                <a:cs typeface="Prompt Medium"/>
                <a:sym typeface="Prompt Medium"/>
              </a:rPr>
              <a:t>Final Performance Comparison</a:t>
            </a:r>
          </a:p>
        </p:txBody>
      </p:sp>
      <p:grpSp>
        <p:nvGrpSpPr>
          <p:cNvPr name="Group 7" id="7"/>
          <p:cNvGrpSpPr/>
          <p:nvPr/>
        </p:nvGrpSpPr>
        <p:grpSpPr>
          <a:xfrm rot="0">
            <a:off x="1070524" y="2614317"/>
            <a:ext cx="7706620" cy="3238500"/>
            <a:chOff x="0" y="0"/>
            <a:chExt cx="10275494" cy="4318000"/>
          </a:xfrm>
        </p:grpSpPr>
        <p:sp>
          <p:nvSpPr>
            <p:cNvPr name="Freeform 8" id="8"/>
            <p:cNvSpPr/>
            <p:nvPr/>
          </p:nvSpPr>
          <p:spPr>
            <a:xfrm flipH="false" flipV="false" rot="0">
              <a:off x="0" y="0"/>
              <a:ext cx="10275443" cy="4318000"/>
            </a:xfrm>
            <a:custGeom>
              <a:avLst/>
              <a:gdLst/>
              <a:ahLst/>
              <a:cxnLst/>
              <a:rect r="r" b="b" t="t" l="l"/>
              <a:pathLst>
                <a:path h="4318000" w="10275443">
                  <a:moveTo>
                    <a:pt x="0" y="185547"/>
                  </a:moveTo>
                  <a:cubicBezTo>
                    <a:pt x="0" y="83058"/>
                    <a:pt x="83312" y="0"/>
                    <a:pt x="186055" y="0"/>
                  </a:cubicBezTo>
                  <a:lnTo>
                    <a:pt x="10089388" y="0"/>
                  </a:lnTo>
                  <a:lnTo>
                    <a:pt x="10089388" y="12700"/>
                  </a:lnTo>
                  <a:lnTo>
                    <a:pt x="10089388" y="0"/>
                  </a:lnTo>
                  <a:cubicBezTo>
                    <a:pt x="10192131" y="0"/>
                    <a:pt x="10275443" y="83058"/>
                    <a:pt x="10275443" y="185547"/>
                  </a:cubicBezTo>
                  <a:lnTo>
                    <a:pt x="10262743" y="185547"/>
                  </a:lnTo>
                  <a:lnTo>
                    <a:pt x="10275443" y="185547"/>
                  </a:lnTo>
                  <a:lnTo>
                    <a:pt x="10275443" y="4132453"/>
                  </a:lnTo>
                  <a:lnTo>
                    <a:pt x="10262743" y="4132453"/>
                  </a:lnTo>
                  <a:lnTo>
                    <a:pt x="10275443" y="4132453"/>
                  </a:lnTo>
                  <a:cubicBezTo>
                    <a:pt x="10275443" y="4234942"/>
                    <a:pt x="10192131" y="4318000"/>
                    <a:pt x="10089388" y="4318000"/>
                  </a:cubicBezTo>
                  <a:lnTo>
                    <a:pt x="10089388" y="4305300"/>
                  </a:lnTo>
                  <a:lnTo>
                    <a:pt x="10089388" y="4318000"/>
                  </a:lnTo>
                  <a:lnTo>
                    <a:pt x="186055" y="4318000"/>
                  </a:lnTo>
                  <a:lnTo>
                    <a:pt x="186055" y="4305300"/>
                  </a:lnTo>
                  <a:lnTo>
                    <a:pt x="186055" y="4318000"/>
                  </a:lnTo>
                  <a:cubicBezTo>
                    <a:pt x="83312" y="4318000"/>
                    <a:pt x="0" y="4234942"/>
                    <a:pt x="0" y="4132453"/>
                  </a:cubicBezTo>
                  <a:lnTo>
                    <a:pt x="0" y="185547"/>
                  </a:lnTo>
                  <a:lnTo>
                    <a:pt x="12700" y="185547"/>
                  </a:lnTo>
                  <a:lnTo>
                    <a:pt x="0" y="185547"/>
                  </a:lnTo>
                  <a:moveTo>
                    <a:pt x="25400" y="185547"/>
                  </a:moveTo>
                  <a:lnTo>
                    <a:pt x="25400" y="4132453"/>
                  </a:lnTo>
                  <a:lnTo>
                    <a:pt x="12700" y="4132453"/>
                  </a:lnTo>
                  <a:lnTo>
                    <a:pt x="25400" y="4132453"/>
                  </a:lnTo>
                  <a:cubicBezTo>
                    <a:pt x="25400" y="4220845"/>
                    <a:pt x="97282" y="4292600"/>
                    <a:pt x="186055" y="4292600"/>
                  </a:cubicBezTo>
                  <a:lnTo>
                    <a:pt x="10089388" y="4292600"/>
                  </a:lnTo>
                  <a:cubicBezTo>
                    <a:pt x="10178161" y="4292600"/>
                    <a:pt x="10250043" y="4220845"/>
                    <a:pt x="10250043" y="4132453"/>
                  </a:cubicBezTo>
                  <a:lnTo>
                    <a:pt x="10250043" y="185547"/>
                  </a:lnTo>
                  <a:cubicBezTo>
                    <a:pt x="10250043" y="97155"/>
                    <a:pt x="10178161" y="25400"/>
                    <a:pt x="10089388" y="25400"/>
                  </a:cubicBezTo>
                  <a:lnTo>
                    <a:pt x="186055" y="25400"/>
                  </a:lnTo>
                  <a:lnTo>
                    <a:pt x="186055" y="12700"/>
                  </a:lnTo>
                  <a:lnTo>
                    <a:pt x="186055" y="25400"/>
                  </a:lnTo>
                  <a:cubicBezTo>
                    <a:pt x="97282" y="25400"/>
                    <a:pt x="25400" y="97155"/>
                    <a:pt x="25400" y="185547"/>
                  </a:cubicBezTo>
                  <a:close/>
                </a:path>
              </a:pathLst>
            </a:custGeom>
            <a:solidFill>
              <a:srgbClr val="FFFFFF">
                <a:alpha val="5490"/>
              </a:srgbClr>
            </a:solidFill>
          </p:spPr>
        </p:sp>
      </p:grpSp>
      <p:sp>
        <p:nvSpPr>
          <p:cNvPr name="TextBox 9" id="9"/>
          <p:cNvSpPr txBox="true"/>
          <p:nvPr/>
        </p:nvSpPr>
        <p:spPr>
          <a:xfrm rot="0">
            <a:off x="1407909" y="2742305"/>
            <a:ext cx="1285723" cy="589064"/>
          </a:xfrm>
          <a:prstGeom prst="rect">
            <a:avLst/>
          </a:prstGeom>
        </p:spPr>
        <p:txBody>
          <a:bodyPr anchor="t" rtlCol="false" tIns="0" lIns="0" bIns="0" rIns="0">
            <a:spAutoFit/>
          </a:bodyPr>
          <a:lstStyle/>
          <a:p>
            <a:pPr algn="l">
              <a:lnSpc>
                <a:spcPts val="3875"/>
              </a:lnSpc>
            </a:pPr>
            <a:r>
              <a:rPr lang="en-US" sz="2375" b="true">
                <a:solidFill>
                  <a:srgbClr val="DAD8E9"/>
                </a:solidFill>
                <a:latin typeface="Mukta Bold"/>
                <a:ea typeface="Mukta Bold"/>
                <a:cs typeface="Mukta Bold"/>
                <a:sym typeface="Mukta Bold"/>
              </a:rPr>
              <a:t>Metric</a:t>
            </a:r>
          </a:p>
        </p:txBody>
      </p:sp>
      <p:sp>
        <p:nvSpPr>
          <p:cNvPr name="TextBox 10" id="10"/>
          <p:cNvSpPr txBox="true"/>
          <p:nvPr/>
        </p:nvSpPr>
        <p:spPr>
          <a:xfrm rot="0">
            <a:off x="3329730" y="2742305"/>
            <a:ext cx="1276198" cy="589064"/>
          </a:xfrm>
          <a:prstGeom prst="rect">
            <a:avLst/>
          </a:prstGeom>
        </p:spPr>
        <p:txBody>
          <a:bodyPr anchor="t" rtlCol="false" tIns="0" lIns="0" bIns="0" rIns="0">
            <a:spAutoFit/>
          </a:bodyPr>
          <a:lstStyle/>
          <a:p>
            <a:pPr algn="l">
              <a:lnSpc>
                <a:spcPts val="3875"/>
              </a:lnSpc>
            </a:pPr>
            <a:r>
              <a:rPr lang="en-US" sz="2375" b="true">
                <a:solidFill>
                  <a:srgbClr val="DAD8E9"/>
                </a:solidFill>
                <a:latin typeface="Mukta Bold"/>
                <a:ea typeface="Mukta Bold"/>
                <a:cs typeface="Mukta Bold"/>
                <a:sym typeface="Mukta Bold"/>
              </a:rPr>
              <a:t>Baseline</a:t>
            </a:r>
          </a:p>
        </p:txBody>
      </p:sp>
      <p:sp>
        <p:nvSpPr>
          <p:cNvPr name="TextBox 11" id="11"/>
          <p:cNvSpPr txBox="true"/>
          <p:nvPr/>
        </p:nvSpPr>
        <p:spPr>
          <a:xfrm rot="0">
            <a:off x="5242027" y="2742305"/>
            <a:ext cx="1276198" cy="1082878"/>
          </a:xfrm>
          <a:prstGeom prst="rect">
            <a:avLst/>
          </a:prstGeom>
        </p:spPr>
        <p:txBody>
          <a:bodyPr anchor="t" rtlCol="false" tIns="0" lIns="0" bIns="0" rIns="0">
            <a:spAutoFit/>
          </a:bodyPr>
          <a:lstStyle/>
          <a:p>
            <a:pPr algn="l">
              <a:lnSpc>
                <a:spcPts val="3875"/>
              </a:lnSpc>
            </a:pPr>
            <a:r>
              <a:rPr lang="en-US" sz="2375" b="true">
                <a:solidFill>
                  <a:srgbClr val="DAD8E9"/>
                </a:solidFill>
                <a:latin typeface="Mukta Bold"/>
                <a:ea typeface="Mukta Bold"/>
                <a:cs typeface="Mukta Bold"/>
                <a:sym typeface="Mukta Bold"/>
              </a:rPr>
              <a:t>Improved</a:t>
            </a:r>
          </a:p>
        </p:txBody>
      </p:sp>
      <p:sp>
        <p:nvSpPr>
          <p:cNvPr name="TextBox 12" id="12"/>
          <p:cNvSpPr txBox="true"/>
          <p:nvPr/>
        </p:nvSpPr>
        <p:spPr>
          <a:xfrm rot="0">
            <a:off x="7154313" y="2742305"/>
            <a:ext cx="1285723" cy="589064"/>
          </a:xfrm>
          <a:prstGeom prst="rect">
            <a:avLst/>
          </a:prstGeom>
        </p:spPr>
        <p:txBody>
          <a:bodyPr anchor="t" rtlCol="false" tIns="0" lIns="0" bIns="0" rIns="0">
            <a:spAutoFit/>
          </a:bodyPr>
          <a:lstStyle/>
          <a:p>
            <a:pPr algn="l">
              <a:lnSpc>
                <a:spcPts val="3875"/>
              </a:lnSpc>
            </a:pPr>
            <a:r>
              <a:rPr lang="en-US" sz="2375" b="true">
                <a:solidFill>
                  <a:srgbClr val="DAD8E9"/>
                </a:solidFill>
                <a:latin typeface="Mukta Bold"/>
                <a:ea typeface="Mukta Bold"/>
                <a:cs typeface="Mukta Bold"/>
                <a:sym typeface="Mukta Bold"/>
              </a:rPr>
              <a:t>Gain</a:t>
            </a:r>
          </a:p>
        </p:txBody>
      </p:sp>
      <p:sp>
        <p:nvSpPr>
          <p:cNvPr name="TextBox 13" id="13"/>
          <p:cNvSpPr txBox="true"/>
          <p:nvPr/>
        </p:nvSpPr>
        <p:spPr>
          <a:xfrm rot="0">
            <a:off x="1407909" y="4138317"/>
            <a:ext cx="1285723" cy="589064"/>
          </a:xfrm>
          <a:prstGeom prst="rect">
            <a:avLst/>
          </a:prstGeom>
        </p:spPr>
        <p:txBody>
          <a:bodyPr anchor="t" rtlCol="false" tIns="0" lIns="0" bIns="0" rIns="0">
            <a:spAutoFit/>
          </a:bodyPr>
          <a:lstStyle/>
          <a:p>
            <a:pPr algn="l">
              <a:lnSpc>
                <a:spcPts val="3875"/>
              </a:lnSpc>
            </a:pPr>
            <a:r>
              <a:rPr lang="en-US" sz="2375">
                <a:solidFill>
                  <a:srgbClr val="DAD8E9"/>
                </a:solidFill>
                <a:latin typeface="Mukta Light"/>
                <a:ea typeface="Mukta Light"/>
                <a:cs typeface="Mukta Light"/>
                <a:sym typeface="Mukta Light"/>
              </a:rPr>
              <a:t>PSNR (dB)</a:t>
            </a:r>
          </a:p>
        </p:txBody>
      </p:sp>
      <p:sp>
        <p:nvSpPr>
          <p:cNvPr name="TextBox 14" id="14"/>
          <p:cNvSpPr txBox="true"/>
          <p:nvPr/>
        </p:nvSpPr>
        <p:spPr>
          <a:xfrm rot="0">
            <a:off x="3329730" y="4138317"/>
            <a:ext cx="1276198" cy="589064"/>
          </a:xfrm>
          <a:prstGeom prst="rect">
            <a:avLst/>
          </a:prstGeom>
        </p:spPr>
        <p:txBody>
          <a:bodyPr anchor="t" rtlCol="false" tIns="0" lIns="0" bIns="0" rIns="0">
            <a:spAutoFit/>
          </a:bodyPr>
          <a:lstStyle/>
          <a:p>
            <a:pPr algn="l">
              <a:lnSpc>
                <a:spcPts val="3875"/>
              </a:lnSpc>
            </a:pPr>
            <a:r>
              <a:rPr lang="en-US" sz="2375">
                <a:solidFill>
                  <a:srgbClr val="DAD8E9"/>
                </a:solidFill>
                <a:latin typeface="Mukta Light"/>
                <a:ea typeface="Mukta Light"/>
                <a:cs typeface="Mukta Light"/>
                <a:sym typeface="Mukta Light"/>
              </a:rPr>
              <a:t>10.77</a:t>
            </a:r>
          </a:p>
        </p:txBody>
      </p:sp>
      <p:sp>
        <p:nvSpPr>
          <p:cNvPr name="TextBox 15" id="15"/>
          <p:cNvSpPr txBox="true"/>
          <p:nvPr/>
        </p:nvSpPr>
        <p:spPr>
          <a:xfrm rot="0">
            <a:off x="5242027" y="4138317"/>
            <a:ext cx="1276198" cy="589064"/>
          </a:xfrm>
          <a:prstGeom prst="rect">
            <a:avLst/>
          </a:prstGeom>
        </p:spPr>
        <p:txBody>
          <a:bodyPr anchor="t" rtlCol="false" tIns="0" lIns="0" bIns="0" rIns="0">
            <a:spAutoFit/>
          </a:bodyPr>
          <a:lstStyle/>
          <a:p>
            <a:pPr algn="l">
              <a:lnSpc>
                <a:spcPts val="3875"/>
              </a:lnSpc>
            </a:pPr>
            <a:r>
              <a:rPr lang="en-US" sz="2375" b="true">
                <a:solidFill>
                  <a:srgbClr val="A95B95"/>
                </a:solidFill>
                <a:latin typeface="Mukta Bold"/>
                <a:ea typeface="Mukta Bold"/>
                <a:cs typeface="Mukta Bold"/>
                <a:sym typeface="Mukta Bold"/>
              </a:rPr>
              <a:t>16.41</a:t>
            </a:r>
          </a:p>
        </p:txBody>
      </p:sp>
      <p:sp>
        <p:nvSpPr>
          <p:cNvPr name="TextBox 16" id="16"/>
          <p:cNvSpPr txBox="true"/>
          <p:nvPr/>
        </p:nvSpPr>
        <p:spPr>
          <a:xfrm rot="0">
            <a:off x="7154313" y="4138317"/>
            <a:ext cx="1285723" cy="589064"/>
          </a:xfrm>
          <a:prstGeom prst="rect">
            <a:avLst/>
          </a:prstGeom>
        </p:spPr>
        <p:txBody>
          <a:bodyPr anchor="t" rtlCol="false" tIns="0" lIns="0" bIns="0" rIns="0">
            <a:spAutoFit/>
          </a:bodyPr>
          <a:lstStyle/>
          <a:p>
            <a:pPr algn="l">
              <a:lnSpc>
                <a:spcPts val="3875"/>
              </a:lnSpc>
            </a:pPr>
            <a:r>
              <a:rPr lang="en-US" sz="2375">
                <a:solidFill>
                  <a:srgbClr val="DAD8E9"/>
                </a:solidFill>
                <a:latin typeface="Mukta Light"/>
                <a:ea typeface="Mukta Light"/>
                <a:cs typeface="Mukta Light"/>
                <a:sym typeface="Mukta Light"/>
              </a:rPr>
              <a:t>+5.64 dB</a:t>
            </a:r>
          </a:p>
        </p:txBody>
      </p:sp>
      <p:sp>
        <p:nvSpPr>
          <p:cNvPr name="TextBox 17" id="17"/>
          <p:cNvSpPr txBox="true"/>
          <p:nvPr/>
        </p:nvSpPr>
        <p:spPr>
          <a:xfrm rot="0">
            <a:off x="1407909" y="5040516"/>
            <a:ext cx="1285723" cy="589064"/>
          </a:xfrm>
          <a:prstGeom prst="rect">
            <a:avLst/>
          </a:prstGeom>
        </p:spPr>
        <p:txBody>
          <a:bodyPr anchor="t" rtlCol="false" tIns="0" lIns="0" bIns="0" rIns="0">
            <a:spAutoFit/>
          </a:bodyPr>
          <a:lstStyle/>
          <a:p>
            <a:pPr algn="l">
              <a:lnSpc>
                <a:spcPts val="3875"/>
              </a:lnSpc>
            </a:pPr>
            <a:r>
              <a:rPr lang="en-US" sz="2375">
                <a:solidFill>
                  <a:srgbClr val="DAD8E9"/>
                </a:solidFill>
                <a:latin typeface="Mukta Light"/>
                <a:ea typeface="Mukta Light"/>
                <a:cs typeface="Mukta Light"/>
                <a:sym typeface="Mukta Light"/>
              </a:rPr>
              <a:t>SSIM</a:t>
            </a:r>
          </a:p>
        </p:txBody>
      </p:sp>
      <p:sp>
        <p:nvSpPr>
          <p:cNvPr name="TextBox 18" id="18"/>
          <p:cNvSpPr txBox="true"/>
          <p:nvPr/>
        </p:nvSpPr>
        <p:spPr>
          <a:xfrm rot="0">
            <a:off x="3329730" y="5040516"/>
            <a:ext cx="1276198" cy="589064"/>
          </a:xfrm>
          <a:prstGeom prst="rect">
            <a:avLst/>
          </a:prstGeom>
        </p:spPr>
        <p:txBody>
          <a:bodyPr anchor="t" rtlCol="false" tIns="0" lIns="0" bIns="0" rIns="0">
            <a:spAutoFit/>
          </a:bodyPr>
          <a:lstStyle/>
          <a:p>
            <a:pPr algn="l">
              <a:lnSpc>
                <a:spcPts val="3875"/>
              </a:lnSpc>
            </a:pPr>
            <a:r>
              <a:rPr lang="en-US" sz="2375">
                <a:solidFill>
                  <a:srgbClr val="DAD8E9"/>
                </a:solidFill>
                <a:latin typeface="Mukta Light"/>
                <a:ea typeface="Mukta Light"/>
                <a:cs typeface="Mukta Light"/>
                <a:sym typeface="Mukta Light"/>
              </a:rPr>
              <a:t>0.5768</a:t>
            </a:r>
          </a:p>
        </p:txBody>
      </p:sp>
      <p:sp>
        <p:nvSpPr>
          <p:cNvPr name="TextBox 19" id="19"/>
          <p:cNvSpPr txBox="true"/>
          <p:nvPr/>
        </p:nvSpPr>
        <p:spPr>
          <a:xfrm rot="0">
            <a:off x="5242027" y="5040516"/>
            <a:ext cx="1276198" cy="589064"/>
          </a:xfrm>
          <a:prstGeom prst="rect">
            <a:avLst/>
          </a:prstGeom>
        </p:spPr>
        <p:txBody>
          <a:bodyPr anchor="t" rtlCol="false" tIns="0" lIns="0" bIns="0" rIns="0">
            <a:spAutoFit/>
          </a:bodyPr>
          <a:lstStyle/>
          <a:p>
            <a:pPr algn="l">
              <a:lnSpc>
                <a:spcPts val="3875"/>
              </a:lnSpc>
            </a:pPr>
            <a:r>
              <a:rPr lang="en-US" sz="2375" b="true">
                <a:solidFill>
                  <a:srgbClr val="A95B95"/>
                </a:solidFill>
                <a:latin typeface="Mukta Bold"/>
                <a:ea typeface="Mukta Bold"/>
                <a:cs typeface="Mukta Bold"/>
                <a:sym typeface="Mukta Bold"/>
              </a:rPr>
              <a:t>0.8708</a:t>
            </a:r>
          </a:p>
        </p:txBody>
      </p:sp>
      <p:sp>
        <p:nvSpPr>
          <p:cNvPr name="TextBox 20" id="20"/>
          <p:cNvSpPr txBox="true"/>
          <p:nvPr/>
        </p:nvSpPr>
        <p:spPr>
          <a:xfrm rot="0">
            <a:off x="7154313" y="5040516"/>
            <a:ext cx="1285723" cy="589064"/>
          </a:xfrm>
          <a:prstGeom prst="rect">
            <a:avLst/>
          </a:prstGeom>
        </p:spPr>
        <p:txBody>
          <a:bodyPr anchor="t" rtlCol="false" tIns="0" lIns="0" bIns="0" rIns="0">
            <a:spAutoFit/>
          </a:bodyPr>
          <a:lstStyle/>
          <a:p>
            <a:pPr algn="l">
              <a:lnSpc>
                <a:spcPts val="3875"/>
              </a:lnSpc>
            </a:pPr>
            <a:r>
              <a:rPr lang="en-US" sz="2375">
                <a:solidFill>
                  <a:srgbClr val="DAD8E9"/>
                </a:solidFill>
                <a:latin typeface="Mukta Light"/>
                <a:ea typeface="Mukta Light"/>
                <a:cs typeface="Mukta Light"/>
                <a:sym typeface="Mukta Light"/>
              </a:rPr>
              <a:t>+0.2940</a:t>
            </a:r>
          </a:p>
        </p:txBody>
      </p:sp>
      <p:grpSp>
        <p:nvGrpSpPr>
          <p:cNvPr name="Group 21" id="21"/>
          <p:cNvGrpSpPr/>
          <p:nvPr/>
        </p:nvGrpSpPr>
        <p:grpSpPr>
          <a:xfrm rot="0">
            <a:off x="1080049" y="6190355"/>
            <a:ext cx="7687570" cy="2792759"/>
            <a:chOff x="0" y="0"/>
            <a:chExt cx="10250094" cy="3723678"/>
          </a:xfrm>
        </p:grpSpPr>
        <p:sp>
          <p:nvSpPr>
            <p:cNvPr name="Freeform 22" id="22"/>
            <p:cNvSpPr/>
            <p:nvPr/>
          </p:nvSpPr>
          <p:spPr>
            <a:xfrm flipH="false" flipV="false" rot="0">
              <a:off x="0" y="0"/>
              <a:ext cx="10250170" cy="3723767"/>
            </a:xfrm>
            <a:custGeom>
              <a:avLst/>
              <a:gdLst/>
              <a:ahLst/>
              <a:cxnLst/>
              <a:rect r="r" b="b" t="t" l="l"/>
              <a:pathLst>
                <a:path h="3723767" w="10250170">
                  <a:moveTo>
                    <a:pt x="0" y="172847"/>
                  </a:moveTo>
                  <a:cubicBezTo>
                    <a:pt x="0" y="77343"/>
                    <a:pt x="77343" y="0"/>
                    <a:pt x="172847" y="0"/>
                  </a:cubicBezTo>
                  <a:lnTo>
                    <a:pt x="10077323" y="0"/>
                  </a:lnTo>
                  <a:cubicBezTo>
                    <a:pt x="10172827" y="0"/>
                    <a:pt x="10250170" y="77343"/>
                    <a:pt x="10250170" y="172847"/>
                  </a:cubicBezTo>
                  <a:lnTo>
                    <a:pt x="10250170" y="3550920"/>
                  </a:lnTo>
                  <a:cubicBezTo>
                    <a:pt x="10250170" y="3646424"/>
                    <a:pt x="10172827" y="3723767"/>
                    <a:pt x="10077323" y="3723767"/>
                  </a:cubicBezTo>
                  <a:lnTo>
                    <a:pt x="172847" y="3723767"/>
                  </a:lnTo>
                  <a:cubicBezTo>
                    <a:pt x="77343" y="3723640"/>
                    <a:pt x="0" y="3646297"/>
                    <a:pt x="0" y="3550920"/>
                  </a:cubicBezTo>
                  <a:close/>
                </a:path>
              </a:pathLst>
            </a:custGeom>
            <a:solidFill>
              <a:srgbClr val="183A13"/>
            </a:solidFill>
          </p:spPr>
        </p:sp>
      </p:grpSp>
      <p:grpSp>
        <p:nvGrpSpPr>
          <p:cNvPr name="Group 23" id="23"/>
          <p:cNvGrpSpPr/>
          <p:nvPr/>
        </p:nvGrpSpPr>
        <p:grpSpPr>
          <a:xfrm rot="0">
            <a:off x="1388564" y="6639373"/>
            <a:ext cx="385762" cy="308524"/>
            <a:chOff x="0" y="0"/>
            <a:chExt cx="514350" cy="411366"/>
          </a:xfrm>
        </p:grpSpPr>
        <p:sp>
          <p:nvSpPr>
            <p:cNvPr name="Freeform 24" id="24" descr="preencoded.png"/>
            <p:cNvSpPr/>
            <p:nvPr/>
          </p:nvSpPr>
          <p:spPr>
            <a:xfrm flipH="false" flipV="false" rot="0">
              <a:off x="0" y="0"/>
              <a:ext cx="514350" cy="411353"/>
            </a:xfrm>
            <a:custGeom>
              <a:avLst/>
              <a:gdLst/>
              <a:ahLst/>
              <a:cxnLst/>
              <a:rect r="r" b="b" t="t" l="l"/>
              <a:pathLst>
                <a:path h="411353" w="514350">
                  <a:moveTo>
                    <a:pt x="0" y="0"/>
                  </a:moveTo>
                  <a:lnTo>
                    <a:pt x="514350" y="0"/>
                  </a:lnTo>
                  <a:lnTo>
                    <a:pt x="514350" y="411353"/>
                  </a:lnTo>
                  <a:lnTo>
                    <a:pt x="0" y="411353"/>
                  </a:lnTo>
                  <a:lnTo>
                    <a:pt x="0" y="0"/>
                  </a:lnTo>
                  <a:close/>
                </a:path>
              </a:pathLst>
            </a:custGeom>
            <a:blipFill>
              <a:blip r:embed="rId4"/>
              <a:stretch>
                <a:fillRect l="-1234" t="0" r="-1237" b="-3"/>
              </a:stretch>
            </a:blipFill>
          </p:spPr>
        </p:sp>
      </p:grpSp>
      <p:sp>
        <p:nvSpPr>
          <p:cNvPr name="TextBox 25" id="25"/>
          <p:cNvSpPr txBox="true"/>
          <p:nvPr/>
        </p:nvSpPr>
        <p:spPr>
          <a:xfrm rot="0">
            <a:off x="2082851" y="6480724"/>
            <a:ext cx="6376245" cy="2070497"/>
          </a:xfrm>
          <a:prstGeom prst="rect">
            <a:avLst/>
          </a:prstGeom>
        </p:spPr>
        <p:txBody>
          <a:bodyPr anchor="t" rtlCol="false" tIns="0" lIns="0" bIns="0" rIns="0">
            <a:spAutoFit/>
          </a:bodyPr>
          <a:lstStyle/>
          <a:p>
            <a:pPr algn="l">
              <a:lnSpc>
                <a:spcPts val="3875"/>
              </a:lnSpc>
            </a:pPr>
            <a:r>
              <a:rPr lang="en-US" sz="2375">
                <a:solidFill>
                  <a:srgbClr val="FFFFFF"/>
                </a:solidFill>
                <a:latin typeface="Mukta Light"/>
                <a:ea typeface="Mukta Light"/>
                <a:cs typeface="Mukta Light"/>
                <a:sym typeface="Mukta Light"/>
              </a:rPr>
              <a:t>The improved method achieves a </a:t>
            </a:r>
            <a:r>
              <a:rPr lang="en-US" sz="2375" b="true">
                <a:solidFill>
                  <a:srgbClr val="FFFFFF"/>
                </a:solidFill>
                <a:latin typeface="Mukta Bold"/>
                <a:ea typeface="Mukta Bold"/>
                <a:cs typeface="Mukta Bold"/>
                <a:sym typeface="Mukta Bold"/>
              </a:rPr>
              <a:t>52% increase in PSNR</a:t>
            </a:r>
            <a:r>
              <a:rPr lang="en-US" sz="2375">
                <a:solidFill>
                  <a:srgbClr val="FFFFFF"/>
                </a:solidFill>
                <a:latin typeface="Mukta Light"/>
                <a:ea typeface="Mukta Light"/>
                <a:cs typeface="Mukta Light"/>
                <a:sym typeface="Mukta Light"/>
              </a:rPr>
              <a:t> and a </a:t>
            </a:r>
            <a:r>
              <a:rPr lang="en-US" sz="2375" b="true">
                <a:solidFill>
                  <a:srgbClr val="FFFFFF"/>
                </a:solidFill>
                <a:latin typeface="Mukta Bold"/>
                <a:ea typeface="Mukta Bold"/>
                <a:cs typeface="Mukta Bold"/>
                <a:sym typeface="Mukta Bold"/>
              </a:rPr>
              <a:t>51% increase in SSIM</a:t>
            </a:r>
            <a:r>
              <a:rPr lang="en-US" sz="2375">
                <a:solidFill>
                  <a:srgbClr val="FFFFFF"/>
                </a:solidFill>
                <a:latin typeface="Mukta Light"/>
                <a:ea typeface="Mukta Light"/>
                <a:cs typeface="Mukta Light"/>
                <a:sym typeface="Mukta Light"/>
              </a:rPr>
              <a:t> over the baseline — a substantial gain using purely classical techniques.</a:t>
            </a:r>
          </a:p>
        </p:txBody>
      </p:sp>
      <p:grpSp>
        <p:nvGrpSpPr>
          <p:cNvPr name="Group 26" id="26"/>
          <p:cNvGrpSpPr/>
          <p:nvPr/>
        </p:nvGrpSpPr>
        <p:grpSpPr>
          <a:xfrm rot="0">
            <a:off x="9525152" y="2619080"/>
            <a:ext cx="747122" cy="215208"/>
            <a:chOff x="0" y="0"/>
            <a:chExt cx="996163" cy="286944"/>
          </a:xfrm>
        </p:grpSpPr>
        <p:sp>
          <p:nvSpPr>
            <p:cNvPr name="Freeform 27" id="27"/>
            <p:cNvSpPr/>
            <p:nvPr/>
          </p:nvSpPr>
          <p:spPr>
            <a:xfrm flipH="false" flipV="false" rot="0">
              <a:off x="6350" y="6350"/>
              <a:ext cx="983361" cy="274320"/>
            </a:xfrm>
            <a:custGeom>
              <a:avLst/>
              <a:gdLst/>
              <a:ahLst/>
              <a:cxnLst/>
              <a:rect r="r" b="b" t="t" l="l"/>
              <a:pathLst>
                <a:path h="274320" w="983361">
                  <a:moveTo>
                    <a:pt x="0" y="137160"/>
                  </a:moveTo>
                  <a:cubicBezTo>
                    <a:pt x="0" y="61341"/>
                    <a:pt x="63373" y="0"/>
                    <a:pt x="141605" y="0"/>
                  </a:cubicBezTo>
                  <a:lnTo>
                    <a:pt x="841756" y="0"/>
                  </a:lnTo>
                  <a:cubicBezTo>
                    <a:pt x="919988" y="0"/>
                    <a:pt x="983361" y="61341"/>
                    <a:pt x="983361" y="137160"/>
                  </a:cubicBezTo>
                  <a:cubicBezTo>
                    <a:pt x="983361" y="212979"/>
                    <a:pt x="919988" y="274320"/>
                    <a:pt x="841756" y="274320"/>
                  </a:cubicBezTo>
                  <a:lnTo>
                    <a:pt x="141605" y="274320"/>
                  </a:lnTo>
                  <a:cubicBezTo>
                    <a:pt x="63373" y="274193"/>
                    <a:pt x="0" y="212852"/>
                    <a:pt x="0" y="137160"/>
                  </a:cubicBezTo>
                  <a:close/>
                </a:path>
              </a:pathLst>
            </a:custGeom>
            <a:solidFill>
              <a:srgbClr val="FFFFFF">
                <a:alpha val="3922"/>
              </a:srgbClr>
            </a:solidFill>
          </p:spPr>
        </p:sp>
        <p:sp>
          <p:nvSpPr>
            <p:cNvPr name="Freeform 28" id="28"/>
            <p:cNvSpPr/>
            <p:nvPr/>
          </p:nvSpPr>
          <p:spPr>
            <a:xfrm flipH="false" flipV="false" rot="0">
              <a:off x="0" y="0"/>
              <a:ext cx="996188" cy="287020"/>
            </a:xfrm>
            <a:custGeom>
              <a:avLst/>
              <a:gdLst/>
              <a:ahLst/>
              <a:cxnLst/>
              <a:rect r="r" b="b" t="t" l="l"/>
              <a:pathLst>
                <a:path h="287020" w="996188">
                  <a:moveTo>
                    <a:pt x="0" y="143510"/>
                  </a:moveTo>
                  <a:cubicBezTo>
                    <a:pt x="0" y="64008"/>
                    <a:pt x="66421" y="0"/>
                    <a:pt x="147955" y="0"/>
                  </a:cubicBezTo>
                  <a:lnTo>
                    <a:pt x="848106" y="0"/>
                  </a:lnTo>
                  <a:lnTo>
                    <a:pt x="848106" y="6350"/>
                  </a:lnTo>
                  <a:lnTo>
                    <a:pt x="848106" y="0"/>
                  </a:lnTo>
                  <a:cubicBezTo>
                    <a:pt x="929640" y="0"/>
                    <a:pt x="996188" y="64008"/>
                    <a:pt x="996188" y="143510"/>
                  </a:cubicBezTo>
                  <a:lnTo>
                    <a:pt x="989838" y="143510"/>
                  </a:lnTo>
                  <a:lnTo>
                    <a:pt x="996188" y="143510"/>
                  </a:lnTo>
                  <a:lnTo>
                    <a:pt x="989838" y="143510"/>
                  </a:lnTo>
                  <a:lnTo>
                    <a:pt x="996188" y="143510"/>
                  </a:lnTo>
                  <a:cubicBezTo>
                    <a:pt x="996188" y="222885"/>
                    <a:pt x="929767" y="287020"/>
                    <a:pt x="848233" y="287020"/>
                  </a:cubicBezTo>
                  <a:lnTo>
                    <a:pt x="848233" y="280670"/>
                  </a:lnTo>
                  <a:lnTo>
                    <a:pt x="848233" y="287020"/>
                  </a:lnTo>
                  <a:lnTo>
                    <a:pt x="147955" y="287020"/>
                  </a:lnTo>
                  <a:lnTo>
                    <a:pt x="147955" y="280670"/>
                  </a:lnTo>
                  <a:lnTo>
                    <a:pt x="147955" y="287020"/>
                  </a:lnTo>
                  <a:cubicBezTo>
                    <a:pt x="66421" y="286893"/>
                    <a:pt x="0" y="222885"/>
                    <a:pt x="0" y="143510"/>
                  </a:cubicBezTo>
                  <a:lnTo>
                    <a:pt x="6350" y="143510"/>
                  </a:lnTo>
                  <a:lnTo>
                    <a:pt x="0" y="143510"/>
                  </a:lnTo>
                  <a:moveTo>
                    <a:pt x="12700" y="143510"/>
                  </a:moveTo>
                  <a:lnTo>
                    <a:pt x="6350" y="143510"/>
                  </a:lnTo>
                  <a:lnTo>
                    <a:pt x="12700" y="143510"/>
                  </a:lnTo>
                  <a:cubicBezTo>
                    <a:pt x="12700" y="215519"/>
                    <a:pt x="73025" y="274320"/>
                    <a:pt x="147955" y="274320"/>
                  </a:cubicBezTo>
                  <a:lnTo>
                    <a:pt x="848106" y="274320"/>
                  </a:lnTo>
                  <a:cubicBezTo>
                    <a:pt x="923036" y="274320"/>
                    <a:pt x="983361" y="215519"/>
                    <a:pt x="983361" y="143510"/>
                  </a:cubicBezTo>
                  <a:cubicBezTo>
                    <a:pt x="983361" y="71501"/>
                    <a:pt x="923036" y="12700"/>
                    <a:pt x="848106" y="12700"/>
                  </a:cubicBezTo>
                  <a:lnTo>
                    <a:pt x="147955" y="12700"/>
                  </a:lnTo>
                  <a:lnTo>
                    <a:pt x="147955" y="6350"/>
                  </a:lnTo>
                  <a:lnTo>
                    <a:pt x="147955" y="12700"/>
                  </a:lnTo>
                  <a:cubicBezTo>
                    <a:pt x="73025" y="12700"/>
                    <a:pt x="12700" y="71501"/>
                    <a:pt x="12700" y="143510"/>
                  </a:cubicBezTo>
                  <a:close/>
                </a:path>
              </a:pathLst>
            </a:custGeom>
            <a:solidFill>
              <a:srgbClr val="010101"/>
            </a:solidFill>
          </p:spPr>
        </p:sp>
      </p:grpSp>
      <p:grpSp>
        <p:nvGrpSpPr>
          <p:cNvPr name="Group 29" id="29"/>
          <p:cNvGrpSpPr/>
          <p:nvPr/>
        </p:nvGrpSpPr>
        <p:grpSpPr>
          <a:xfrm rot="0">
            <a:off x="9596590" y="2669534"/>
            <a:ext cx="114300" cy="114300"/>
            <a:chOff x="0" y="0"/>
            <a:chExt cx="152400" cy="152400"/>
          </a:xfrm>
        </p:grpSpPr>
        <p:sp>
          <p:nvSpPr>
            <p:cNvPr name="Freeform 30" id="30" descr="preencoded.png"/>
            <p:cNvSpPr/>
            <p:nvPr/>
          </p:nvSpPr>
          <p:spPr>
            <a:xfrm flipH="false" flipV="false" rot="0">
              <a:off x="0" y="0"/>
              <a:ext cx="152400" cy="152400"/>
            </a:xfrm>
            <a:custGeom>
              <a:avLst/>
              <a:gdLst/>
              <a:ahLst/>
              <a:cxnLst/>
              <a:rect r="r" b="b" t="t" l="l"/>
              <a:pathLst>
                <a:path h="152400" w="152400">
                  <a:moveTo>
                    <a:pt x="0" y="0"/>
                  </a:moveTo>
                  <a:lnTo>
                    <a:pt x="152400" y="0"/>
                  </a:lnTo>
                  <a:lnTo>
                    <a:pt x="152400" y="152400"/>
                  </a:lnTo>
                  <a:lnTo>
                    <a:pt x="0" y="152400"/>
                  </a:lnTo>
                  <a:lnTo>
                    <a:pt x="0" y="0"/>
                  </a:lnTo>
                  <a:close/>
                </a:path>
              </a:pathLst>
            </a:custGeom>
            <a:blipFill>
              <a:blip r:embed="rId5"/>
              <a:stretch>
                <a:fillRect l="0" t="0" r="0" b="0"/>
              </a:stretch>
            </a:blipFill>
          </p:spPr>
        </p:sp>
      </p:grpSp>
      <p:sp>
        <p:nvSpPr>
          <p:cNvPr name="TextBox 31" id="31"/>
          <p:cNvSpPr txBox="true"/>
          <p:nvPr/>
        </p:nvSpPr>
        <p:spPr>
          <a:xfrm rot="0">
            <a:off x="9748990" y="2623842"/>
            <a:ext cx="451847" cy="177108"/>
          </a:xfrm>
          <a:prstGeom prst="rect">
            <a:avLst/>
          </a:prstGeom>
        </p:spPr>
        <p:txBody>
          <a:bodyPr anchor="t" rtlCol="false" tIns="0" lIns="0" bIns="0" rIns="0">
            <a:spAutoFit/>
          </a:bodyPr>
          <a:lstStyle/>
          <a:p>
            <a:pPr algn="l">
              <a:lnSpc>
                <a:spcPts val="1124"/>
              </a:lnSpc>
            </a:pPr>
            <a:r>
              <a:rPr lang="en-US" sz="875">
                <a:solidFill>
                  <a:srgbClr val="DAD8E9"/>
                </a:solidFill>
                <a:latin typeface="Arimo"/>
                <a:ea typeface="Arimo"/>
                <a:cs typeface="Arimo"/>
                <a:sym typeface="Arimo"/>
              </a:rPr>
              <a:t>Baseline</a:t>
            </a:r>
          </a:p>
        </p:txBody>
      </p:sp>
      <p:grpSp>
        <p:nvGrpSpPr>
          <p:cNvPr name="Group 32" id="32"/>
          <p:cNvGrpSpPr/>
          <p:nvPr/>
        </p:nvGrpSpPr>
        <p:grpSpPr>
          <a:xfrm rot="0">
            <a:off x="10338940" y="2619080"/>
            <a:ext cx="815873" cy="215208"/>
            <a:chOff x="0" y="0"/>
            <a:chExt cx="1087831" cy="286944"/>
          </a:xfrm>
        </p:grpSpPr>
        <p:sp>
          <p:nvSpPr>
            <p:cNvPr name="Freeform 33" id="33"/>
            <p:cNvSpPr/>
            <p:nvPr/>
          </p:nvSpPr>
          <p:spPr>
            <a:xfrm flipH="false" flipV="false" rot="0">
              <a:off x="6350" y="6350"/>
              <a:ext cx="1075055" cy="274320"/>
            </a:xfrm>
            <a:custGeom>
              <a:avLst/>
              <a:gdLst/>
              <a:ahLst/>
              <a:cxnLst/>
              <a:rect r="r" b="b" t="t" l="l"/>
              <a:pathLst>
                <a:path h="274320" w="1075055">
                  <a:moveTo>
                    <a:pt x="0" y="137160"/>
                  </a:moveTo>
                  <a:cubicBezTo>
                    <a:pt x="0" y="61341"/>
                    <a:pt x="63500" y="0"/>
                    <a:pt x="141732" y="0"/>
                  </a:cubicBezTo>
                  <a:lnTo>
                    <a:pt x="933323" y="0"/>
                  </a:lnTo>
                  <a:cubicBezTo>
                    <a:pt x="1011682" y="0"/>
                    <a:pt x="1075055" y="61341"/>
                    <a:pt x="1075055" y="137160"/>
                  </a:cubicBezTo>
                  <a:cubicBezTo>
                    <a:pt x="1075055" y="212979"/>
                    <a:pt x="1011555" y="274320"/>
                    <a:pt x="933323" y="274320"/>
                  </a:cubicBezTo>
                  <a:lnTo>
                    <a:pt x="141732" y="274320"/>
                  </a:lnTo>
                  <a:cubicBezTo>
                    <a:pt x="63500" y="274193"/>
                    <a:pt x="0" y="212852"/>
                    <a:pt x="0" y="137160"/>
                  </a:cubicBezTo>
                  <a:close/>
                </a:path>
              </a:pathLst>
            </a:custGeom>
            <a:solidFill>
              <a:srgbClr val="FFFFFF">
                <a:alpha val="3922"/>
              </a:srgbClr>
            </a:solidFill>
          </p:spPr>
        </p:sp>
        <p:sp>
          <p:nvSpPr>
            <p:cNvPr name="Freeform 34" id="34"/>
            <p:cNvSpPr/>
            <p:nvPr/>
          </p:nvSpPr>
          <p:spPr>
            <a:xfrm flipH="false" flipV="false" rot="0">
              <a:off x="0" y="0"/>
              <a:ext cx="1087755" cy="287020"/>
            </a:xfrm>
            <a:custGeom>
              <a:avLst/>
              <a:gdLst/>
              <a:ahLst/>
              <a:cxnLst/>
              <a:rect r="r" b="b" t="t" l="l"/>
              <a:pathLst>
                <a:path h="287020" w="1087755">
                  <a:moveTo>
                    <a:pt x="0" y="143510"/>
                  </a:moveTo>
                  <a:cubicBezTo>
                    <a:pt x="0" y="64008"/>
                    <a:pt x="66548" y="0"/>
                    <a:pt x="148082" y="0"/>
                  </a:cubicBezTo>
                  <a:lnTo>
                    <a:pt x="939673" y="0"/>
                  </a:lnTo>
                  <a:lnTo>
                    <a:pt x="939673" y="6350"/>
                  </a:lnTo>
                  <a:lnTo>
                    <a:pt x="939673" y="0"/>
                  </a:lnTo>
                  <a:cubicBezTo>
                    <a:pt x="1021334" y="0"/>
                    <a:pt x="1087755" y="64008"/>
                    <a:pt x="1087755" y="143510"/>
                  </a:cubicBezTo>
                  <a:lnTo>
                    <a:pt x="1081405" y="143510"/>
                  </a:lnTo>
                  <a:lnTo>
                    <a:pt x="1087755" y="143510"/>
                  </a:lnTo>
                  <a:lnTo>
                    <a:pt x="1081405" y="143510"/>
                  </a:lnTo>
                  <a:lnTo>
                    <a:pt x="1087755" y="143510"/>
                  </a:lnTo>
                  <a:cubicBezTo>
                    <a:pt x="1087755" y="222885"/>
                    <a:pt x="1021207" y="287020"/>
                    <a:pt x="939673" y="287020"/>
                  </a:cubicBezTo>
                  <a:lnTo>
                    <a:pt x="939673" y="280670"/>
                  </a:lnTo>
                  <a:lnTo>
                    <a:pt x="939673" y="287020"/>
                  </a:lnTo>
                  <a:lnTo>
                    <a:pt x="148082" y="287020"/>
                  </a:lnTo>
                  <a:lnTo>
                    <a:pt x="148082" y="280670"/>
                  </a:lnTo>
                  <a:lnTo>
                    <a:pt x="148082" y="287020"/>
                  </a:lnTo>
                  <a:cubicBezTo>
                    <a:pt x="66548" y="286893"/>
                    <a:pt x="0" y="222885"/>
                    <a:pt x="0" y="143510"/>
                  </a:cubicBezTo>
                  <a:lnTo>
                    <a:pt x="6350" y="143510"/>
                  </a:lnTo>
                  <a:lnTo>
                    <a:pt x="0" y="143510"/>
                  </a:lnTo>
                  <a:moveTo>
                    <a:pt x="12700" y="143510"/>
                  </a:moveTo>
                  <a:lnTo>
                    <a:pt x="6350" y="143510"/>
                  </a:lnTo>
                  <a:lnTo>
                    <a:pt x="12700" y="143510"/>
                  </a:lnTo>
                  <a:cubicBezTo>
                    <a:pt x="12700" y="215519"/>
                    <a:pt x="73152" y="274320"/>
                    <a:pt x="148082" y="274320"/>
                  </a:cubicBezTo>
                  <a:lnTo>
                    <a:pt x="939673" y="274320"/>
                  </a:lnTo>
                  <a:cubicBezTo>
                    <a:pt x="1014730" y="274320"/>
                    <a:pt x="1075055" y="215519"/>
                    <a:pt x="1075055" y="143510"/>
                  </a:cubicBezTo>
                  <a:cubicBezTo>
                    <a:pt x="1075055" y="71501"/>
                    <a:pt x="1014730" y="12700"/>
                    <a:pt x="939673" y="12700"/>
                  </a:cubicBezTo>
                  <a:lnTo>
                    <a:pt x="148082" y="12700"/>
                  </a:lnTo>
                  <a:lnTo>
                    <a:pt x="148082" y="6350"/>
                  </a:lnTo>
                  <a:lnTo>
                    <a:pt x="148082" y="12700"/>
                  </a:lnTo>
                  <a:cubicBezTo>
                    <a:pt x="73152" y="12700"/>
                    <a:pt x="12700" y="71501"/>
                    <a:pt x="12700" y="143510"/>
                  </a:cubicBezTo>
                  <a:close/>
                </a:path>
              </a:pathLst>
            </a:custGeom>
            <a:solidFill>
              <a:srgbClr val="010101"/>
            </a:solidFill>
          </p:spPr>
        </p:sp>
      </p:grpSp>
      <p:grpSp>
        <p:nvGrpSpPr>
          <p:cNvPr name="Group 35" id="35"/>
          <p:cNvGrpSpPr/>
          <p:nvPr/>
        </p:nvGrpSpPr>
        <p:grpSpPr>
          <a:xfrm rot="0">
            <a:off x="10410377" y="2669534"/>
            <a:ext cx="114300" cy="114300"/>
            <a:chOff x="0" y="0"/>
            <a:chExt cx="152400" cy="152400"/>
          </a:xfrm>
        </p:grpSpPr>
        <p:sp>
          <p:nvSpPr>
            <p:cNvPr name="Freeform 36" id="36" descr="preencoded.png"/>
            <p:cNvSpPr/>
            <p:nvPr/>
          </p:nvSpPr>
          <p:spPr>
            <a:xfrm flipH="false" flipV="false" rot="0">
              <a:off x="0" y="0"/>
              <a:ext cx="152400" cy="152400"/>
            </a:xfrm>
            <a:custGeom>
              <a:avLst/>
              <a:gdLst/>
              <a:ahLst/>
              <a:cxnLst/>
              <a:rect r="r" b="b" t="t" l="l"/>
              <a:pathLst>
                <a:path h="152400" w="152400">
                  <a:moveTo>
                    <a:pt x="0" y="0"/>
                  </a:moveTo>
                  <a:lnTo>
                    <a:pt x="152400" y="0"/>
                  </a:lnTo>
                  <a:lnTo>
                    <a:pt x="152400" y="152400"/>
                  </a:lnTo>
                  <a:lnTo>
                    <a:pt x="0" y="152400"/>
                  </a:lnTo>
                  <a:lnTo>
                    <a:pt x="0" y="0"/>
                  </a:lnTo>
                  <a:close/>
                </a:path>
              </a:pathLst>
            </a:custGeom>
            <a:blipFill>
              <a:blip r:embed="rId6"/>
              <a:stretch>
                <a:fillRect l="0" t="0" r="0" b="0"/>
              </a:stretch>
            </a:blipFill>
          </p:spPr>
        </p:sp>
      </p:grpSp>
      <p:sp>
        <p:nvSpPr>
          <p:cNvPr name="TextBox 37" id="37"/>
          <p:cNvSpPr txBox="true"/>
          <p:nvPr/>
        </p:nvSpPr>
        <p:spPr>
          <a:xfrm rot="0">
            <a:off x="10562777" y="2623842"/>
            <a:ext cx="520598" cy="177108"/>
          </a:xfrm>
          <a:prstGeom prst="rect">
            <a:avLst/>
          </a:prstGeom>
        </p:spPr>
        <p:txBody>
          <a:bodyPr anchor="t" rtlCol="false" tIns="0" lIns="0" bIns="0" rIns="0">
            <a:spAutoFit/>
          </a:bodyPr>
          <a:lstStyle/>
          <a:p>
            <a:pPr algn="l">
              <a:lnSpc>
                <a:spcPts val="1124"/>
              </a:lnSpc>
            </a:pPr>
            <a:r>
              <a:rPr lang="en-US" sz="875">
                <a:solidFill>
                  <a:srgbClr val="DAD8E9"/>
                </a:solidFill>
                <a:latin typeface="Arimo"/>
                <a:ea typeface="Arimo"/>
                <a:cs typeface="Arimo"/>
                <a:sym typeface="Arimo"/>
              </a:rPr>
              <a:t>Improved</a:t>
            </a:r>
          </a:p>
        </p:txBody>
      </p:sp>
      <p:grpSp>
        <p:nvGrpSpPr>
          <p:cNvPr name="Group 38" id="38"/>
          <p:cNvGrpSpPr/>
          <p:nvPr/>
        </p:nvGrpSpPr>
        <p:grpSpPr>
          <a:xfrm rot="0">
            <a:off x="9529915" y="2924766"/>
            <a:ext cx="7687570" cy="4724848"/>
            <a:chOff x="0" y="0"/>
            <a:chExt cx="10250094" cy="6299797"/>
          </a:xfrm>
        </p:grpSpPr>
        <p:sp>
          <p:nvSpPr>
            <p:cNvPr name="Freeform 39" id="39" descr="preencoded.png"/>
            <p:cNvSpPr/>
            <p:nvPr/>
          </p:nvSpPr>
          <p:spPr>
            <a:xfrm flipH="false" flipV="false" rot="0">
              <a:off x="0" y="0"/>
              <a:ext cx="10250043" cy="6299835"/>
            </a:xfrm>
            <a:custGeom>
              <a:avLst/>
              <a:gdLst/>
              <a:ahLst/>
              <a:cxnLst/>
              <a:rect r="r" b="b" t="t" l="l"/>
              <a:pathLst>
                <a:path h="6299835" w="10250043">
                  <a:moveTo>
                    <a:pt x="0" y="0"/>
                  </a:moveTo>
                  <a:lnTo>
                    <a:pt x="10250043" y="0"/>
                  </a:lnTo>
                  <a:lnTo>
                    <a:pt x="10250043" y="6299835"/>
                  </a:lnTo>
                  <a:lnTo>
                    <a:pt x="0" y="6299835"/>
                  </a:lnTo>
                  <a:lnTo>
                    <a:pt x="0" y="0"/>
                  </a:lnTo>
                  <a:close/>
                </a:path>
              </a:pathLst>
            </a:custGeom>
            <a:blipFill>
              <a:blip r:embed="rId7"/>
              <a:stretch>
                <a:fillRect l="0" t="-1" r="0" b="0"/>
              </a:stretch>
            </a:blipFill>
          </p:spPr>
        </p:sp>
      </p:grpSp>
      <p:sp>
        <p:nvSpPr>
          <p:cNvPr name="TextBox 40" id="40"/>
          <p:cNvSpPr txBox="true"/>
          <p:nvPr/>
        </p:nvSpPr>
        <p:spPr>
          <a:xfrm rot="0">
            <a:off x="14069482" y="3728095"/>
            <a:ext cx="204102" cy="120015"/>
          </a:xfrm>
          <a:prstGeom prst="rect">
            <a:avLst/>
          </a:prstGeom>
        </p:spPr>
        <p:txBody>
          <a:bodyPr anchor="t" rtlCol="false" tIns="0" lIns="0" bIns="0" rIns="0">
            <a:spAutoFit/>
          </a:bodyPr>
          <a:lstStyle/>
          <a:p>
            <a:pPr algn="l">
              <a:lnSpc>
                <a:spcPts val="812"/>
              </a:lnSpc>
            </a:pPr>
            <a:r>
              <a:rPr lang="en-US" sz="812">
                <a:solidFill>
                  <a:srgbClr val="FFFFFF"/>
                </a:solidFill>
                <a:latin typeface="Arimo"/>
                <a:ea typeface="Arimo"/>
                <a:cs typeface="Arimo"/>
                <a:sym typeface="Arimo"/>
              </a:rPr>
              <a:t>10.8</a:t>
            </a:r>
          </a:p>
        </p:txBody>
      </p:sp>
      <p:sp>
        <p:nvSpPr>
          <p:cNvPr name="TextBox 41" id="41"/>
          <p:cNvSpPr txBox="true"/>
          <p:nvPr/>
        </p:nvSpPr>
        <p:spPr>
          <a:xfrm rot="0">
            <a:off x="16222799" y="4401731"/>
            <a:ext cx="204102" cy="120015"/>
          </a:xfrm>
          <a:prstGeom prst="rect">
            <a:avLst/>
          </a:prstGeom>
        </p:spPr>
        <p:txBody>
          <a:bodyPr anchor="t" rtlCol="false" tIns="0" lIns="0" bIns="0" rIns="0">
            <a:spAutoFit/>
          </a:bodyPr>
          <a:lstStyle/>
          <a:p>
            <a:pPr algn="l">
              <a:lnSpc>
                <a:spcPts val="812"/>
              </a:lnSpc>
            </a:pPr>
            <a:r>
              <a:rPr lang="en-US" sz="812">
                <a:solidFill>
                  <a:srgbClr val="000000"/>
                </a:solidFill>
                <a:latin typeface="Arimo"/>
                <a:ea typeface="Arimo"/>
                <a:cs typeface="Arimo"/>
                <a:sym typeface="Arimo"/>
              </a:rPr>
              <a:t>16.4</a:t>
            </a:r>
          </a:p>
        </p:txBody>
      </p:sp>
      <p:sp>
        <p:nvSpPr>
          <p:cNvPr name="TextBox 42" id="42"/>
          <p:cNvSpPr txBox="true"/>
          <p:nvPr/>
        </p:nvSpPr>
        <p:spPr>
          <a:xfrm rot="0">
            <a:off x="12154252" y="5775970"/>
            <a:ext cx="204102" cy="120015"/>
          </a:xfrm>
          <a:prstGeom prst="rect">
            <a:avLst/>
          </a:prstGeom>
        </p:spPr>
        <p:txBody>
          <a:bodyPr anchor="t" rtlCol="false" tIns="0" lIns="0" bIns="0" rIns="0">
            <a:spAutoFit/>
          </a:bodyPr>
          <a:lstStyle/>
          <a:p>
            <a:pPr algn="l">
              <a:lnSpc>
                <a:spcPts val="812"/>
              </a:lnSpc>
            </a:pPr>
            <a:r>
              <a:rPr lang="en-US" sz="812">
                <a:solidFill>
                  <a:srgbClr val="FFFFFF"/>
                </a:solidFill>
                <a:latin typeface="Arimo"/>
                <a:ea typeface="Arimo"/>
                <a:cs typeface="Arimo"/>
                <a:sym typeface="Arimo"/>
              </a:rPr>
              <a:t>5.77</a:t>
            </a:r>
          </a:p>
        </p:txBody>
      </p:sp>
      <p:sp>
        <p:nvSpPr>
          <p:cNvPr name="TextBox 43" id="43"/>
          <p:cNvSpPr txBox="true"/>
          <p:nvPr/>
        </p:nvSpPr>
        <p:spPr>
          <a:xfrm rot="0">
            <a:off x="13284946" y="6449606"/>
            <a:ext cx="204102" cy="120015"/>
          </a:xfrm>
          <a:prstGeom prst="rect">
            <a:avLst/>
          </a:prstGeom>
        </p:spPr>
        <p:txBody>
          <a:bodyPr anchor="t" rtlCol="false" tIns="0" lIns="0" bIns="0" rIns="0">
            <a:spAutoFit/>
          </a:bodyPr>
          <a:lstStyle/>
          <a:p>
            <a:pPr algn="l">
              <a:lnSpc>
                <a:spcPts val="812"/>
              </a:lnSpc>
            </a:pPr>
            <a:r>
              <a:rPr lang="en-US" sz="812">
                <a:solidFill>
                  <a:srgbClr val="000000"/>
                </a:solidFill>
                <a:latin typeface="Arimo"/>
                <a:ea typeface="Arimo"/>
                <a:cs typeface="Arimo"/>
                <a:sym typeface="Arimo"/>
              </a:rPr>
              <a:t>8.71</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preencoded.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0B0C23">
                <a:alpha val="90196"/>
              </a:srgbClr>
            </a:solidFill>
          </p:spPr>
        </p:sp>
      </p:grpSp>
      <p:sp>
        <p:nvSpPr>
          <p:cNvPr name="TextBox 6" id="6"/>
          <p:cNvSpPr txBox="true"/>
          <p:nvPr/>
        </p:nvSpPr>
        <p:spPr>
          <a:xfrm rot="0">
            <a:off x="1080049" y="1884016"/>
            <a:ext cx="8879834" cy="885825"/>
          </a:xfrm>
          <a:prstGeom prst="rect">
            <a:avLst/>
          </a:prstGeom>
        </p:spPr>
        <p:txBody>
          <a:bodyPr anchor="t" rtlCol="false" tIns="0" lIns="0" bIns="0" rIns="0">
            <a:spAutoFit/>
          </a:bodyPr>
          <a:lstStyle/>
          <a:p>
            <a:pPr algn="l">
              <a:lnSpc>
                <a:spcPts val="6749"/>
              </a:lnSpc>
            </a:pPr>
            <a:r>
              <a:rPr lang="en-US" sz="5374" b="true">
                <a:solidFill>
                  <a:srgbClr val="C6BFEE"/>
                </a:solidFill>
                <a:latin typeface="Prompt Medium"/>
                <a:ea typeface="Prompt Medium"/>
                <a:cs typeface="Prompt Medium"/>
                <a:sym typeface="Prompt Medium"/>
              </a:rPr>
              <a:t>Output Image Comparison</a:t>
            </a:r>
          </a:p>
        </p:txBody>
      </p:sp>
      <p:grpSp>
        <p:nvGrpSpPr>
          <p:cNvPr name="Group 7" id="7"/>
          <p:cNvGrpSpPr/>
          <p:nvPr/>
        </p:nvGrpSpPr>
        <p:grpSpPr>
          <a:xfrm rot="0">
            <a:off x="1080049" y="3387033"/>
            <a:ext cx="2694537" cy="1665237"/>
            <a:chOff x="0" y="0"/>
            <a:chExt cx="3592716" cy="2220316"/>
          </a:xfrm>
        </p:grpSpPr>
        <p:sp>
          <p:nvSpPr>
            <p:cNvPr name="Freeform 8" id="8" descr="preencoded.png"/>
            <p:cNvSpPr/>
            <p:nvPr/>
          </p:nvSpPr>
          <p:spPr>
            <a:xfrm flipH="false" flipV="false" rot="0">
              <a:off x="0" y="0"/>
              <a:ext cx="3592703" cy="2220341"/>
            </a:xfrm>
            <a:custGeom>
              <a:avLst/>
              <a:gdLst/>
              <a:ahLst/>
              <a:cxnLst/>
              <a:rect r="r" b="b" t="t" l="l"/>
              <a:pathLst>
                <a:path h="2220341" w="3592703">
                  <a:moveTo>
                    <a:pt x="0" y="0"/>
                  </a:moveTo>
                  <a:lnTo>
                    <a:pt x="3592703" y="0"/>
                  </a:lnTo>
                  <a:lnTo>
                    <a:pt x="3592703" y="2220341"/>
                  </a:lnTo>
                  <a:lnTo>
                    <a:pt x="0" y="2220341"/>
                  </a:lnTo>
                  <a:lnTo>
                    <a:pt x="0" y="0"/>
                  </a:lnTo>
                  <a:close/>
                </a:path>
              </a:pathLst>
            </a:custGeom>
            <a:blipFill>
              <a:blip r:embed="rId4"/>
              <a:stretch>
                <a:fillRect l="0" t="-29" r="0" b="-28"/>
              </a:stretch>
            </a:blipFill>
          </p:spPr>
        </p:sp>
      </p:grpSp>
      <p:sp>
        <p:nvSpPr>
          <p:cNvPr name="TextBox 9" id="9"/>
          <p:cNvSpPr txBox="true"/>
          <p:nvPr/>
        </p:nvSpPr>
        <p:spPr>
          <a:xfrm rot="0">
            <a:off x="1080049" y="5428507"/>
            <a:ext cx="3429000" cy="438150"/>
          </a:xfrm>
          <a:prstGeom prst="rect">
            <a:avLst/>
          </a:prstGeom>
        </p:spPr>
        <p:txBody>
          <a:bodyPr anchor="t" rtlCol="false" tIns="0" lIns="0" bIns="0" rIns="0">
            <a:spAutoFit/>
          </a:bodyPr>
          <a:lstStyle/>
          <a:p>
            <a:pPr algn="l">
              <a:lnSpc>
                <a:spcPts val="3374"/>
              </a:lnSpc>
            </a:pPr>
            <a:r>
              <a:rPr lang="en-US" sz="2687" b="true">
                <a:solidFill>
                  <a:srgbClr val="DAD8E9"/>
                </a:solidFill>
                <a:latin typeface="Prompt Medium"/>
                <a:ea typeface="Prompt Medium"/>
                <a:cs typeface="Prompt Medium"/>
                <a:sym typeface="Prompt Medium"/>
              </a:rPr>
              <a:t>Hazy Input</a:t>
            </a:r>
          </a:p>
        </p:txBody>
      </p:sp>
      <p:sp>
        <p:nvSpPr>
          <p:cNvPr name="TextBox 10" id="10"/>
          <p:cNvSpPr txBox="true"/>
          <p:nvPr/>
        </p:nvSpPr>
        <p:spPr>
          <a:xfrm rot="0">
            <a:off x="1080049" y="5956544"/>
            <a:ext cx="3742582" cy="1576683"/>
          </a:xfrm>
          <a:prstGeom prst="rect">
            <a:avLst/>
          </a:prstGeom>
        </p:spPr>
        <p:txBody>
          <a:bodyPr anchor="t" rtlCol="false" tIns="0" lIns="0" bIns="0" rIns="0">
            <a:spAutoFit/>
          </a:bodyPr>
          <a:lstStyle/>
          <a:p>
            <a:pPr algn="l">
              <a:lnSpc>
                <a:spcPts val="3875"/>
              </a:lnSpc>
            </a:pPr>
            <a:r>
              <a:rPr lang="en-US" sz="2375">
                <a:solidFill>
                  <a:srgbClr val="DAD8E9"/>
                </a:solidFill>
                <a:latin typeface="Mukta Light"/>
                <a:ea typeface="Mukta Light"/>
                <a:cs typeface="Mukta Light"/>
                <a:sym typeface="Mukta Light"/>
              </a:rPr>
              <a:t>Original degraded image with low contrast and poor visibility.</a:t>
            </a:r>
          </a:p>
        </p:txBody>
      </p:sp>
      <p:grpSp>
        <p:nvGrpSpPr>
          <p:cNvPr name="Group 11" id="11"/>
          <p:cNvGrpSpPr/>
          <p:nvPr/>
        </p:nvGrpSpPr>
        <p:grpSpPr>
          <a:xfrm rot="0">
            <a:off x="5208384" y="3387033"/>
            <a:ext cx="2694680" cy="1665389"/>
            <a:chOff x="0" y="0"/>
            <a:chExt cx="3592906" cy="2220519"/>
          </a:xfrm>
        </p:grpSpPr>
        <p:sp>
          <p:nvSpPr>
            <p:cNvPr name="Freeform 12" id="12" descr="preencoded.png"/>
            <p:cNvSpPr/>
            <p:nvPr/>
          </p:nvSpPr>
          <p:spPr>
            <a:xfrm flipH="false" flipV="false" rot="0">
              <a:off x="0" y="0"/>
              <a:ext cx="3592957" cy="2220468"/>
            </a:xfrm>
            <a:custGeom>
              <a:avLst/>
              <a:gdLst/>
              <a:ahLst/>
              <a:cxnLst/>
              <a:rect r="r" b="b" t="t" l="l"/>
              <a:pathLst>
                <a:path h="2220468" w="3592957">
                  <a:moveTo>
                    <a:pt x="0" y="0"/>
                  </a:moveTo>
                  <a:lnTo>
                    <a:pt x="3592957" y="0"/>
                  </a:lnTo>
                  <a:lnTo>
                    <a:pt x="3592957" y="2220468"/>
                  </a:lnTo>
                  <a:lnTo>
                    <a:pt x="0" y="2220468"/>
                  </a:lnTo>
                  <a:lnTo>
                    <a:pt x="0" y="0"/>
                  </a:lnTo>
                  <a:close/>
                </a:path>
              </a:pathLst>
            </a:custGeom>
            <a:blipFill>
              <a:blip r:embed="rId5"/>
              <a:stretch>
                <a:fillRect l="0" t="-28" r="1" b="-30"/>
              </a:stretch>
            </a:blipFill>
          </p:spPr>
        </p:sp>
      </p:grpSp>
      <p:sp>
        <p:nvSpPr>
          <p:cNvPr name="TextBox 13" id="13"/>
          <p:cNvSpPr txBox="true"/>
          <p:nvPr/>
        </p:nvSpPr>
        <p:spPr>
          <a:xfrm rot="0">
            <a:off x="5208384" y="5428659"/>
            <a:ext cx="3429000" cy="438150"/>
          </a:xfrm>
          <a:prstGeom prst="rect">
            <a:avLst/>
          </a:prstGeom>
        </p:spPr>
        <p:txBody>
          <a:bodyPr anchor="t" rtlCol="false" tIns="0" lIns="0" bIns="0" rIns="0">
            <a:spAutoFit/>
          </a:bodyPr>
          <a:lstStyle/>
          <a:p>
            <a:pPr algn="l">
              <a:lnSpc>
                <a:spcPts val="3374"/>
              </a:lnSpc>
            </a:pPr>
            <a:r>
              <a:rPr lang="en-US" sz="2687" b="true">
                <a:solidFill>
                  <a:srgbClr val="DAD8E9"/>
                </a:solidFill>
                <a:latin typeface="Prompt Medium"/>
                <a:ea typeface="Prompt Medium"/>
                <a:cs typeface="Prompt Medium"/>
                <a:sym typeface="Prompt Medium"/>
              </a:rPr>
              <a:t>Baseline Output</a:t>
            </a:r>
          </a:p>
        </p:txBody>
      </p:sp>
      <p:sp>
        <p:nvSpPr>
          <p:cNvPr name="TextBox 14" id="14"/>
          <p:cNvSpPr txBox="true"/>
          <p:nvPr/>
        </p:nvSpPr>
        <p:spPr>
          <a:xfrm rot="0">
            <a:off x="5208384" y="5956697"/>
            <a:ext cx="3742734" cy="1576683"/>
          </a:xfrm>
          <a:prstGeom prst="rect">
            <a:avLst/>
          </a:prstGeom>
        </p:spPr>
        <p:txBody>
          <a:bodyPr anchor="t" rtlCol="false" tIns="0" lIns="0" bIns="0" rIns="0">
            <a:spAutoFit/>
          </a:bodyPr>
          <a:lstStyle/>
          <a:p>
            <a:pPr algn="l">
              <a:lnSpc>
                <a:spcPts val="3875"/>
              </a:lnSpc>
            </a:pPr>
            <a:r>
              <a:rPr lang="en-US" sz="2375">
                <a:solidFill>
                  <a:srgbClr val="DAD8E9"/>
                </a:solidFill>
                <a:latin typeface="Mukta Light"/>
                <a:ea typeface="Mukta Light"/>
                <a:cs typeface="Mukta Light"/>
                <a:sym typeface="Mukta Light"/>
              </a:rPr>
              <a:t>DCP baseline recovers some detail but shows residual haze and colour imbalance.</a:t>
            </a:r>
          </a:p>
        </p:txBody>
      </p:sp>
      <p:grpSp>
        <p:nvGrpSpPr>
          <p:cNvPr name="Group 15" id="15"/>
          <p:cNvGrpSpPr/>
          <p:nvPr/>
        </p:nvGrpSpPr>
        <p:grpSpPr>
          <a:xfrm rot="0">
            <a:off x="9336881" y="3387033"/>
            <a:ext cx="2694537" cy="1665237"/>
            <a:chOff x="0" y="0"/>
            <a:chExt cx="3592716" cy="2220316"/>
          </a:xfrm>
        </p:grpSpPr>
        <p:sp>
          <p:nvSpPr>
            <p:cNvPr name="Freeform 16" id="16" descr="preencoded.png"/>
            <p:cNvSpPr/>
            <p:nvPr/>
          </p:nvSpPr>
          <p:spPr>
            <a:xfrm flipH="false" flipV="false" rot="0">
              <a:off x="0" y="0"/>
              <a:ext cx="3592703" cy="2220341"/>
            </a:xfrm>
            <a:custGeom>
              <a:avLst/>
              <a:gdLst/>
              <a:ahLst/>
              <a:cxnLst/>
              <a:rect r="r" b="b" t="t" l="l"/>
              <a:pathLst>
                <a:path h="2220341" w="3592703">
                  <a:moveTo>
                    <a:pt x="0" y="0"/>
                  </a:moveTo>
                  <a:lnTo>
                    <a:pt x="3592703" y="0"/>
                  </a:lnTo>
                  <a:lnTo>
                    <a:pt x="3592703" y="2220341"/>
                  </a:lnTo>
                  <a:lnTo>
                    <a:pt x="0" y="2220341"/>
                  </a:lnTo>
                  <a:lnTo>
                    <a:pt x="0" y="0"/>
                  </a:lnTo>
                  <a:close/>
                </a:path>
              </a:pathLst>
            </a:custGeom>
            <a:blipFill>
              <a:blip r:embed="rId6"/>
              <a:stretch>
                <a:fillRect l="0" t="-29" r="0" b="-28"/>
              </a:stretch>
            </a:blipFill>
          </p:spPr>
        </p:sp>
      </p:grpSp>
      <p:sp>
        <p:nvSpPr>
          <p:cNvPr name="TextBox 17" id="17"/>
          <p:cNvSpPr txBox="true"/>
          <p:nvPr/>
        </p:nvSpPr>
        <p:spPr>
          <a:xfrm rot="0">
            <a:off x="9336881" y="5428507"/>
            <a:ext cx="3429000" cy="438150"/>
          </a:xfrm>
          <a:prstGeom prst="rect">
            <a:avLst/>
          </a:prstGeom>
        </p:spPr>
        <p:txBody>
          <a:bodyPr anchor="t" rtlCol="false" tIns="0" lIns="0" bIns="0" rIns="0">
            <a:spAutoFit/>
          </a:bodyPr>
          <a:lstStyle/>
          <a:p>
            <a:pPr algn="l">
              <a:lnSpc>
                <a:spcPts val="3374"/>
              </a:lnSpc>
            </a:pPr>
            <a:r>
              <a:rPr lang="en-US" sz="2687" b="true">
                <a:solidFill>
                  <a:srgbClr val="DAD8E9"/>
                </a:solidFill>
                <a:latin typeface="Prompt Medium"/>
                <a:ea typeface="Prompt Medium"/>
                <a:cs typeface="Prompt Medium"/>
                <a:sym typeface="Prompt Medium"/>
              </a:rPr>
              <a:t>Improved Output</a:t>
            </a:r>
          </a:p>
        </p:txBody>
      </p:sp>
      <p:sp>
        <p:nvSpPr>
          <p:cNvPr name="TextBox 18" id="18"/>
          <p:cNvSpPr txBox="true"/>
          <p:nvPr/>
        </p:nvSpPr>
        <p:spPr>
          <a:xfrm rot="0">
            <a:off x="9336881" y="5956544"/>
            <a:ext cx="3742582" cy="1576683"/>
          </a:xfrm>
          <a:prstGeom prst="rect">
            <a:avLst/>
          </a:prstGeom>
        </p:spPr>
        <p:txBody>
          <a:bodyPr anchor="t" rtlCol="false" tIns="0" lIns="0" bIns="0" rIns="0">
            <a:spAutoFit/>
          </a:bodyPr>
          <a:lstStyle/>
          <a:p>
            <a:pPr algn="l">
              <a:lnSpc>
                <a:spcPts val="3875"/>
              </a:lnSpc>
            </a:pPr>
            <a:r>
              <a:rPr lang="en-US" sz="2375">
                <a:solidFill>
                  <a:srgbClr val="DAD8E9"/>
                </a:solidFill>
                <a:latin typeface="Mukta Light"/>
                <a:ea typeface="Mukta Light"/>
                <a:cs typeface="Mukta Light"/>
                <a:sym typeface="Mukta Light"/>
              </a:rPr>
              <a:t>Enhanced pipeline yields superior clarity, contrast, and structural fidelity.</a:t>
            </a:r>
          </a:p>
        </p:txBody>
      </p:sp>
      <p:grpSp>
        <p:nvGrpSpPr>
          <p:cNvPr name="Group 19" id="19"/>
          <p:cNvGrpSpPr/>
          <p:nvPr/>
        </p:nvGrpSpPr>
        <p:grpSpPr>
          <a:xfrm rot="0">
            <a:off x="13465226" y="3387033"/>
            <a:ext cx="2694680" cy="1665389"/>
            <a:chOff x="0" y="0"/>
            <a:chExt cx="3592906" cy="2220519"/>
          </a:xfrm>
        </p:grpSpPr>
        <p:sp>
          <p:nvSpPr>
            <p:cNvPr name="Freeform 20" id="20" descr="preencoded.png"/>
            <p:cNvSpPr/>
            <p:nvPr/>
          </p:nvSpPr>
          <p:spPr>
            <a:xfrm flipH="false" flipV="false" rot="0">
              <a:off x="0" y="0"/>
              <a:ext cx="3592957" cy="2220468"/>
            </a:xfrm>
            <a:custGeom>
              <a:avLst/>
              <a:gdLst/>
              <a:ahLst/>
              <a:cxnLst/>
              <a:rect r="r" b="b" t="t" l="l"/>
              <a:pathLst>
                <a:path h="2220468" w="3592957">
                  <a:moveTo>
                    <a:pt x="0" y="0"/>
                  </a:moveTo>
                  <a:lnTo>
                    <a:pt x="3592957" y="0"/>
                  </a:lnTo>
                  <a:lnTo>
                    <a:pt x="3592957" y="2220468"/>
                  </a:lnTo>
                  <a:lnTo>
                    <a:pt x="0" y="2220468"/>
                  </a:lnTo>
                  <a:lnTo>
                    <a:pt x="0" y="0"/>
                  </a:lnTo>
                  <a:close/>
                </a:path>
              </a:pathLst>
            </a:custGeom>
            <a:blipFill>
              <a:blip r:embed="rId7"/>
              <a:stretch>
                <a:fillRect l="0" t="-28" r="1" b="-30"/>
              </a:stretch>
            </a:blipFill>
          </p:spPr>
        </p:sp>
      </p:grpSp>
      <p:sp>
        <p:nvSpPr>
          <p:cNvPr name="TextBox 21" id="21"/>
          <p:cNvSpPr txBox="true"/>
          <p:nvPr/>
        </p:nvSpPr>
        <p:spPr>
          <a:xfrm rot="0">
            <a:off x="13465226" y="5428659"/>
            <a:ext cx="3429000" cy="438150"/>
          </a:xfrm>
          <a:prstGeom prst="rect">
            <a:avLst/>
          </a:prstGeom>
        </p:spPr>
        <p:txBody>
          <a:bodyPr anchor="t" rtlCol="false" tIns="0" lIns="0" bIns="0" rIns="0">
            <a:spAutoFit/>
          </a:bodyPr>
          <a:lstStyle/>
          <a:p>
            <a:pPr algn="l">
              <a:lnSpc>
                <a:spcPts val="3374"/>
              </a:lnSpc>
            </a:pPr>
            <a:r>
              <a:rPr lang="en-US" sz="2687" b="true">
                <a:solidFill>
                  <a:srgbClr val="DAD8E9"/>
                </a:solidFill>
                <a:latin typeface="Prompt Medium"/>
                <a:ea typeface="Prompt Medium"/>
                <a:cs typeface="Prompt Medium"/>
                <a:sym typeface="Prompt Medium"/>
              </a:rPr>
              <a:t>Ground Truth</a:t>
            </a:r>
          </a:p>
        </p:txBody>
      </p:sp>
      <p:sp>
        <p:nvSpPr>
          <p:cNvPr name="TextBox 22" id="22"/>
          <p:cNvSpPr txBox="true"/>
          <p:nvPr/>
        </p:nvSpPr>
        <p:spPr>
          <a:xfrm rot="0">
            <a:off x="13465226" y="5956697"/>
            <a:ext cx="3742734" cy="1576683"/>
          </a:xfrm>
          <a:prstGeom prst="rect">
            <a:avLst/>
          </a:prstGeom>
        </p:spPr>
        <p:txBody>
          <a:bodyPr anchor="t" rtlCol="false" tIns="0" lIns="0" bIns="0" rIns="0">
            <a:spAutoFit/>
          </a:bodyPr>
          <a:lstStyle/>
          <a:p>
            <a:pPr algn="l">
              <a:lnSpc>
                <a:spcPts val="3875"/>
              </a:lnSpc>
            </a:pPr>
            <a:r>
              <a:rPr lang="en-US" sz="2375">
                <a:solidFill>
                  <a:srgbClr val="DAD8E9"/>
                </a:solidFill>
                <a:latin typeface="Mukta Light"/>
                <a:ea typeface="Mukta Light"/>
                <a:cs typeface="Mukta Light"/>
                <a:sym typeface="Mukta Light"/>
              </a:rPr>
              <a:t>Reference haze-free image used for PSNR and SSIM evaluation.</a:t>
            </a:r>
          </a:p>
        </p:txBody>
      </p:sp>
      <p:sp>
        <p:nvSpPr>
          <p:cNvPr name="TextBox 23" id="23"/>
          <p:cNvSpPr txBox="true"/>
          <p:nvPr/>
        </p:nvSpPr>
        <p:spPr>
          <a:xfrm rot="0">
            <a:off x="1080049" y="7785202"/>
            <a:ext cx="16127911" cy="589064"/>
          </a:xfrm>
          <a:prstGeom prst="rect">
            <a:avLst/>
          </a:prstGeom>
        </p:spPr>
        <p:txBody>
          <a:bodyPr anchor="t" rtlCol="false" tIns="0" lIns="0" bIns="0" rIns="0">
            <a:spAutoFit/>
          </a:bodyPr>
          <a:lstStyle/>
          <a:p>
            <a:pPr algn="ctr">
              <a:lnSpc>
                <a:spcPts val="3875"/>
              </a:lnSpc>
            </a:pPr>
            <a:r>
              <a:rPr lang="en-US" sz="2375" i="true">
                <a:solidFill>
                  <a:srgbClr val="DAD8E9"/>
                </a:solidFill>
                <a:latin typeface="Mukta Light"/>
                <a:ea typeface="Mukta Light"/>
                <a:cs typeface="Mukta Light"/>
                <a:sym typeface="Mukta Light"/>
              </a:rPr>
              <a:t>The improved method produces a visually cleaner result with markedly higher structural similarity to ground truth.</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preencoded.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0B0C23">
                <a:alpha val="90196"/>
              </a:srgbClr>
            </a:solidFill>
          </p:spPr>
        </p:sp>
      </p:grpSp>
      <p:sp>
        <p:nvSpPr>
          <p:cNvPr name="TextBox 6" id="6"/>
          <p:cNvSpPr txBox="true"/>
          <p:nvPr/>
        </p:nvSpPr>
        <p:spPr>
          <a:xfrm rot="0">
            <a:off x="1080049" y="1439313"/>
            <a:ext cx="12503648" cy="885825"/>
          </a:xfrm>
          <a:prstGeom prst="rect">
            <a:avLst/>
          </a:prstGeom>
        </p:spPr>
        <p:txBody>
          <a:bodyPr anchor="t" rtlCol="false" tIns="0" lIns="0" bIns="0" rIns="0">
            <a:spAutoFit/>
          </a:bodyPr>
          <a:lstStyle/>
          <a:p>
            <a:pPr algn="l">
              <a:lnSpc>
                <a:spcPts val="6749"/>
              </a:lnSpc>
            </a:pPr>
            <a:r>
              <a:rPr lang="en-US" sz="5374" b="true">
                <a:solidFill>
                  <a:srgbClr val="C6BFEE"/>
                </a:solidFill>
                <a:latin typeface="Prompt Medium"/>
                <a:ea typeface="Prompt Medium"/>
                <a:cs typeface="Prompt Medium"/>
                <a:sym typeface="Prompt Medium"/>
              </a:rPr>
              <a:t>Advantages of the Proposed Method</a:t>
            </a:r>
          </a:p>
        </p:txBody>
      </p:sp>
      <p:sp>
        <p:nvSpPr>
          <p:cNvPr name="Freeform 7" id="7" descr="preencoded.png"/>
          <p:cNvSpPr/>
          <p:nvPr/>
        </p:nvSpPr>
        <p:spPr>
          <a:xfrm flipH="false" flipV="false" rot="0">
            <a:off x="1080049" y="2942330"/>
            <a:ext cx="617191" cy="617191"/>
          </a:xfrm>
          <a:custGeom>
            <a:avLst/>
            <a:gdLst/>
            <a:ahLst/>
            <a:cxnLst/>
            <a:rect r="r" b="b" t="t" l="l"/>
            <a:pathLst>
              <a:path h="617191" w="617191">
                <a:moveTo>
                  <a:pt x="0" y="0"/>
                </a:moveTo>
                <a:lnTo>
                  <a:pt x="617192" y="0"/>
                </a:lnTo>
                <a:lnTo>
                  <a:pt x="617192" y="617191"/>
                </a:lnTo>
                <a:lnTo>
                  <a:pt x="0" y="61719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8" id="8"/>
          <p:cNvSpPr txBox="true"/>
          <p:nvPr/>
        </p:nvSpPr>
        <p:spPr>
          <a:xfrm rot="0">
            <a:off x="2083003" y="3038770"/>
            <a:ext cx="4115838" cy="866775"/>
          </a:xfrm>
          <a:prstGeom prst="rect">
            <a:avLst/>
          </a:prstGeom>
        </p:spPr>
        <p:txBody>
          <a:bodyPr anchor="t" rtlCol="false" tIns="0" lIns="0" bIns="0" rIns="0">
            <a:spAutoFit/>
          </a:bodyPr>
          <a:lstStyle/>
          <a:p>
            <a:pPr algn="l">
              <a:lnSpc>
                <a:spcPts val="3374"/>
              </a:lnSpc>
            </a:pPr>
            <a:r>
              <a:rPr lang="en-US" sz="2687" b="true">
                <a:solidFill>
                  <a:srgbClr val="DAD8E9"/>
                </a:solidFill>
                <a:latin typeface="Prompt Medium"/>
                <a:ea typeface="Prompt Medium"/>
                <a:cs typeface="Prompt Medium"/>
                <a:sym typeface="Prompt Medium"/>
              </a:rPr>
              <a:t>Better Visibility Restoration</a:t>
            </a:r>
          </a:p>
        </p:txBody>
      </p:sp>
      <p:sp>
        <p:nvSpPr>
          <p:cNvPr name="TextBox 9" id="9"/>
          <p:cNvSpPr txBox="true"/>
          <p:nvPr/>
        </p:nvSpPr>
        <p:spPr>
          <a:xfrm rot="0">
            <a:off x="2083003" y="3995442"/>
            <a:ext cx="4115838" cy="1576683"/>
          </a:xfrm>
          <a:prstGeom prst="rect">
            <a:avLst/>
          </a:prstGeom>
        </p:spPr>
        <p:txBody>
          <a:bodyPr anchor="t" rtlCol="false" tIns="0" lIns="0" bIns="0" rIns="0">
            <a:spAutoFit/>
          </a:bodyPr>
          <a:lstStyle/>
          <a:p>
            <a:pPr algn="l">
              <a:lnSpc>
                <a:spcPts val="3875"/>
              </a:lnSpc>
            </a:pPr>
            <a:r>
              <a:rPr lang="en-US" sz="2375">
                <a:solidFill>
                  <a:srgbClr val="DAD8E9"/>
                </a:solidFill>
                <a:latin typeface="Mukta Light"/>
                <a:ea typeface="Mukta Light"/>
                <a:cs typeface="Mukta Light"/>
                <a:sym typeface="Mukta Light"/>
              </a:rPr>
              <a:t>Iterative refinements recover fine detail and natural colour balance effectively.</a:t>
            </a:r>
          </a:p>
        </p:txBody>
      </p:sp>
      <p:sp>
        <p:nvSpPr>
          <p:cNvPr name="Freeform 10" id="10" descr="preencoded.png"/>
          <p:cNvSpPr/>
          <p:nvPr/>
        </p:nvSpPr>
        <p:spPr>
          <a:xfrm flipH="false" flipV="false" rot="0">
            <a:off x="6584604" y="2942330"/>
            <a:ext cx="617191" cy="617191"/>
          </a:xfrm>
          <a:custGeom>
            <a:avLst/>
            <a:gdLst/>
            <a:ahLst/>
            <a:cxnLst/>
            <a:rect r="r" b="b" t="t" l="l"/>
            <a:pathLst>
              <a:path h="617191" w="617191">
                <a:moveTo>
                  <a:pt x="0" y="0"/>
                </a:moveTo>
                <a:lnTo>
                  <a:pt x="617191" y="0"/>
                </a:lnTo>
                <a:lnTo>
                  <a:pt x="617191" y="617191"/>
                </a:lnTo>
                <a:lnTo>
                  <a:pt x="0" y="617191"/>
                </a:lnTo>
                <a:lnTo>
                  <a:pt x="0" y="0"/>
                </a:lnTo>
                <a:close/>
              </a:path>
            </a:pathLst>
          </a:custGeom>
          <a:blipFill>
            <a:blip r:embed="rId6">
              <a:extLst>
                <a:ext uri="{96DAC541-7B7A-43D3-8B79-37D633B846F1}">
                  <asvg:svgBlip xmlns:asvg="http://schemas.microsoft.com/office/drawing/2016/SVG/main" r:embed="rId7"/>
                </a:ext>
              </a:extLst>
            </a:blip>
            <a:stretch>
              <a:fillRect l="-4615" t="0" r="-4614" b="0"/>
            </a:stretch>
          </a:blipFill>
        </p:spPr>
      </p:sp>
      <p:sp>
        <p:nvSpPr>
          <p:cNvPr name="TextBox 11" id="11"/>
          <p:cNvSpPr txBox="true"/>
          <p:nvPr/>
        </p:nvSpPr>
        <p:spPr>
          <a:xfrm rot="0">
            <a:off x="7587558" y="3038770"/>
            <a:ext cx="3429000" cy="438150"/>
          </a:xfrm>
          <a:prstGeom prst="rect">
            <a:avLst/>
          </a:prstGeom>
        </p:spPr>
        <p:txBody>
          <a:bodyPr anchor="t" rtlCol="false" tIns="0" lIns="0" bIns="0" rIns="0">
            <a:spAutoFit/>
          </a:bodyPr>
          <a:lstStyle/>
          <a:p>
            <a:pPr algn="l">
              <a:lnSpc>
                <a:spcPts val="3374"/>
              </a:lnSpc>
            </a:pPr>
            <a:r>
              <a:rPr lang="en-US" sz="2687" b="true">
                <a:solidFill>
                  <a:srgbClr val="DAD8E9"/>
                </a:solidFill>
                <a:latin typeface="Prompt Medium"/>
                <a:ea typeface="Prompt Medium"/>
                <a:cs typeface="Prompt Medium"/>
                <a:sym typeface="Prompt Medium"/>
              </a:rPr>
              <a:t>Higher PSNR &amp; SSIM</a:t>
            </a:r>
          </a:p>
        </p:txBody>
      </p:sp>
      <p:sp>
        <p:nvSpPr>
          <p:cNvPr name="TextBox 12" id="12"/>
          <p:cNvSpPr txBox="true"/>
          <p:nvPr/>
        </p:nvSpPr>
        <p:spPr>
          <a:xfrm rot="0">
            <a:off x="7587558" y="3566817"/>
            <a:ext cx="4115838" cy="1576683"/>
          </a:xfrm>
          <a:prstGeom prst="rect">
            <a:avLst/>
          </a:prstGeom>
        </p:spPr>
        <p:txBody>
          <a:bodyPr anchor="t" rtlCol="false" tIns="0" lIns="0" bIns="0" rIns="0">
            <a:spAutoFit/>
          </a:bodyPr>
          <a:lstStyle/>
          <a:p>
            <a:pPr algn="l">
              <a:lnSpc>
                <a:spcPts val="3875"/>
              </a:lnSpc>
            </a:pPr>
            <a:r>
              <a:rPr lang="en-US" sz="2375">
                <a:solidFill>
                  <a:srgbClr val="DAD8E9"/>
                </a:solidFill>
                <a:latin typeface="Mukta Light"/>
                <a:ea typeface="Mukta Light"/>
                <a:cs typeface="Mukta Light"/>
                <a:sym typeface="Mukta Light"/>
              </a:rPr>
              <a:t>Quantitative metrics confirm significant quality improvement over the baseline.</a:t>
            </a:r>
          </a:p>
        </p:txBody>
      </p:sp>
      <p:sp>
        <p:nvSpPr>
          <p:cNvPr name="Freeform 13" id="13" descr="preencoded.png"/>
          <p:cNvSpPr/>
          <p:nvPr/>
        </p:nvSpPr>
        <p:spPr>
          <a:xfrm flipH="false" flipV="false" rot="0">
            <a:off x="12089159" y="2942330"/>
            <a:ext cx="617191" cy="617191"/>
          </a:xfrm>
          <a:custGeom>
            <a:avLst/>
            <a:gdLst/>
            <a:ahLst/>
            <a:cxnLst/>
            <a:rect r="r" b="b" t="t" l="l"/>
            <a:pathLst>
              <a:path h="617191" w="617191">
                <a:moveTo>
                  <a:pt x="0" y="0"/>
                </a:moveTo>
                <a:lnTo>
                  <a:pt x="617191" y="0"/>
                </a:lnTo>
                <a:lnTo>
                  <a:pt x="617191" y="617191"/>
                </a:lnTo>
                <a:lnTo>
                  <a:pt x="0" y="617191"/>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14" id="14"/>
          <p:cNvSpPr txBox="true"/>
          <p:nvPr/>
        </p:nvSpPr>
        <p:spPr>
          <a:xfrm rot="0">
            <a:off x="13092112" y="3038770"/>
            <a:ext cx="4115838" cy="866775"/>
          </a:xfrm>
          <a:prstGeom prst="rect">
            <a:avLst/>
          </a:prstGeom>
        </p:spPr>
        <p:txBody>
          <a:bodyPr anchor="t" rtlCol="false" tIns="0" lIns="0" bIns="0" rIns="0">
            <a:spAutoFit/>
          </a:bodyPr>
          <a:lstStyle/>
          <a:p>
            <a:pPr algn="l">
              <a:lnSpc>
                <a:spcPts val="3374"/>
              </a:lnSpc>
            </a:pPr>
            <a:r>
              <a:rPr lang="en-US" sz="2687" b="true">
                <a:solidFill>
                  <a:srgbClr val="DAD8E9"/>
                </a:solidFill>
                <a:latin typeface="Prompt Medium"/>
                <a:ea typeface="Prompt Medium"/>
                <a:cs typeface="Prompt Medium"/>
                <a:sym typeface="Prompt Medium"/>
              </a:rPr>
              <a:t>Low Computational Complexity</a:t>
            </a:r>
          </a:p>
        </p:txBody>
      </p:sp>
      <p:sp>
        <p:nvSpPr>
          <p:cNvPr name="TextBox 15" id="15"/>
          <p:cNvSpPr txBox="true"/>
          <p:nvPr/>
        </p:nvSpPr>
        <p:spPr>
          <a:xfrm rot="0">
            <a:off x="13092112" y="3995442"/>
            <a:ext cx="4115838" cy="1576683"/>
          </a:xfrm>
          <a:prstGeom prst="rect">
            <a:avLst/>
          </a:prstGeom>
        </p:spPr>
        <p:txBody>
          <a:bodyPr anchor="t" rtlCol="false" tIns="0" lIns="0" bIns="0" rIns="0">
            <a:spAutoFit/>
          </a:bodyPr>
          <a:lstStyle/>
          <a:p>
            <a:pPr algn="l">
              <a:lnSpc>
                <a:spcPts val="3875"/>
              </a:lnSpc>
            </a:pPr>
            <a:r>
              <a:rPr lang="en-US" sz="2375">
                <a:solidFill>
                  <a:srgbClr val="DAD8E9"/>
                </a:solidFill>
                <a:latin typeface="Mukta Light"/>
                <a:ea typeface="Mukta Light"/>
                <a:cs typeface="Mukta Light"/>
                <a:sym typeface="Mukta Light"/>
              </a:rPr>
              <a:t>Entirely matrix-based; runs efficiently on standard hardware without a GPU.</a:t>
            </a:r>
          </a:p>
        </p:txBody>
      </p:sp>
      <p:sp>
        <p:nvSpPr>
          <p:cNvPr name="Freeform 16" id="16" descr="preencoded.png"/>
          <p:cNvSpPr/>
          <p:nvPr/>
        </p:nvSpPr>
        <p:spPr>
          <a:xfrm flipH="false" flipV="false" rot="0">
            <a:off x="1080049" y="6189316"/>
            <a:ext cx="617191" cy="617191"/>
          </a:xfrm>
          <a:custGeom>
            <a:avLst/>
            <a:gdLst/>
            <a:ahLst/>
            <a:cxnLst/>
            <a:rect r="r" b="b" t="t" l="l"/>
            <a:pathLst>
              <a:path h="617191" w="617191">
                <a:moveTo>
                  <a:pt x="0" y="0"/>
                </a:moveTo>
                <a:lnTo>
                  <a:pt x="617192" y="0"/>
                </a:lnTo>
                <a:lnTo>
                  <a:pt x="617192" y="617192"/>
                </a:lnTo>
                <a:lnTo>
                  <a:pt x="0" y="617192"/>
                </a:lnTo>
                <a:lnTo>
                  <a:pt x="0" y="0"/>
                </a:lnTo>
                <a:close/>
              </a:path>
            </a:pathLst>
          </a:custGeom>
          <a:blipFill>
            <a:blip r:embed="rId10">
              <a:extLst>
                <a:ext uri="{96DAC541-7B7A-43D3-8B79-37D633B846F1}">
                  <asvg:svgBlip xmlns:asvg="http://schemas.microsoft.com/office/drawing/2016/SVG/main" r:embed="rId11"/>
                </a:ext>
              </a:extLst>
            </a:blip>
            <a:stretch>
              <a:fillRect l="-3845" t="0" r="-3845" b="0"/>
            </a:stretch>
          </a:blipFill>
        </p:spPr>
      </p:sp>
      <p:sp>
        <p:nvSpPr>
          <p:cNvPr name="TextBox 17" id="17"/>
          <p:cNvSpPr txBox="true"/>
          <p:nvPr/>
        </p:nvSpPr>
        <p:spPr>
          <a:xfrm rot="0">
            <a:off x="2083003" y="6285757"/>
            <a:ext cx="4115838" cy="866775"/>
          </a:xfrm>
          <a:prstGeom prst="rect">
            <a:avLst/>
          </a:prstGeom>
        </p:spPr>
        <p:txBody>
          <a:bodyPr anchor="t" rtlCol="false" tIns="0" lIns="0" bIns="0" rIns="0">
            <a:spAutoFit/>
          </a:bodyPr>
          <a:lstStyle/>
          <a:p>
            <a:pPr algn="l">
              <a:lnSpc>
                <a:spcPts val="3374"/>
              </a:lnSpc>
            </a:pPr>
            <a:r>
              <a:rPr lang="en-US" sz="2687" b="true">
                <a:solidFill>
                  <a:srgbClr val="DAD8E9"/>
                </a:solidFill>
                <a:latin typeface="Prompt Medium"/>
                <a:ea typeface="Prompt Medium"/>
                <a:cs typeface="Prompt Medium"/>
                <a:sym typeface="Prompt Medium"/>
              </a:rPr>
              <a:t>No Deep Learning Required</a:t>
            </a:r>
          </a:p>
        </p:txBody>
      </p:sp>
      <p:sp>
        <p:nvSpPr>
          <p:cNvPr name="TextBox 18" id="18"/>
          <p:cNvSpPr txBox="true"/>
          <p:nvPr/>
        </p:nvSpPr>
        <p:spPr>
          <a:xfrm rot="0">
            <a:off x="2083003" y="7242419"/>
            <a:ext cx="4115838" cy="1576683"/>
          </a:xfrm>
          <a:prstGeom prst="rect">
            <a:avLst/>
          </a:prstGeom>
        </p:spPr>
        <p:txBody>
          <a:bodyPr anchor="t" rtlCol="false" tIns="0" lIns="0" bIns="0" rIns="0">
            <a:spAutoFit/>
          </a:bodyPr>
          <a:lstStyle/>
          <a:p>
            <a:pPr algn="l">
              <a:lnSpc>
                <a:spcPts val="3875"/>
              </a:lnSpc>
            </a:pPr>
            <a:r>
              <a:rPr lang="en-US" sz="2375">
                <a:solidFill>
                  <a:srgbClr val="DAD8E9"/>
                </a:solidFill>
                <a:latin typeface="Mukta Light"/>
                <a:ea typeface="Mukta Light"/>
                <a:cs typeface="Mukta Light"/>
                <a:sym typeface="Mukta Light"/>
              </a:rPr>
              <a:t>Fully interpretable and explainable — no training data or model inference needed.</a:t>
            </a:r>
          </a:p>
        </p:txBody>
      </p:sp>
      <p:sp>
        <p:nvSpPr>
          <p:cNvPr name="Freeform 19" id="19" descr="preencoded.png"/>
          <p:cNvSpPr/>
          <p:nvPr/>
        </p:nvSpPr>
        <p:spPr>
          <a:xfrm flipH="false" flipV="false" rot="0">
            <a:off x="6584604" y="6189316"/>
            <a:ext cx="617191" cy="617191"/>
          </a:xfrm>
          <a:custGeom>
            <a:avLst/>
            <a:gdLst/>
            <a:ahLst/>
            <a:cxnLst/>
            <a:rect r="r" b="b" t="t" l="l"/>
            <a:pathLst>
              <a:path h="617191" w="617191">
                <a:moveTo>
                  <a:pt x="0" y="0"/>
                </a:moveTo>
                <a:lnTo>
                  <a:pt x="617191" y="0"/>
                </a:lnTo>
                <a:lnTo>
                  <a:pt x="617191" y="617192"/>
                </a:lnTo>
                <a:lnTo>
                  <a:pt x="0" y="617192"/>
                </a:lnTo>
                <a:lnTo>
                  <a:pt x="0" y="0"/>
                </a:lnTo>
                <a:close/>
              </a:path>
            </a:pathLst>
          </a:custGeom>
          <a:blipFill>
            <a:blip r:embed="rId12">
              <a:extLst>
                <a:ext uri="{96DAC541-7B7A-43D3-8B79-37D633B846F1}">
                  <asvg:svgBlip xmlns:asvg="http://schemas.microsoft.com/office/drawing/2016/SVG/main" r:embed="rId13"/>
                </a:ext>
              </a:extLst>
            </a:blip>
            <a:stretch>
              <a:fillRect l="0" t="-768" r="0" b="-770"/>
            </a:stretch>
          </a:blipFill>
        </p:spPr>
      </p:sp>
      <p:sp>
        <p:nvSpPr>
          <p:cNvPr name="TextBox 20" id="20"/>
          <p:cNvSpPr txBox="true"/>
          <p:nvPr/>
        </p:nvSpPr>
        <p:spPr>
          <a:xfrm rot="0">
            <a:off x="7587558" y="6285757"/>
            <a:ext cx="3656114" cy="438150"/>
          </a:xfrm>
          <a:prstGeom prst="rect">
            <a:avLst/>
          </a:prstGeom>
        </p:spPr>
        <p:txBody>
          <a:bodyPr anchor="t" rtlCol="false" tIns="0" lIns="0" bIns="0" rIns="0">
            <a:spAutoFit/>
          </a:bodyPr>
          <a:lstStyle/>
          <a:p>
            <a:pPr algn="l">
              <a:lnSpc>
                <a:spcPts val="3374"/>
              </a:lnSpc>
            </a:pPr>
            <a:r>
              <a:rPr lang="en-US" sz="2687" b="true">
                <a:solidFill>
                  <a:srgbClr val="DAD8E9"/>
                </a:solidFill>
                <a:latin typeface="Prompt Medium"/>
                <a:ea typeface="Prompt Medium"/>
                <a:cs typeface="Prompt Medium"/>
                <a:sym typeface="Prompt Medium"/>
              </a:rPr>
              <a:t>Real-Time Compatible</a:t>
            </a:r>
          </a:p>
        </p:txBody>
      </p:sp>
      <p:sp>
        <p:nvSpPr>
          <p:cNvPr name="TextBox 21" id="21"/>
          <p:cNvSpPr txBox="true"/>
          <p:nvPr/>
        </p:nvSpPr>
        <p:spPr>
          <a:xfrm rot="0">
            <a:off x="7587558" y="6813794"/>
            <a:ext cx="4115838" cy="1576683"/>
          </a:xfrm>
          <a:prstGeom prst="rect">
            <a:avLst/>
          </a:prstGeom>
        </p:spPr>
        <p:txBody>
          <a:bodyPr anchor="t" rtlCol="false" tIns="0" lIns="0" bIns="0" rIns="0">
            <a:spAutoFit/>
          </a:bodyPr>
          <a:lstStyle/>
          <a:p>
            <a:pPr algn="l">
              <a:lnSpc>
                <a:spcPts val="3875"/>
              </a:lnSpc>
            </a:pPr>
            <a:r>
              <a:rPr lang="en-US" sz="2375">
                <a:solidFill>
                  <a:srgbClr val="DAD8E9"/>
                </a:solidFill>
                <a:latin typeface="Mukta Light"/>
                <a:ea typeface="Mukta Light"/>
                <a:cs typeface="Mukta Light"/>
                <a:sym typeface="Mukta Light"/>
              </a:rPr>
              <a:t>Suitable for deployment in resource-constrained or embedded vision systems.</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preencoded.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0B0C23">
                <a:alpha val="90196"/>
              </a:srgbClr>
            </a:solidFill>
          </p:spPr>
        </p:sp>
      </p:grpSp>
      <p:sp>
        <p:nvSpPr>
          <p:cNvPr name="TextBox 6" id="6"/>
          <p:cNvSpPr txBox="true"/>
          <p:nvPr/>
        </p:nvSpPr>
        <p:spPr>
          <a:xfrm rot="0">
            <a:off x="945061" y="794442"/>
            <a:ext cx="7696048" cy="769144"/>
          </a:xfrm>
          <a:prstGeom prst="rect">
            <a:avLst/>
          </a:prstGeom>
        </p:spPr>
        <p:txBody>
          <a:bodyPr anchor="t" rtlCol="false" tIns="0" lIns="0" bIns="0" rIns="0">
            <a:spAutoFit/>
          </a:bodyPr>
          <a:lstStyle/>
          <a:p>
            <a:pPr algn="l">
              <a:lnSpc>
                <a:spcPts val="5874"/>
              </a:lnSpc>
            </a:pPr>
            <a:r>
              <a:rPr lang="en-US" sz="4687" b="true">
                <a:solidFill>
                  <a:srgbClr val="C6BFEE"/>
                </a:solidFill>
                <a:latin typeface="Prompt Medium"/>
                <a:ea typeface="Prompt Medium"/>
                <a:cs typeface="Prompt Medium"/>
                <a:sym typeface="Prompt Medium"/>
              </a:rPr>
              <a:t>Conclusion &amp; Future Work</a:t>
            </a:r>
          </a:p>
        </p:txBody>
      </p:sp>
      <p:sp>
        <p:nvSpPr>
          <p:cNvPr name="TextBox 7" id="7"/>
          <p:cNvSpPr txBox="true"/>
          <p:nvPr/>
        </p:nvSpPr>
        <p:spPr>
          <a:xfrm rot="0">
            <a:off x="945061" y="2135086"/>
            <a:ext cx="3000375" cy="394097"/>
          </a:xfrm>
          <a:prstGeom prst="rect">
            <a:avLst/>
          </a:prstGeom>
        </p:spPr>
        <p:txBody>
          <a:bodyPr anchor="t" rtlCol="false" tIns="0" lIns="0" bIns="0" rIns="0">
            <a:spAutoFit/>
          </a:bodyPr>
          <a:lstStyle/>
          <a:p>
            <a:pPr algn="l">
              <a:lnSpc>
                <a:spcPts val="2937"/>
              </a:lnSpc>
            </a:pPr>
            <a:r>
              <a:rPr lang="en-US" sz="2312" b="true">
                <a:solidFill>
                  <a:srgbClr val="C6BFEE"/>
                </a:solidFill>
                <a:latin typeface="Prompt Medium"/>
                <a:ea typeface="Prompt Medium"/>
                <a:cs typeface="Prompt Medium"/>
                <a:sym typeface="Prompt Medium"/>
              </a:rPr>
              <a:t>Key Achievements</a:t>
            </a:r>
          </a:p>
        </p:txBody>
      </p:sp>
      <p:grpSp>
        <p:nvGrpSpPr>
          <p:cNvPr name="Group 8" id="8"/>
          <p:cNvGrpSpPr/>
          <p:nvPr/>
        </p:nvGrpSpPr>
        <p:grpSpPr>
          <a:xfrm rot="0">
            <a:off x="940298" y="2790234"/>
            <a:ext cx="617039" cy="617039"/>
            <a:chOff x="0" y="0"/>
            <a:chExt cx="822719" cy="822719"/>
          </a:xfrm>
        </p:grpSpPr>
        <p:sp>
          <p:nvSpPr>
            <p:cNvPr name="Freeform 9" id="9"/>
            <p:cNvSpPr/>
            <p:nvPr/>
          </p:nvSpPr>
          <p:spPr>
            <a:xfrm flipH="false" flipV="false" rot="0">
              <a:off x="6350" y="6350"/>
              <a:ext cx="810006" cy="810006"/>
            </a:xfrm>
            <a:custGeom>
              <a:avLst/>
              <a:gdLst/>
              <a:ahLst/>
              <a:cxnLst/>
              <a:rect r="r" b="b" t="t" l="l"/>
              <a:pathLst>
                <a:path h="810006" w="810006">
                  <a:moveTo>
                    <a:pt x="0" y="151257"/>
                  </a:moveTo>
                  <a:cubicBezTo>
                    <a:pt x="0" y="67691"/>
                    <a:pt x="67691" y="0"/>
                    <a:pt x="151257" y="0"/>
                  </a:cubicBezTo>
                  <a:lnTo>
                    <a:pt x="658749" y="0"/>
                  </a:lnTo>
                  <a:cubicBezTo>
                    <a:pt x="742315" y="0"/>
                    <a:pt x="810006" y="67691"/>
                    <a:pt x="810006" y="151257"/>
                  </a:cubicBezTo>
                  <a:lnTo>
                    <a:pt x="810006" y="658749"/>
                  </a:lnTo>
                  <a:cubicBezTo>
                    <a:pt x="810006" y="742315"/>
                    <a:pt x="742315" y="810006"/>
                    <a:pt x="658749" y="810006"/>
                  </a:cubicBezTo>
                  <a:lnTo>
                    <a:pt x="151257" y="810006"/>
                  </a:lnTo>
                  <a:cubicBezTo>
                    <a:pt x="67691" y="810006"/>
                    <a:pt x="0" y="742315"/>
                    <a:pt x="0" y="658749"/>
                  </a:cubicBezTo>
                  <a:close/>
                </a:path>
              </a:pathLst>
            </a:custGeom>
            <a:solidFill>
              <a:srgbClr val="542C49"/>
            </a:solidFill>
          </p:spPr>
        </p:sp>
        <p:sp>
          <p:nvSpPr>
            <p:cNvPr name="Freeform 10" id="10"/>
            <p:cNvSpPr/>
            <p:nvPr/>
          </p:nvSpPr>
          <p:spPr>
            <a:xfrm flipH="false" flipV="false" rot="0">
              <a:off x="0" y="0"/>
              <a:ext cx="822706" cy="822706"/>
            </a:xfrm>
            <a:custGeom>
              <a:avLst/>
              <a:gdLst/>
              <a:ahLst/>
              <a:cxnLst/>
              <a:rect r="r" b="b" t="t" l="l"/>
              <a:pathLst>
                <a:path h="822706" w="822706">
                  <a:moveTo>
                    <a:pt x="0" y="157607"/>
                  </a:moveTo>
                  <a:cubicBezTo>
                    <a:pt x="0" y="70485"/>
                    <a:pt x="70485" y="0"/>
                    <a:pt x="157607" y="0"/>
                  </a:cubicBezTo>
                  <a:lnTo>
                    <a:pt x="665099" y="0"/>
                  </a:lnTo>
                  <a:lnTo>
                    <a:pt x="665099" y="6350"/>
                  </a:lnTo>
                  <a:lnTo>
                    <a:pt x="665099" y="0"/>
                  </a:lnTo>
                  <a:lnTo>
                    <a:pt x="665099" y="6350"/>
                  </a:lnTo>
                  <a:lnTo>
                    <a:pt x="665099" y="0"/>
                  </a:lnTo>
                  <a:cubicBezTo>
                    <a:pt x="752094" y="0"/>
                    <a:pt x="822706" y="70485"/>
                    <a:pt x="822706" y="157607"/>
                  </a:cubicBezTo>
                  <a:lnTo>
                    <a:pt x="822706" y="665099"/>
                  </a:lnTo>
                  <a:lnTo>
                    <a:pt x="816356" y="665099"/>
                  </a:lnTo>
                  <a:lnTo>
                    <a:pt x="822706" y="665099"/>
                  </a:lnTo>
                  <a:cubicBezTo>
                    <a:pt x="822706" y="752094"/>
                    <a:pt x="752221" y="822706"/>
                    <a:pt x="665099" y="822706"/>
                  </a:cubicBezTo>
                  <a:lnTo>
                    <a:pt x="665099" y="816356"/>
                  </a:lnTo>
                  <a:lnTo>
                    <a:pt x="665099" y="822706"/>
                  </a:lnTo>
                  <a:lnTo>
                    <a:pt x="157607" y="822706"/>
                  </a:lnTo>
                  <a:lnTo>
                    <a:pt x="157607" y="816356"/>
                  </a:lnTo>
                  <a:lnTo>
                    <a:pt x="157607" y="822706"/>
                  </a:lnTo>
                  <a:cubicBezTo>
                    <a:pt x="70485" y="822706"/>
                    <a:pt x="0" y="752221"/>
                    <a:pt x="0" y="665099"/>
                  </a:cubicBezTo>
                  <a:lnTo>
                    <a:pt x="0" y="157607"/>
                  </a:lnTo>
                  <a:lnTo>
                    <a:pt x="6350" y="157607"/>
                  </a:lnTo>
                  <a:lnTo>
                    <a:pt x="0" y="157607"/>
                  </a:lnTo>
                  <a:moveTo>
                    <a:pt x="12700" y="157607"/>
                  </a:moveTo>
                  <a:lnTo>
                    <a:pt x="12700" y="665099"/>
                  </a:lnTo>
                  <a:lnTo>
                    <a:pt x="6350" y="665099"/>
                  </a:lnTo>
                  <a:lnTo>
                    <a:pt x="12700" y="665099"/>
                  </a:lnTo>
                  <a:cubicBezTo>
                    <a:pt x="12700" y="745109"/>
                    <a:pt x="77597" y="810006"/>
                    <a:pt x="157607" y="810006"/>
                  </a:cubicBezTo>
                  <a:lnTo>
                    <a:pt x="665099" y="810006"/>
                  </a:lnTo>
                  <a:cubicBezTo>
                    <a:pt x="745109" y="810006"/>
                    <a:pt x="810006" y="745109"/>
                    <a:pt x="810006" y="665099"/>
                  </a:cubicBezTo>
                  <a:lnTo>
                    <a:pt x="810006" y="157607"/>
                  </a:lnTo>
                  <a:lnTo>
                    <a:pt x="816356" y="157607"/>
                  </a:lnTo>
                  <a:lnTo>
                    <a:pt x="810006" y="157607"/>
                  </a:lnTo>
                  <a:cubicBezTo>
                    <a:pt x="810006" y="77597"/>
                    <a:pt x="745109" y="12700"/>
                    <a:pt x="665099" y="12700"/>
                  </a:cubicBezTo>
                  <a:lnTo>
                    <a:pt x="157607" y="12700"/>
                  </a:lnTo>
                  <a:lnTo>
                    <a:pt x="157607" y="6350"/>
                  </a:lnTo>
                  <a:lnTo>
                    <a:pt x="157607" y="12700"/>
                  </a:lnTo>
                  <a:cubicBezTo>
                    <a:pt x="77597" y="12700"/>
                    <a:pt x="12700" y="77597"/>
                    <a:pt x="12700" y="157607"/>
                  </a:cubicBezTo>
                  <a:close/>
                </a:path>
              </a:pathLst>
            </a:custGeom>
            <a:solidFill>
              <a:srgbClr val="6D4562"/>
            </a:solidFill>
          </p:spPr>
        </p:sp>
      </p:grpSp>
      <p:sp>
        <p:nvSpPr>
          <p:cNvPr name="TextBox 11" id="11"/>
          <p:cNvSpPr txBox="true"/>
          <p:nvPr/>
        </p:nvSpPr>
        <p:spPr>
          <a:xfrm rot="0">
            <a:off x="1068810" y="2921346"/>
            <a:ext cx="360016" cy="402431"/>
          </a:xfrm>
          <a:prstGeom prst="rect">
            <a:avLst/>
          </a:prstGeom>
        </p:spPr>
        <p:txBody>
          <a:bodyPr anchor="t" rtlCol="false" tIns="0" lIns="0" bIns="0" rIns="0">
            <a:spAutoFit/>
          </a:bodyPr>
          <a:lstStyle/>
          <a:p>
            <a:pPr algn="ctr">
              <a:lnSpc>
                <a:spcPts val="2812"/>
              </a:lnSpc>
            </a:pPr>
            <a:r>
              <a:rPr lang="en-US" sz="2812" b="true">
                <a:solidFill>
                  <a:srgbClr val="DAD8E9"/>
                </a:solidFill>
                <a:latin typeface="Prompt Medium"/>
                <a:ea typeface="Prompt Medium"/>
                <a:cs typeface="Prompt Medium"/>
                <a:sym typeface="Prompt Medium"/>
              </a:rPr>
              <a:t>1</a:t>
            </a:r>
          </a:p>
        </p:txBody>
      </p:sp>
      <p:sp>
        <p:nvSpPr>
          <p:cNvPr name="TextBox 12" id="12"/>
          <p:cNvSpPr txBox="true"/>
          <p:nvPr/>
        </p:nvSpPr>
        <p:spPr>
          <a:xfrm rot="0">
            <a:off x="1788766" y="2868663"/>
            <a:ext cx="3120476" cy="394097"/>
          </a:xfrm>
          <a:prstGeom prst="rect">
            <a:avLst/>
          </a:prstGeom>
        </p:spPr>
        <p:txBody>
          <a:bodyPr anchor="t" rtlCol="false" tIns="0" lIns="0" bIns="0" rIns="0">
            <a:spAutoFit/>
          </a:bodyPr>
          <a:lstStyle/>
          <a:p>
            <a:pPr algn="l">
              <a:lnSpc>
                <a:spcPts val="2937"/>
              </a:lnSpc>
            </a:pPr>
            <a:r>
              <a:rPr lang="en-US" sz="2312" b="true">
                <a:solidFill>
                  <a:srgbClr val="DAD8E9"/>
                </a:solidFill>
                <a:latin typeface="Prompt Medium"/>
                <a:ea typeface="Prompt Medium"/>
                <a:cs typeface="Prompt Medium"/>
                <a:sym typeface="Prompt Medium"/>
              </a:rPr>
              <a:t>Baseline Reproduced</a:t>
            </a:r>
          </a:p>
        </p:txBody>
      </p:sp>
      <p:sp>
        <p:nvSpPr>
          <p:cNvPr name="TextBox 13" id="13"/>
          <p:cNvSpPr txBox="true"/>
          <p:nvPr/>
        </p:nvSpPr>
        <p:spPr>
          <a:xfrm rot="0">
            <a:off x="1788766" y="3451327"/>
            <a:ext cx="7878661" cy="857545"/>
          </a:xfrm>
          <a:prstGeom prst="rect">
            <a:avLst/>
          </a:prstGeom>
        </p:spPr>
        <p:txBody>
          <a:bodyPr anchor="t" rtlCol="false" tIns="0" lIns="0" bIns="0" rIns="0">
            <a:spAutoFit/>
          </a:bodyPr>
          <a:lstStyle/>
          <a:p>
            <a:pPr algn="l">
              <a:lnSpc>
                <a:spcPts val="3187"/>
              </a:lnSpc>
            </a:pPr>
            <a:r>
              <a:rPr lang="en-US" sz="2125">
                <a:solidFill>
                  <a:srgbClr val="DAD8E9"/>
                </a:solidFill>
                <a:latin typeface="Mukta Light"/>
                <a:ea typeface="Mukta Light"/>
                <a:cs typeface="Mukta Light"/>
                <a:sym typeface="Mukta Light"/>
              </a:rPr>
              <a:t>Faithful re-implementation of the Dark Channel Prior method validated against published results.</a:t>
            </a:r>
          </a:p>
        </p:txBody>
      </p:sp>
      <p:grpSp>
        <p:nvGrpSpPr>
          <p:cNvPr name="Group 14" id="14"/>
          <p:cNvGrpSpPr/>
          <p:nvPr/>
        </p:nvGrpSpPr>
        <p:grpSpPr>
          <a:xfrm rot="0">
            <a:off x="940298" y="4776635"/>
            <a:ext cx="617039" cy="617039"/>
            <a:chOff x="0" y="0"/>
            <a:chExt cx="822719" cy="822719"/>
          </a:xfrm>
        </p:grpSpPr>
        <p:sp>
          <p:nvSpPr>
            <p:cNvPr name="Freeform 15" id="15"/>
            <p:cNvSpPr/>
            <p:nvPr/>
          </p:nvSpPr>
          <p:spPr>
            <a:xfrm flipH="false" flipV="false" rot="0">
              <a:off x="6350" y="6350"/>
              <a:ext cx="810006" cy="810006"/>
            </a:xfrm>
            <a:custGeom>
              <a:avLst/>
              <a:gdLst/>
              <a:ahLst/>
              <a:cxnLst/>
              <a:rect r="r" b="b" t="t" l="l"/>
              <a:pathLst>
                <a:path h="810006" w="810006">
                  <a:moveTo>
                    <a:pt x="0" y="151257"/>
                  </a:moveTo>
                  <a:cubicBezTo>
                    <a:pt x="0" y="67691"/>
                    <a:pt x="67691" y="0"/>
                    <a:pt x="151257" y="0"/>
                  </a:cubicBezTo>
                  <a:lnTo>
                    <a:pt x="658749" y="0"/>
                  </a:lnTo>
                  <a:cubicBezTo>
                    <a:pt x="742315" y="0"/>
                    <a:pt x="810006" y="67691"/>
                    <a:pt x="810006" y="151257"/>
                  </a:cubicBezTo>
                  <a:lnTo>
                    <a:pt x="810006" y="658749"/>
                  </a:lnTo>
                  <a:cubicBezTo>
                    <a:pt x="810006" y="742315"/>
                    <a:pt x="742315" y="810006"/>
                    <a:pt x="658749" y="810006"/>
                  </a:cubicBezTo>
                  <a:lnTo>
                    <a:pt x="151257" y="810006"/>
                  </a:lnTo>
                  <a:cubicBezTo>
                    <a:pt x="67691" y="810006"/>
                    <a:pt x="0" y="742315"/>
                    <a:pt x="0" y="658749"/>
                  </a:cubicBezTo>
                  <a:close/>
                </a:path>
              </a:pathLst>
            </a:custGeom>
            <a:solidFill>
              <a:srgbClr val="542C49"/>
            </a:solidFill>
          </p:spPr>
        </p:sp>
        <p:sp>
          <p:nvSpPr>
            <p:cNvPr name="Freeform 16" id="16"/>
            <p:cNvSpPr/>
            <p:nvPr/>
          </p:nvSpPr>
          <p:spPr>
            <a:xfrm flipH="false" flipV="false" rot="0">
              <a:off x="0" y="0"/>
              <a:ext cx="822706" cy="822706"/>
            </a:xfrm>
            <a:custGeom>
              <a:avLst/>
              <a:gdLst/>
              <a:ahLst/>
              <a:cxnLst/>
              <a:rect r="r" b="b" t="t" l="l"/>
              <a:pathLst>
                <a:path h="822706" w="822706">
                  <a:moveTo>
                    <a:pt x="0" y="157607"/>
                  </a:moveTo>
                  <a:cubicBezTo>
                    <a:pt x="0" y="70485"/>
                    <a:pt x="70485" y="0"/>
                    <a:pt x="157607" y="0"/>
                  </a:cubicBezTo>
                  <a:lnTo>
                    <a:pt x="665099" y="0"/>
                  </a:lnTo>
                  <a:lnTo>
                    <a:pt x="665099" y="6350"/>
                  </a:lnTo>
                  <a:lnTo>
                    <a:pt x="665099" y="0"/>
                  </a:lnTo>
                  <a:lnTo>
                    <a:pt x="665099" y="6350"/>
                  </a:lnTo>
                  <a:lnTo>
                    <a:pt x="665099" y="0"/>
                  </a:lnTo>
                  <a:cubicBezTo>
                    <a:pt x="752094" y="0"/>
                    <a:pt x="822706" y="70485"/>
                    <a:pt x="822706" y="157607"/>
                  </a:cubicBezTo>
                  <a:lnTo>
                    <a:pt x="822706" y="665099"/>
                  </a:lnTo>
                  <a:lnTo>
                    <a:pt x="816356" y="665099"/>
                  </a:lnTo>
                  <a:lnTo>
                    <a:pt x="822706" y="665099"/>
                  </a:lnTo>
                  <a:cubicBezTo>
                    <a:pt x="822706" y="752094"/>
                    <a:pt x="752221" y="822706"/>
                    <a:pt x="665099" y="822706"/>
                  </a:cubicBezTo>
                  <a:lnTo>
                    <a:pt x="665099" y="816356"/>
                  </a:lnTo>
                  <a:lnTo>
                    <a:pt x="665099" y="822706"/>
                  </a:lnTo>
                  <a:lnTo>
                    <a:pt x="157607" y="822706"/>
                  </a:lnTo>
                  <a:lnTo>
                    <a:pt x="157607" y="816356"/>
                  </a:lnTo>
                  <a:lnTo>
                    <a:pt x="157607" y="822706"/>
                  </a:lnTo>
                  <a:cubicBezTo>
                    <a:pt x="70485" y="822706"/>
                    <a:pt x="0" y="752221"/>
                    <a:pt x="0" y="665099"/>
                  </a:cubicBezTo>
                  <a:lnTo>
                    <a:pt x="0" y="157607"/>
                  </a:lnTo>
                  <a:lnTo>
                    <a:pt x="6350" y="157607"/>
                  </a:lnTo>
                  <a:lnTo>
                    <a:pt x="0" y="157607"/>
                  </a:lnTo>
                  <a:moveTo>
                    <a:pt x="12700" y="157607"/>
                  </a:moveTo>
                  <a:lnTo>
                    <a:pt x="12700" y="665099"/>
                  </a:lnTo>
                  <a:lnTo>
                    <a:pt x="6350" y="665099"/>
                  </a:lnTo>
                  <a:lnTo>
                    <a:pt x="12700" y="665099"/>
                  </a:lnTo>
                  <a:cubicBezTo>
                    <a:pt x="12700" y="745109"/>
                    <a:pt x="77597" y="810006"/>
                    <a:pt x="157607" y="810006"/>
                  </a:cubicBezTo>
                  <a:lnTo>
                    <a:pt x="665099" y="810006"/>
                  </a:lnTo>
                  <a:cubicBezTo>
                    <a:pt x="745109" y="810006"/>
                    <a:pt x="810006" y="745109"/>
                    <a:pt x="810006" y="665099"/>
                  </a:cubicBezTo>
                  <a:lnTo>
                    <a:pt x="810006" y="157607"/>
                  </a:lnTo>
                  <a:lnTo>
                    <a:pt x="816356" y="157607"/>
                  </a:lnTo>
                  <a:lnTo>
                    <a:pt x="810006" y="157607"/>
                  </a:lnTo>
                  <a:cubicBezTo>
                    <a:pt x="810006" y="77597"/>
                    <a:pt x="745109" y="12700"/>
                    <a:pt x="665099" y="12700"/>
                  </a:cubicBezTo>
                  <a:lnTo>
                    <a:pt x="157607" y="12700"/>
                  </a:lnTo>
                  <a:lnTo>
                    <a:pt x="157607" y="6350"/>
                  </a:lnTo>
                  <a:lnTo>
                    <a:pt x="157607" y="12700"/>
                  </a:lnTo>
                  <a:cubicBezTo>
                    <a:pt x="77597" y="12700"/>
                    <a:pt x="12700" y="77597"/>
                    <a:pt x="12700" y="157607"/>
                  </a:cubicBezTo>
                  <a:close/>
                </a:path>
              </a:pathLst>
            </a:custGeom>
            <a:solidFill>
              <a:srgbClr val="6D4562"/>
            </a:solidFill>
          </p:spPr>
        </p:sp>
      </p:grpSp>
      <p:sp>
        <p:nvSpPr>
          <p:cNvPr name="TextBox 17" id="17"/>
          <p:cNvSpPr txBox="true"/>
          <p:nvPr/>
        </p:nvSpPr>
        <p:spPr>
          <a:xfrm rot="0">
            <a:off x="1068810" y="4907756"/>
            <a:ext cx="360016" cy="402431"/>
          </a:xfrm>
          <a:prstGeom prst="rect">
            <a:avLst/>
          </a:prstGeom>
        </p:spPr>
        <p:txBody>
          <a:bodyPr anchor="t" rtlCol="false" tIns="0" lIns="0" bIns="0" rIns="0">
            <a:spAutoFit/>
          </a:bodyPr>
          <a:lstStyle/>
          <a:p>
            <a:pPr algn="ctr">
              <a:lnSpc>
                <a:spcPts val="2812"/>
              </a:lnSpc>
            </a:pPr>
            <a:r>
              <a:rPr lang="en-US" sz="2812" b="true">
                <a:solidFill>
                  <a:srgbClr val="DAD8E9"/>
                </a:solidFill>
                <a:latin typeface="Prompt Medium"/>
                <a:ea typeface="Prompt Medium"/>
                <a:cs typeface="Prompt Medium"/>
                <a:sym typeface="Prompt Medium"/>
              </a:rPr>
              <a:t>2</a:t>
            </a:r>
          </a:p>
        </p:txBody>
      </p:sp>
      <p:sp>
        <p:nvSpPr>
          <p:cNvPr name="TextBox 18" id="18"/>
          <p:cNvSpPr txBox="true"/>
          <p:nvPr/>
        </p:nvSpPr>
        <p:spPr>
          <a:xfrm rot="0">
            <a:off x="1788766" y="4855073"/>
            <a:ext cx="4286402" cy="394097"/>
          </a:xfrm>
          <a:prstGeom prst="rect">
            <a:avLst/>
          </a:prstGeom>
        </p:spPr>
        <p:txBody>
          <a:bodyPr anchor="t" rtlCol="false" tIns="0" lIns="0" bIns="0" rIns="0">
            <a:spAutoFit/>
          </a:bodyPr>
          <a:lstStyle/>
          <a:p>
            <a:pPr algn="l">
              <a:lnSpc>
                <a:spcPts val="2937"/>
              </a:lnSpc>
            </a:pPr>
            <a:r>
              <a:rPr lang="en-US" sz="2312" b="true">
                <a:solidFill>
                  <a:srgbClr val="DAD8E9"/>
                </a:solidFill>
                <a:latin typeface="Prompt Medium"/>
                <a:ea typeface="Prompt Medium"/>
                <a:cs typeface="Prompt Medium"/>
                <a:sym typeface="Prompt Medium"/>
              </a:rPr>
              <a:t>Improved Method Developed</a:t>
            </a:r>
          </a:p>
        </p:txBody>
      </p:sp>
      <p:sp>
        <p:nvSpPr>
          <p:cNvPr name="TextBox 19" id="19"/>
          <p:cNvSpPr txBox="true"/>
          <p:nvPr/>
        </p:nvSpPr>
        <p:spPr>
          <a:xfrm rot="0">
            <a:off x="1788766" y="5437737"/>
            <a:ext cx="7878661" cy="857545"/>
          </a:xfrm>
          <a:prstGeom prst="rect">
            <a:avLst/>
          </a:prstGeom>
        </p:spPr>
        <p:txBody>
          <a:bodyPr anchor="t" rtlCol="false" tIns="0" lIns="0" bIns="0" rIns="0">
            <a:spAutoFit/>
          </a:bodyPr>
          <a:lstStyle/>
          <a:p>
            <a:pPr algn="l">
              <a:lnSpc>
                <a:spcPts val="3187"/>
              </a:lnSpc>
            </a:pPr>
            <a:r>
              <a:rPr lang="en-US" sz="2125">
                <a:solidFill>
                  <a:srgbClr val="DAD8E9"/>
                </a:solidFill>
                <a:latin typeface="Mukta Light"/>
                <a:ea typeface="Mukta Light"/>
                <a:cs typeface="Mukta Light"/>
                <a:sym typeface="Mukta Light"/>
              </a:rPr>
              <a:t>Five targeted enhancements yielded a </a:t>
            </a:r>
            <a:r>
              <a:rPr lang="en-US" sz="2125" b="true">
                <a:solidFill>
                  <a:srgbClr val="A95B95"/>
                </a:solidFill>
                <a:latin typeface="Mukta Bold"/>
                <a:ea typeface="Mukta Bold"/>
                <a:cs typeface="Mukta Bold"/>
                <a:sym typeface="Mukta Bold"/>
              </a:rPr>
              <a:t>52% PSNR gain</a:t>
            </a:r>
            <a:r>
              <a:rPr lang="en-US" sz="2125">
                <a:solidFill>
                  <a:srgbClr val="DAD8E9"/>
                </a:solidFill>
                <a:latin typeface="Mukta Light"/>
                <a:ea typeface="Mukta Light"/>
                <a:cs typeface="Mukta Light"/>
                <a:sym typeface="Mukta Light"/>
              </a:rPr>
              <a:t> (10.77 → 16.41 dB) and </a:t>
            </a:r>
            <a:r>
              <a:rPr lang="en-US" sz="2125" b="true">
                <a:solidFill>
                  <a:srgbClr val="A95B95"/>
                </a:solidFill>
                <a:latin typeface="Mukta Bold"/>
                <a:ea typeface="Mukta Bold"/>
                <a:cs typeface="Mukta Bold"/>
                <a:sym typeface="Mukta Bold"/>
              </a:rPr>
              <a:t>51% SSIM gain</a:t>
            </a:r>
            <a:r>
              <a:rPr lang="en-US" sz="2125">
                <a:solidFill>
                  <a:srgbClr val="DAD8E9"/>
                </a:solidFill>
                <a:latin typeface="Mukta Light"/>
                <a:ea typeface="Mukta Light"/>
                <a:cs typeface="Mukta Light"/>
                <a:sym typeface="Mukta Light"/>
              </a:rPr>
              <a:t> (0.5768 → 0.8708).</a:t>
            </a:r>
          </a:p>
        </p:txBody>
      </p:sp>
      <p:grpSp>
        <p:nvGrpSpPr>
          <p:cNvPr name="Group 20" id="20"/>
          <p:cNvGrpSpPr/>
          <p:nvPr/>
        </p:nvGrpSpPr>
        <p:grpSpPr>
          <a:xfrm rot="0">
            <a:off x="940298" y="6763045"/>
            <a:ext cx="617039" cy="617039"/>
            <a:chOff x="0" y="0"/>
            <a:chExt cx="822719" cy="822719"/>
          </a:xfrm>
        </p:grpSpPr>
        <p:sp>
          <p:nvSpPr>
            <p:cNvPr name="Freeform 21" id="21"/>
            <p:cNvSpPr/>
            <p:nvPr/>
          </p:nvSpPr>
          <p:spPr>
            <a:xfrm flipH="false" flipV="false" rot="0">
              <a:off x="6350" y="6350"/>
              <a:ext cx="810006" cy="810006"/>
            </a:xfrm>
            <a:custGeom>
              <a:avLst/>
              <a:gdLst/>
              <a:ahLst/>
              <a:cxnLst/>
              <a:rect r="r" b="b" t="t" l="l"/>
              <a:pathLst>
                <a:path h="810006" w="810006">
                  <a:moveTo>
                    <a:pt x="0" y="151257"/>
                  </a:moveTo>
                  <a:cubicBezTo>
                    <a:pt x="0" y="67691"/>
                    <a:pt x="67691" y="0"/>
                    <a:pt x="151257" y="0"/>
                  </a:cubicBezTo>
                  <a:lnTo>
                    <a:pt x="658749" y="0"/>
                  </a:lnTo>
                  <a:cubicBezTo>
                    <a:pt x="742315" y="0"/>
                    <a:pt x="810006" y="67691"/>
                    <a:pt x="810006" y="151257"/>
                  </a:cubicBezTo>
                  <a:lnTo>
                    <a:pt x="810006" y="658749"/>
                  </a:lnTo>
                  <a:cubicBezTo>
                    <a:pt x="810006" y="742315"/>
                    <a:pt x="742315" y="810006"/>
                    <a:pt x="658749" y="810006"/>
                  </a:cubicBezTo>
                  <a:lnTo>
                    <a:pt x="151257" y="810006"/>
                  </a:lnTo>
                  <a:cubicBezTo>
                    <a:pt x="67691" y="810006"/>
                    <a:pt x="0" y="742315"/>
                    <a:pt x="0" y="658749"/>
                  </a:cubicBezTo>
                  <a:close/>
                </a:path>
              </a:pathLst>
            </a:custGeom>
            <a:solidFill>
              <a:srgbClr val="542C49"/>
            </a:solidFill>
          </p:spPr>
        </p:sp>
        <p:sp>
          <p:nvSpPr>
            <p:cNvPr name="Freeform 22" id="22"/>
            <p:cNvSpPr/>
            <p:nvPr/>
          </p:nvSpPr>
          <p:spPr>
            <a:xfrm flipH="false" flipV="false" rot="0">
              <a:off x="0" y="0"/>
              <a:ext cx="822706" cy="822706"/>
            </a:xfrm>
            <a:custGeom>
              <a:avLst/>
              <a:gdLst/>
              <a:ahLst/>
              <a:cxnLst/>
              <a:rect r="r" b="b" t="t" l="l"/>
              <a:pathLst>
                <a:path h="822706" w="822706">
                  <a:moveTo>
                    <a:pt x="0" y="157607"/>
                  </a:moveTo>
                  <a:cubicBezTo>
                    <a:pt x="0" y="70485"/>
                    <a:pt x="70485" y="0"/>
                    <a:pt x="157607" y="0"/>
                  </a:cubicBezTo>
                  <a:lnTo>
                    <a:pt x="665099" y="0"/>
                  </a:lnTo>
                  <a:lnTo>
                    <a:pt x="665099" y="6350"/>
                  </a:lnTo>
                  <a:lnTo>
                    <a:pt x="665099" y="0"/>
                  </a:lnTo>
                  <a:lnTo>
                    <a:pt x="665099" y="6350"/>
                  </a:lnTo>
                  <a:lnTo>
                    <a:pt x="665099" y="0"/>
                  </a:lnTo>
                  <a:cubicBezTo>
                    <a:pt x="752094" y="0"/>
                    <a:pt x="822706" y="70485"/>
                    <a:pt x="822706" y="157607"/>
                  </a:cubicBezTo>
                  <a:lnTo>
                    <a:pt x="822706" y="665099"/>
                  </a:lnTo>
                  <a:lnTo>
                    <a:pt x="816356" y="665099"/>
                  </a:lnTo>
                  <a:lnTo>
                    <a:pt x="822706" y="665099"/>
                  </a:lnTo>
                  <a:cubicBezTo>
                    <a:pt x="822706" y="752094"/>
                    <a:pt x="752221" y="822706"/>
                    <a:pt x="665099" y="822706"/>
                  </a:cubicBezTo>
                  <a:lnTo>
                    <a:pt x="665099" y="816356"/>
                  </a:lnTo>
                  <a:lnTo>
                    <a:pt x="665099" y="822706"/>
                  </a:lnTo>
                  <a:lnTo>
                    <a:pt x="157607" y="822706"/>
                  </a:lnTo>
                  <a:lnTo>
                    <a:pt x="157607" y="816356"/>
                  </a:lnTo>
                  <a:lnTo>
                    <a:pt x="157607" y="822706"/>
                  </a:lnTo>
                  <a:cubicBezTo>
                    <a:pt x="70485" y="822706"/>
                    <a:pt x="0" y="752221"/>
                    <a:pt x="0" y="665099"/>
                  </a:cubicBezTo>
                  <a:lnTo>
                    <a:pt x="0" y="157607"/>
                  </a:lnTo>
                  <a:lnTo>
                    <a:pt x="6350" y="157607"/>
                  </a:lnTo>
                  <a:lnTo>
                    <a:pt x="0" y="157607"/>
                  </a:lnTo>
                  <a:moveTo>
                    <a:pt x="12700" y="157607"/>
                  </a:moveTo>
                  <a:lnTo>
                    <a:pt x="12700" y="665099"/>
                  </a:lnTo>
                  <a:lnTo>
                    <a:pt x="6350" y="665099"/>
                  </a:lnTo>
                  <a:lnTo>
                    <a:pt x="12700" y="665099"/>
                  </a:lnTo>
                  <a:cubicBezTo>
                    <a:pt x="12700" y="745109"/>
                    <a:pt x="77597" y="810006"/>
                    <a:pt x="157607" y="810006"/>
                  </a:cubicBezTo>
                  <a:lnTo>
                    <a:pt x="665099" y="810006"/>
                  </a:lnTo>
                  <a:cubicBezTo>
                    <a:pt x="745109" y="810006"/>
                    <a:pt x="810006" y="745109"/>
                    <a:pt x="810006" y="665099"/>
                  </a:cubicBezTo>
                  <a:lnTo>
                    <a:pt x="810006" y="157607"/>
                  </a:lnTo>
                  <a:lnTo>
                    <a:pt x="816356" y="157607"/>
                  </a:lnTo>
                  <a:lnTo>
                    <a:pt x="810006" y="157607"/>
                  </a:lnTo>
                  <a:cubicBezTo>
                    <a:pt x="810006" y="77597"/>
                    <a:pt x="745109" y="12700"/>
                    <a:pt x="665099" y="12700"/>
                  </a:cubicBezTo>
                  <a:lnTo>
                    <a:pt x="157607" y="12700"/>
                  </a:lnTo>
                  <a:lnTo>
                    <a:pt x="157607" y="6350"/>
                  </a:lnTo>
                  <a:lnTo>
                    <a:pt x="157607" y="12700"/>
                  </a:lnTo>
                  <a:cubicBezTo>
                    <a:pt x="77597" y="12700"/>
                    <a:pt x="12700" y="77597"/>
                    <a:pt x="12700" y="157607"/>
                  </a:cubicBezTo>
                  <a:close/>
                </a:path>
              </a:pathLst>
            </a:custGeom>
            <a:solidFill>
              <a:srgbClr val="6D4562"/>
            </a:solidFill>
          </p:spPr>
        </p:sp>
      </p:grpSp>
      <p:sp>
        <p:nvSpPr>
          <p:cNvPr name="TextBox 23" id="23"/>
          <p:cNvSpPr txBox="true"/>
          <p:nvPr/>
        </p:nvSpPr>
        <p:spPr>
          <a:xfrm rot="0">
            <a:off x="1068810" y="6894166"/>
            <a:ext cx="360016" cy="402431"/>
          </a:xfrm>
          <a:prstGeom prst="rect">
            <a:avLst/>
          </a:prstGeom>
        </p:spPr>
        <p:txBody>
          <a:bodyPr anchor="t" rtlCol="false" tIns="0" lIns="0" bIns="0" rIns="0">
            <a:spAutoFit/>
          </a:bodyPr>
          <a:lstStyle/>
          <a:p>
            <a:pPr algn="ctr">
              <a:lnSpc>
                <a:spcPts val="2812"/>
              </a:lnSpc>
            </a:pPr>
            <a:r>
              <a:rPr lang="en-US" sz="2812" b="true">
                <a:solidFill>
                  <a:srgbClr val="DAD8E9"/>
                </a:solidFill>
                <a:latin typeface="Prompt Medium"/>
                <a:ea typeface="Prompt Medium"/>
                <a:cs typeface="Prompt Medium"/>
                <a:sym typeface="Prompt Medium"/>
              </a:rPr>
              <a:t>3</a:t>
            </a:r>
          </a:p>
        </p:txBody>
      </p:sp>
      <p:sp>
        <p:nvSpPr>
          <p:cNvPr name="TextBox 24" id="24"/>
          <p:cNvSpPr txBox="true"/>
          <p:nvPr/>
        </p:nvSpPr>
        <p:spPr>
          <a:xfrm rot="0">
            <a:off x="1788766" y="6841484"/>
            <a:ext cx="4277763" cy="394097"/>
          </a:xfrm>
          <a:prstGeom prst="rect">
            <a:avLst/>
          </a:prstGeom>
        </p:spPr>
        <p:txBody>
          <a:bodyPr anchor="t" rtlCol="false" tIns="0" lIns="0" bIns="0" rIns="0">
            <a:spAutoFit/>
          </a:bodyPr>
          <a:lstStyle/>
          <a:p>
            <a:pPr algn="l">
              <a:lnSpc>
                <a:spcPts val="2937"/>
              </a:lnSpc>
            </a:pPr>
            <a:r>
              <a:rPr lang="en-US" sz="2312" b="true">
                <a:solidFill>
                  <a:srgbClr val="DAD8E9"/>
                </a:solidFill>
                <a:latin typeface="Prompt Medium"/>
                <a:ea typeface="Prompt Medium"/>
                <a:cs typeface="Prompt Medium"/>
                <a:sym typeface="Prompt Medium"/>
              </a:rPr>
              <a:t>Classical Approach Validated</a:t>
            </a:r>
          </a:p>
        </p:txBody>
      </p:sp>
      <p:sp>
        <p:nvSpPr>
          <p:cNvPr name="TextBox 25" id="25"/>
          <p:cNvSpPr txBox="true"/>
          <p:nvPr/>
        </p:nvSpPr>
        <p:spPr>
          <a:xfrm rot="0">
            <a:off x="1788766" y="7424147"/>
            <a:ext cx="7878661" cy="857545"/>
          </a:xfrm>
          <a:prstGeom prst="rect">
            <a:avLst/>
          </a:prstGeom>
        </p:spPr>
        <p:txBody>
          <a:bodyPr anchor="t" rtlCol="false" tIns="0" lIns="0" bIns="0" rIns="0">
            <a:spAutoFit/>
          </a:bodyPr>
          <a:lstStyle/>
          <a:p>
            <a:pPr algn="l">
              <a:lnSpc>
                <a:spcPts val="3187"/>
              </a:lnSpc>
            </a:pPr>
            <a:r>
              <a:rPr lang="en-US" sz="2125">
                <a:solidFill>
                  <a:srgbClr val="DAD8E9"/>
                </a:solidFill>
                <a:latin typeface="Mukta Light"/>
                <a:ea typeface="Mukta Light"/>
                <a:cs typeface="Mukta Light"/>
                <a:sym typeface="Mukta Light"/>
              </a:rPr>
              <a:t>Demonstrated that principled, interpretable methods remain competitive for single-image dehazing.</a:t>
            </a:r>
          </a:p>
        </p:txBody>
      </p:sp>
      <p:sp>
        <p:nvSpPr>
          <p:cNvPr name="TextBox 26" id="26"/>
          <p:cNvSpPr txBox="true"/>
          <p:nvPr/>
        </p:nvSpPr>
        <p:spPr>
          <a:xfrm rot="0">
            <a:off x="10335663" y="2135086"/>
            <a:ext cx="3000375" cy="394097"/>
          </a:xfrm>
          <a:prstGeom prst="rect">
            <a:avLst/>
          </a:prstGeom>
        </p:spPr>
        <p:txBody>
          <a:bodyPr anchor="t" rtlCol="false" tIns="0" lIns="0" bIns="0" rIns="0">
            <a:spAutoFit/>
          </a:bodyPr>
          <a:lstStyle/>
          <a:p>
            <a:pPr algn="l">
              <a:lnSpc>
                <a:spcPts val="2937"/>
              </a:lnSpc>
            </a:pPr>
            <a:r>
              <a:rPr lang="en-US" sz="2312" b="true">
                <a:solidFill>
                  <a:srgbClr val="C6BFEE"/>
                </a:solidFill>
                <a:latin typeface="Prompt Medium"/>
                <a:ea typeface="Prompt Medium"/>
                <a:cs typeface="Prompt Medium"/>
                <a:sym typeface="Prompt Medium"/>
              </a:rPr>
              <a:t>Future Directions</a:t>
            </a:r>
          </a:p>
        </p:txBody>
      </p:sp>
      <p:grpSp>
        <p:nvGrpSpPr>
          <p:cNvPr name="Group 27" id="27"/>
          <p:cNvGrpSpPr/>
          <p:nvPr/>
        </p:nvGrpSpPr>
        <p:grpSpPr>
          <a:xfrm rot="0">
            <a:off x="10316613" y="2775947"/>
            <a:ext cx="3428257" cy="2855414"/>
            <a:chOff x="0" y="0"/>
            <a:chExt cx="4571009" cy="3807219"/>
          </a:xfrm>
        </p:grpSpPr>
        <p:sp>
          <p:nvSpPr>
            <p:cNvPr name="Freeform 28" id="28"/>
            <p:cNvSpPr/>
            <p:nvPr/>
          </p:nvSpPr>
          <p:spPr>
            <a:xfrm flipH="false" flipV="false" rot="0">
              <a:off x="25400" y="25400"/>
              <a:ext cx="4520311" cy="3756406"/>
            </a:xfrm>
            <a:custGeom>
              <a:avLst/>
              <a:gdLst/>
              <a:ahLst/>
              <a:cxnLst/>
              <a:rect r="r" b="b" t="t" l="l"/>
              <a:pathLst>
                <a:path h="3756406" w="4520311">
                  <a:moveTo>
                    <a:pt x="0" y="151257"/>
                  </a:moveTo>
                  <a:cubicBezTo>
                    <a:pt x="0" y="67691"/>
                    <a:pt x="67818" y="0"/>
                    <a:pt x="151638" y="0"/>
                  </a:cubicBezTo>
                  <a:lnTo>
                    <a:pt x="4368673" y="0"/>
                  </a:lnTo>
                  <a:cubicBezTo>
                    <a:pt x="4452366" y="0"/>
                    <a:pt x="4520311" y="67691"/>
                    <a:pt x="4520311" y="151257"/>
                  </a:cubicBezTo>
                  <a:lnTo>
                    <a:pt x="4520311" y="3605149"/>
                  </a:lnTo>
                  <a:cubicBezTo>
                    <a:pt x="4520311" y="3688715"/>
                    <a:pt x="4452493" y="3756406"/>
                    <a:pt x="4368673" y="3756406"/>
                  </a:cubicBezTo>
                  <a:lnTo>
                    <a:pt x="151638" y="3756406"/>
                  </a:lnTo>
                  <a:cubicBezTo>
                    <a:pt x="67818" y="3756406"/>
                    <a:pt x="0" y="3688715"/>
                    <a:pt x="0" y="3605149"/>
                  </a:cubicBezTo>
                  <a:close/>
                </a:path>
              </a:pathLst>
            </a:custGeom>
            <a:solidFill>
              <a:srgbClr val="0B0C23">
                <a:alpha val="90196"/>
              </a:srgbClr>
            </a:solidFill>
          </p:spPr>
        </p:sp>
        <p:sp>
          <p:nvSpPr>
            <p:cNvPr name="Freeform 29" id="29"/>
            <p:cNvSpPr/>
            <p:nvPr/>
          </p:nvSpPr>
          <p:spPr>
            <a:xfrm flipH="false" flipV="false" rot="0">
              <a:off x="0" y="0"/>
              <a:ext cx="4571111" cy="3807206"/>
            </a:xfrm>
            <a:custGeom>
              <a:avLst/>
              <a:gdLst/>
              <a:ahLst/>
              <a:cxnLst/>
              <a:rect r="r" b="b" t="t" l="l"/>
              <a:pathLst>
                <a:path h="3807206" w="4571111">
                  <a:moveTo>
                    <a:pt x="0" y="176657"/>
                  </a:moveTo>
                  <a:cubicBezTo>
                    <a:pt x="0" y="78994"/>
                    <a:pt x="79248" y="0"/>
                    <a:pt x="177038" y="0"/>
                  </a:cubicBezTo>
                  <a:lnTo>
                    <a:pt x="4394073" y="0"/>
                  </a:lnTo>
                  <a:lnTo>
                    <a:pt x="4394073" y="25400"/>
                  </a:lnTo>
                  <a:lnTo>
                    <a:pt x="4394073" y="0"/>
                  </a:lnTo>
                  <a:cubicBezTo>
                    <a:pt x="4491736" y="0"/>
                    <a:pt x="4571111" y="78994"/>
                    <a:pt x="4571111" y="176657"/>
                  </a:cubicBezTo>
                  <a:lnTo>
                    <a:pt x="4545711" y="176657"/>
                  </a:lnTo>
                  <a:lnTo>
                    <a:pt x="4571111" y="176657"/>
                  </a:lnTo>
                  <a:lnTo>
                    <a:pt x="4571111" y="3630549"/>
                  </a:lnTo>
                  <a:lnTo>
                    <a:pt x="4545711" y="3630549"/>
                  </a:lnTo>
                  <a:lnTo>
                    <a:pt x="4571111" y="3630549"/>
                  </a:lnTo>
                  <a:cubicBezTo>
                    <a:pt x="4571111" y="3728212"/>
                    <a:pt x="4491863" y="3807206"/>
                    <a:pt x="4394073" y="3807206"/>
                  </a:cubicBezTo>
                  <a:lnTo>
                    <a:pt x="4394073" y="3781806"/>
                  </a:lnTo>
                  <a:lnTo>
                    <a:pt x="4394073" y="3807206"/>
                  </a:lnTo>
                  <a:lnTo>
                    <a:pt x="177038" y="3807206"/>
                  </a:lnTo>
                  <a:lnTo>
                    <a:pt x="177038" y="3781806"/>
                  </a:lnTo>
                  <a:lnTo>
                    <a:pt x="177038" y="3807206"/>
                  </a:lnTo>
                  <a:cubicBezTo>
                    <a:pt x="79248" y="3807206"/>
                    <a:pt x="0" y="3728212"/>
                    <a:pt x="0" y="3630549"/>
                  </a:cubicBezTo>
                  <a:lnTo>
                    <a:pt x="0" y="176657"/>
                  </a:lnTo>
                  <a:lnTo>
                    <a:pt x="25400" y="176657"/>
                  </a:lnTo>
                  <a:lnTo>
                    <a:pt x="0" y="176657"/>
                  </a:lnTo>
                  <a:moveTo>
                    <a:pt x="50800" y="176657"/>
                  </a:moveTo>
                  <a:lnTo>
                    <a:pt x="50800" y="3630549"/>
                  </a:lnTo>
                  <a:lnTo>
                    <a:pt x="25400" y="3630549"/>
                  </a:lnTo>
                  <a:lnTo>
                    <a:pt x="50800" y="3630549"/>
                  </a:lnTo>
                  <a:cubicBezTo>
                    <a:pt x="50800" y="3700018"/>
                    <a:pt x="107188" y="3756406"/>
                    <a:pt x="177038" y="3756406"/>
                  </a:cubicBezTo>
                  <a:lnTo>
                    <a:pt x="4394073" y="3756406"/>
                  </a:lnTo>
                  <a:cubicBezTo>
                    <a:pt x="4463796" y="3756406"/>
                    <a:pt x="4520311" y="3700018"/>
                    <a:pt x="4520311" y="3630549"/>
                  </a:cubicBezTo>
                  <a:lnTo>
                    <a:pt x="4520311" y="176657"/>
                  </a:lnTo>
                  <a:cubicBezTo>
                    <a:pt x="4520311" y="107188"/>
                    <a:pt x="4463923" y="50800"/>
                    <a:pt x="4394073" y="50800"/>
                  </a:cubicBezTo>
                  <a:lnTo>
                    <a:pt x="177038" y="50800"/>
                  </a:lnTo>
                  <a:lnTo>
                    <a:pt x="177038" y="25400"/>
                  </a:lnTo>
                  <a:lnTo>
                    <a:pt x="177038" y="50800"/>
                  </a:lnTo>
                  <a:cubicBezTo>
                    <a:pt x="107188" y="50800"/>
                    <a:pt x="50800" y="107188"/>
                    <a:pt x="50800" y="176657"/>
                  </a:cubicBezTo>
                  <a:close/>
                </a:path>
              </a:pathLst>
            </a:custGeom>
            <a:solidFill>
              <a:srgbClr val="6D4562"/>
            </a:solidFill>
          </p:spPr>
        </p:sp>
      </p:grpSp>
      <p:sp>
        <p:nvSpPr>
          <p:cNvPr name="TextBox 30" id="30"/>
          <p:cNvSpPr txBox="true"/>
          <p:nvPr/>
        </p:nvSpPr>
        <p:spPr>
          <a:xfrm rot="0">
            <a:off x="10643740" y="3084014"/>
            <a:ext cx="2774004" cy="769144"/>
          </a:xfrm>
          <a:prstGeom prst="rect">
            <a:avLst/>
          </a:prstGeom>
        </p:spPr>
        <p:txBody>
          <a:bodyPr anchor="t" rtlCol="false" tIns="0" lIns="0" bIns="0" rIns="0">
            <a:spAutoFit/>
          </a:bodyPr>
          <a:lstStyle/>
          <a:p>
            <a:pPr algn="l">
              <a:lnSpc>
                <a:spcPts val="2937"/>
              </a:lnSpc>
            </a:pPr>
            <a:r>
              <a:rPr lang="en-US" sz="2312" b="true">
                <a:solidFill>
                  <a:srgbClr val="DAD8E9"/>
                </a:solidFill>
                <a:latin typeface="Prompt Medium"/>
                <a:ea typeface="Prompt Medium"/>
                <a:cs typeface="Prompt Medium"/>
                <a:sym typeface="Prompt Medium"/>
              </a:rPr>
              <a:t>CNN-Based Dehazing</a:t>
            </a:r>
          </a:p>
        </p:txBody>
      </p:sp>
      <p:sp>
        <p:nvSpPr>
          <p:cNvPr name="TextBox 31" id="31"/>
          <p:cNvSpPr txBox="true"/>
          <p:nvPr/>
        </p:nvSpPr>
        <p:spPr>
          <a:xfrm rot="0">
            <a:off x="10643740" y="4041724"/>
            <a:ext cx="2774004" cy="1262510"/>
          </a:xfrm>
          <a:prstGeom prst="rect">
            <a:avLst/>
          </a:prstGeom>
        </p:spPr>
        <p:txBody>
          <a:bodyPr anchor="t" rtlCol="false" tIns="0" lIns="0" bIns="0" rIns="0">
            <a:spAutoFit/>
          </a:bodyPr>
          <a:lstStyle/>
          <a:p>
            <a:pPr algn="l">
              <a:lnSpc>
                <a:spcPts val="3187"/>
              </a:lnSpc>
            </a:pPr>
            <a:r>
              <a:rPr lang="en-US" sz="2125">
                <a:solidFill>
                  <a:srgbClr val="DAD8E9"/>
                </a:solidFill>
                <a:latin typeface="Mukta Light"/>
                <a:ea typeface="Mukta Light"/>
                <a:cs typeface="Mukta Light"/>
                <a:sym typeface="Mukta Light"/>
              </a:rPr>
              <a:t>Leverage learned priors for complex haze distributions.</a:t>
            </a:r>
          </a:p>
        </p:txBody>
      </p:sp>
      <p:grpSp>
        <p:nvGrpSpPr>
          <p:cNvPr name="Group 32" id="32"/>
          <p:cNvGrpSpPr/>
          <p:nvPr/>
        </p:nvGrpSpPr>
        <p:grpSpPr>
          <a:xfrm rot="0">
            <a:off x="13942962" y="2775947"/>
            <a:ext cx="3428409" cy="2855414"/>
            <a:chOff x="0" y="0"/>
            <a:chExt cx="4571213" cy="3807219"/>
          </a:xfrm>
        </p:grpSpPr>
        <p:sp>
          <p:nvSpPr>
            <p:cNvPr name="Freeform 33" id="33"/>
            <p:cNvSpPr/>
            <p:nvPr/>
          </p:nvSpPr>
          <p:spPr>
            <a:xfrm flipH="false" flipV="false" rot="0">
              <a:off x="25400" y="25400"/>
              <a:ext cx="4520438" cy="3756406"/>
            </a:xfrm>
            <a:custGeom>
              <a:avLst/>
              <a:gdLst/>
              <a:ahLst/>
              <a:cxnLst/>
              <a:rect r="r" b="b" t="t" l="l"/>
              <a:pathLst>
                <a:path h="3756406" w="4520438">
                  <a:moveTo>
                    <a:pt x="0" y="151257"/>
                  </a:moveTo>
                  <a:cubicBezTo>
                    <a:pt x="0" y="67691"/>
                    <a:pt x="67818" y="0"/>
                    <a:pt x="151638" y="0"/>
                  </a:cubicBezTo>
                  <a:lnTo>
                    <a:pt x="4368800" y="0"/>
                  </a:lnTo>
                  <a:cubicBezTo>
                    <a:pt x="4452493" y="0"/>
                    <a:pt x="4520438" y="67691"/>
                    <a:pt x="4520438" y="151257"/>
                  </a:cubicBezTo>
                  <a:lnTo>
                    <a:pt x="4520438" y="3605149"/>
                  </a:lnTo>
                  <a:cubicBezTo>
                    <a:pt x="4520438" y="3688715"/>
                    <a:pt x="4452620" y="3756406"/>
                    <a:pt x="4368800" y="3756406"/>
                  </a:cubicBezTo>
                  <a:lnTo>
                    <a:pt x="151638" y="3756406"/>
                  </a:lnTo>
                  <a:cubicBezTo>
                    <a:pt x="67818" y="3756406"/>
                    <a:pt x="0" y="3688715"/>
                    <a:pt x="0" y="3605149"/>
                  </a:cubicBezTo>
                  <a:close/>
                </a:path>
              </a:pathLst>
            </a:custGeom>
            <a:solidFill>
              <a:srgbClr val="0B0C23">
                <a:alpha val="90196"/>
              </a:srgbClr>
            </a:solidFill>
          </p:spPr>
        </p:sp>
        <p:sp>
          <p:nvSpPr>
            <p:cNvPr name="Freeform 34" id="34"/>
            <p:cNvSpPr/>
            <p:nvPr/>
          </p:nvSpPr>
          <p:spPr>
            <a:xfrm flipH="false" flipV="false" rot="0">
              <a:off x="0" y="0"/>
              <a:ext cx="4571238" cy="3807206"/>
            </a:xfrm>
            <a:custGeom>
              <a:avLst/>
              <a:gdLst/>
              <a:ahLst/>
              <a:cxnLst/>
              <a:rect r="r" b="b" t="t" l="l"/>
              <a:pathLst>
                <a:path h="3807206" w="4571238">
                  <a:moveTo>
                    <a:pt x="0" y="176657"/>
                  </a:moveTo>
                  <a:cubicBezTo>
                    <a:pt x="0" y="78994"/>
                    <a:pt x="79248" y="0"/>
                    <a:pt x="177038" y="0"/>
                  </a:cubicBezTo>
                  <a:lnTo>
                    <a:pt x="4394200" y="0"/>
                  </a:lnTo>
                  <a:lnTo>
                    <a:pt x="4394200" y="25400"/>
                  </a:lnTo>
                  <a:lnTo>
                    <a:pt x="4394200" y="0"/>
                  </a:lnTo>
                  <a:cubicBezTo>
                    <a:pt x="4491863" y="0"/>
                    <a:pt x="4571238" y="78994"/>
                    <a:pt x="4571238" y="176657"/>
                  </a:cubicBezTo>
                  <a:lnTo>
                    <a:pt x="4545838" y="176657"/>
                  </a:lnTo>
                  <a:lnTo>
                    <a:pt x="4571238" y="176657"/>
                  </a:lnTo>
                  <a:lnTo>
                    <a:pt x="4571238" y="3630549"/>
                  </a:lnTo>
                  <a:lnTo>
                    <a:pt x="4545838" y="3630549"/>
                  </a:lnTo>
                  <a:lnTo>
                    <a:pt x="4571238" y="3630549"/>
                  </a:lnTo>
                  <a:cubicBezTo>
                    <a:pt x="4571238" y="3728212"/>
                    <a:pt x="4491990" y="3807206"/>
                    <a:pt x="4394200" y="3807206"/>
                  </a:cubicBezTo>
                  <a:lnTo>
                    <a:pt x="4394200" y="3781806"/>
                  </a:lnTo>
                  <a:lnTo>
                    <a:pt x="4394200" y="3807206"/>
                  </a:lnTo>
                  <a:lnTo>
                    <a:pt x="177038" y="3807206"/>
                  </a:lnTo>
                  <a:lnTo>
                    <a:pt x="177038" y="3781806"/>
                  </a:lnTo>
                  <a:lnTo>
                    <a:pt x="177038" y="3807206"/>
                  </a:lnTo>
                  <a:cubicBezTo>
                    <a:pt x="79248" y="3807206"/>
                    <a:pt x="0" y="3728212"/>
                    <a:pt x="0" y="3630549"/>
                  </a:cubicBezTo>
                  <a:lnTo>
                    <a:pt x="0" y="176657"/>
                  </a:lnTo>
                  <a:lnTo>
                    <a:pt x="25400" y="176657"/>
                  </a:lnTo>
                  <a:lnTo>
                    <a:pt x="0" y="176657"/>
                  </a:lnTo>
                  <a:moveTo>
                    <a:pt x="50800" y="176657"/>
                  </a:moveTo>
                  <a:lnTo>
                    <a:pt x="50800" y="3630549"/>
                  </a:lnTo>
                  <a:lnTo>
                    <a:pt x="25400" y="3630549"/>
                  </a:lnTo>
                  <a:lnTo>
                    <a:pt x="50800" y="3630549"/>
                  </a:lnTo>
                  <a:cubicBezTo>
                    <a:pt x="50800" y="3700018"/>
                    <a:pt x="107188" y="3756406"/>
                    <a:pt x="177038" y="3756406"/>
                  </a:cubicBezTo>
                  <a:lnTo>
                    <a:pt x="4394200" y="3756406"/>
                  </a:lnTo>
                  <a:cubicBezTo>
                    <a:pt x="4463923" y="3756406"/>
                    <a:pt x="4520438" y="3700018"/>
                    <a:pt x="4520438" y="3630549"/>
                  </a:cubicBezTo>
                  <a:lnTo>
                    <a:pt x="4520438" y="176657"/>
                  </a:lnTo>
                  <a:cubicBezTo>
                    <a:pt x="4520438" y="107188"/>
                    <a:pt x="4463923" y="50800"/>
                    <a:pt x="4394200" y="50800"/>
                  </a:cubicBezTo>
                  <a:lnTo>
                    <a:pt x="177038" y="50800"/>
                  </a:lnTo>
                  <a:lnTo>
                    <a:pt x="177038" y="25400"/>
                  </a:lnTo>
                  <a:lnTo>
                    <a:pt x="177038" y="50800"/>
                  </a:lnTo>
                  <a:cubicBezTo>
                    <a:pt x="107188" y="50800"/>
                    <a:pt x="50800" y="107188"/>
                    <a:pt x="50800" y="176657"/>
                  </a:cubicBezTo>
                  <a:close/>
                </a:path>
              </a:pathLst>
            </a:custGeom>
            <a:solidFill>
              <a:srgbClr val="6D4562"/>
            </a:solidFill>
          </p:spPr>
        </p:sp>
      </p:grpSp>
      <p:sp>
        <p:nvSpPr>
          <p:cNvPr name="TextBox 35" id="35"/>
          <p:cNvSpPr txBox="true"/>
          <p:nvPr/>
        </p:nvSpPr>
        <p:spPr>
          <a:xfrm rot="0">
            <a:off x="14270088" y="3084014"/>
            <a:ext cx="2774156" cy="394097"/>
          </a:xfrm>
          <a:prstGeom prst="rect">
            <a:avLst/>
          </a:prstGeom>
        </p:spPr>
        <p:txBody>
          <a:bodyPr anchor="t" rtlCol="false" tIns="0" lIns="0" bIns="0" rIns="0">
            <a:spAutoFit/>
          </a:bodyPr>
          <a:lstStyle/>
          <a:p>
            <a:pPr algn="l">
              <a:lnSpc>
                <a:spcPts val="2937"/>
              </a:lnSpc>
            </a:pPr>
            <a:r>
              <a:rPr lang="en-US" sz="2312" b="true">
                <a:solidFill>
                  <a:srgbClr val="DAD8E9"/>
                </a:solidFill>
                <a:latin typeface="Prompt Medium"/>
                <a:ea typeface="Prompt Medium"/>
                <a:cs typeface="Prompt Medium"/>
                <a:sym typeface="Prompt Medium"/>
              </a:rPr>
              <a:t>GAN Frameworks</a:t>
            </a:r>
          </a:p>
        </p:txBody>
      </p:sp>
      <p:sp>
        <p:nvSpPr>
          <p:cNvPr name="TextBox 36" id="36"/>
          <p:cNvSpPr txBox="true"/>
          <p:nvPr/>
        </p:nvSpPr>
        <p:spPr>
          <a:xfrm rot="0">
            <a:off x="14270088" y="3666677"/>
            <a:ext cx="2774156" cy="1262510"/>
          </a:xfrm>
          <a:prstGeom prst="rect">
            <a:avLst/>
          </a:prstGeom>
        </p:spPr>
        <p:txBody>
          <a:bodyPr anchor="t" rtlCol="false" tIns="0" lIns="0" bIns="0" rIns="0">
            <a:spAutoFit/>
          </a:bodyPr>
          <a:lstStyle/>
          <a:p>
            <a:pPr algn="l">
              <a:lnSpc>
                <a:spcPts val="3187"/>
              </a:lnSpc>
            </a:pPr>
            <a:r>
              <a:rPr lang="en-US" sz="2125">
                <a:solidFill>
                  <a:srgbClr val="DAD8E9"/>
                </a:solidFill>
                <a:latin typeface="Mukta Light"/>
                <a:ea typeface="Mukta Light"/>
                <a:cs typeface="Mukta Light"/>
                <a:sym typeface="Mukta Light"/>
              </a:rPr>
              <a:t>Adversarial training for perceptually realistic restoration.</a:t>
            </a:r>
          </a:p>
        </p:txBody>
      </p:sp>
      <p:grpSp>
        <p:nvGrpSpPr>
          <p:cNvPr name="Group 37" id="37"/>
          <p:cNvGrpSpPr/>
          <p:nvPr/>
        </p:nvGrpSpPr>
        <p:grpSpPr>
          <a:xfrm rot="0">
            <a:off x="10316613" y="5829452"/>
            <a:ext cx="7054748" cy="2075412"/>
            <a:chOff x="0" y="0"/>
            <a:chExt cx="9406331" cy="2767216"/>
          </a:xfrm>
        </p:grpSpPr>
        <p:sp>
          <p:nvSpPr>
            <p:cNvPr name="Freeform 38" id="38"/>
            <p:cNvSpPr/>
            <p:nvPr/>
          </p:nvSpPr>
          <p:spPr>
            <a:xfrm flipH="false" flipV="false" rot="0">
              <a:off x="25400" y="25400"/>
              <a:ext cx="9355455" cy="2716403"/>
            </a:xfrm>
            <a:custGeom>
              <a:avLst/>
              <a:gdLst/>
              <a:ahLst/>
              <a:cxnLst/>
              <a:rect r="r" b="b" t="t" l="l"/>
              <a:pathLst>
                <a:path h="2716403" w="9355455">
                  <a:moveTo>
                    <a:pt x="0" y="151257"/>
                  </a:moveTo>
                  <a:cubicBezTo>
                    <a:pt x="0" y="67691"/>
                    <a:pt x="68580" y="0"/>
                    <a:pt x="153162" y="0"/>
                  </a:cubicBezTo>
                  <a:lnTo>
                    <a:pt x="9202293" y="0"/>
                  </a:lnTo>
                  <a:cubicBezTo>
                    <a:pt x="9286875" y="0"/>
                    <a:pt x="9355455" y="67691"/>
                    <a:pt x="9355455" y="151257"/>
                  </a:cubicBezTo>
                  <a:lnTo>
                    <a:pt x="9355455" y="2565146"/>
                  </a:lnTo>
                  <a:cubicBezTo>
                    <a:pt x="9355455" y="2648712"/>
                    <a:pt x="9286875" y="2716403"/>
                    <a:pt x="9202293" y="2716403"/>
                  </a:cubicBezTo>
                  <a:lnTo>
                    <a:pt x="153162" y="2716403"/>
                  </a:lnTo>
                  <a:cubicBezTo>
                    <a:pt x="68580" y="2716403"/>
                    <a:pt x="0" y="2648712"/>
                    <a:pt x="0" y="2565146"/>
                  </a:cubicBezTo>
                  <a:close/>
                </a:path>
              </a:pathLst>
            </a:custGeom>
            <a:solidFill>
              <a:srgbClr val="0B0C23">
                <a:alpha val="90196"/>
              </a:srgbClr>
            </a:solidFill>
          </p:spPr>
        </p:sp>
        <p:sp>
          <p:nvSpPr>
            <p:cNvPr name="Freeform 39" id="39"/>
            <p:cNvSpPr/>
            <p:nvPr/>
          </p:nvSpPr>
          <p:spPr>
            <a:xfrm flipH="false" flipV="false" rot="0">
              <a:off x="0" y="0"/>
              <a:ext cx="9406255" cy="2767203"/>
            </a:xfrm>
            <a:custGeom>
              <a:avLst/>
              <a:gdLst/>
              <a:ahLst/>
              <a:cxnLst/>
              <a:rect r="r" b="b" t="t" l="l"/>
              <a:pathLst>
                <a:path h="2767203" w="9406255">
                  <a:moveTo>
                    <a:pt x="0" y="176657"/>
                  </a:moveTo>
                  <a:cubicBezTo>
                    <a:pt x="0" y="78740"/>
                    <a:pt x="80264" y="0"/>
                    <a:pt x="178562" y="0"/>
                  </a:cubicBezTo>
                  <a:lnTo>
                    <a:pt x="9227693" y="0"/>
                  </a:lnTo>
                  <a:lnTo>
                    <a:pt x="9227693" y="25400"/>
                  </a:lnTo>
                  <a:lnTo>
                    <a:pt x="9227693" y="0"/>
                  </a:lnTo>
                  <a:cubicBezTo>
                    <a:pt x="9325991" y="0"/>
                    <a:pt x="9406255" y="78740"/>
                    <a:pt x="9406255" y="176657"/>
                  </a:cubicBezTo>
                  <a:lnTo>
                    <a:pt x="9380855" y="176657"/>
                  </a:lnTo>
                  <a:lnTo>
                    <a:pt x="9406255" y="176657"/>
                  </a:lnTo>
                  <a:lnTo>
                    <a:pt x="9406255" y="2590546"/>
                  </a:lnTo>
                  <a:lnTo>
                    <a:pt x="9380855" y="2590546"/>
                  </a:lnTo>
                  <a:lnTo>
                    <a:pt x="9406255" y="2590546"/>
                  </a:lnTo>
                  <a:cubicBezTo>
                    <a:pt x="9406255" y="2688463"/>
                    <a:pt x="9325991" y="2767203"/>
                    <a:pt x="9227693" y="2767203"/>
                  </a:cubicBezTo>
                  <a:lnTo>
                    <a:pt x="9227693" y="2741803"/>
                  </a:lnTo>
                  <a:lnTo>
                    <a:pt x="9227693" y="2767203"/>
                  </a:lnTo>
                  <a:lnTo>
                    <a:pt x="178562" y="2767203"/>
                  </a:lnTo>
                  <a:lnTo>
                    <a:pt x="178562" y="2741803"/>
                  </a:lnTo>
                  <a:lnTo>
                    <a:pt x="178562" y="2767203"/>
                  </a:lnTo>
                  <a:cubicBezTo>
                    <a:pt x="80264" y="2767203"/>
                    <a:pt x="0" y="2688463"/>
                    <a:pt x="0" y="2590546"/>
                  </a:cubicBezTo>
                  <a:lnTo>
                    <a:pt x="0" y="176657"/>
                  </a:lnTo>
                  <a:lnTo>
                    <a:pt x="25400" y="176657"/>
                  </a:lnTo>
                  <a:lnTo>
                    <a:pt x="0" y="176657"/>
                  </a:lnTo>
                  <a:moveTo>
                    <a:pt x="50800" y="176657"/>
                  </a:moveTo>
                  <a:lnTo>
                    <a:pt x="50800" y="2590546"/>
                  </a:lnTo>
                  <a:lnTo>
                    <a:pt x="25400" y="2590546"/>
                  </a:lnTo>
                  <a:lnTo>
                    <a:pt x="50800" y="2590546"/>
                  </a:lnTo>
                  <a:cubicBezTo>
                    <a:pt x="50800" y="2659761"/>
                    <a:pt x="107696" y="2716403"/>
                    <a:pt x="178562" y="2716403"/>
                  </a:cubicBezTo>
                  <a:lnTo>
                    <a:pt x="9227693" y="2716403"/>
                  </a:lnTo>
                  <a:cubicBezTo>
                    <a:pt x="9298560" y="2716403"/>
                    <a:pt x="9355455" y="2659761"/>
                    <a:pt x="9355455" y="2590546"/>
                  </a:cubicBezTo>
                  <a:lnTo>
                    <a:pt x="9355455" y="176657"/>
                  </a:lnTo>
                  <a:cubicBezTo>
                    <a:pt x="9355455" y="107442"/>
                    <a:pt x="9298560" y="50800"/>
                    <a:pt x="9227693" y="50800"/>
                  </a:cubicBezTo>
                  <a:lnTo>
                    <a:pt x="178562" y="50800"/>
                  </a:lnTo>
                  <a:lnTo>
                    <a:pt x="178562" y="25400"/>
                  </a:lnTo>
                  <a:lnTo>
                    <a:pt x="178562" y="50800"/>
                  </a:lnTo>
                  <a:cubicBezTo>
                    <a:pt x="107696" y="50800"/>
                    <a:pt x="50800" y="107442"/>
                    <a:pt x="50800" y="176657"/>
                  </a:cubicBezTo>
                  <a:close/>
                </a:path>
              </a:pathLst>
            </a:custGeom>
            <a:solidFill>
              <a:srgbClr val="6D4562"/>
            </a:solidFill>
          </p:spPr>
        </p:sp>
      </p:grpSp>
      <p:sp>
        <p:nvSpPr>
          <p:cNvPr name="TextBox 40" id="40"/>
          <p:cNvSpPr txBox="true"/>
          <p:nvPr/>
        </p:nvSpPr>
        <p:spPr>
          <a:xfrm rot="0">
            <a:off x="10643740" y="6137519"/>
            <a:ext cx="3000375" cy="394097"/>
          </a:xfrm>
          <a:prstGeom prst="rect">
            <a:avLst/>
          </a:prstGeom>
        </p:spPr>
        <p:txBody>
          <a:bodyPr anchor="t" rtlCol="false" tIns="0" lIns="0" bIns="0" rIns="0">
            <a:spAutoFit/>
          </a:bodyPr>
          <a:lstStyle/>
          <a:p>
            <a:pPr algn="l">
              <a:lnSpc>
                <a:spcPts val="2937"/>
              </a:lnSpc>
            </a:pPr>
            <a:r>
              <a:rPr lang="en-US" sz="2312" b="true">
                <a:solidFill>
                  <a:srgbClr val="DAD8E9"/>
                </a:solidFill>
                <a:latin typeface="Prompt Medium"/>
                <a:ea typeface="Prompt Medium"/>
                <a:cs typeface="Prompt Medium"/>
                <a:sym typeface="Prompt Medium"/>
              </a:rPr>
              <a:t>Transformer Models</a:t>
            </a:r>
          </a:p>
        </p:txBody>
      </p:sp>
      <p:sp>
        <p:nvSpPr>
          <p:cNvPr name="TextBox 41" id="41"/>
          <p:cNvSpPr txBox="true"/>
          <p:nvPr/>
        </p:nvSpPr>
        <p:spPr>
          <a:xfrm rot="0">
            <a:off x="10643740" y="6720183"/>
            <a:ext cx="6400505" cy="857545"/>
          </a:xfrm>
          <a:prstGeom prst="rect">
            <a:avLst/>
          </a:prstGeom>
        </p:spPr>
        <p:txBody>
          <a:bodyPr anchor="t" rtlCol="false" tIns="0" lIns="0" bIns="0" rIns="0">
            <a:spAutoFit/>
          </a:bodyPr>
          <a:lstStyle/>
          <a:p>
            <a:pPr algn="l">
              <a:lnSpc>
                <a:spcPts val="3187"/>
              </a:lnSpc>
            </a:pPr>
            <a:r>
              <a:rPr lang="en-US" sz="2125">
                <a:solidFill>
                  <a:srgbClr val="DAD8E9"/>
                </a:solidFill>
                <a:latin typeface="Mukta Light"/>
                <a:ea typeface="Mukta Light"/>
                <a:cs typeface="Mukta Light"/>
                <a:sym typeface="Mukta Light"/>
              </a:rPr>
              <a:t>Attention mechanisms for global context in dense-haze scenes.</a:t>
            </a:r>
          </a:p>
        </p:txBody>
      </p:sp>
      <p:sp>
        <p:nvSpPr>
          <p:cNvPr name="TextBox 42" id="42"/>
          <p:cNvSpPr txBox="true"/>
          <p:nvPr/>
        </p:nvSpPr>
        <p:spPr>
          <a:xfrm rot="0">
            <a:off x="6075169" y="8357892"/>
            <a:ext cx="5869191" cy="1100141"/>
          </a:xfrm>
          <a:prstGeom prst="rect">
            <a:avLst/>
          </a:prstGeom>
        </p:spPr>
        <p:txBody>
          <a:bodyPr anchor="t" rtlCol="false" tIns="0" lIns="0" bIns="0" rIns="0">
            <a:spAutoFit/>
          </a:bodyPr>
          <a:lstStyle/>
          <a:p>
            <a:pPr algn="l">
              <a:lnSpc>
                <a:spcPts val="9187"/>
              </a:lnSpc>
            </a:pPr>
            <a:r>
              <a:rPr lang="en-US" sz="6124">
                <a:solidFill>
                  <a:srgbClr val="FFFFFF"/>
                </a:solidFill>
                <a:latin typeface="Mukta Light"/>
                <a:ea typeface="Mukta Light"/>
                <a:cs typeface="Mukta Light"/>
                <a:sym typeface="Mukta Light"/>
              </a:rPr>
              <a:t>      </a:t>
            </a:r>
            <a:r>
              <a:rPr lang="en-US" sz="6124">
                <a:solidFill>
                  <a:srgbClr val="FFFFFF"/>
                </a:solidFill>
                <a:latin typeface="Mukta Light"/>
                <a:ea typeface="Mukta Light"/>
                <a:cs typeface="Mukta Light"/>
                <a:sym typeface="Mukta Light"/>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DAHH83RDAZA</dc:identifier>
  <dcterms:modified xsi:type="dcterms:W3CDTF">2011-08-01T06:04:30Z</dcterms:modified>
  <cp:revision>1</cp:revision>
  <dc:title>Single-Image-Dehazing-using-Classical-Image-Processing.pptx</dc:title>
</cp:coreProperties>
</file>